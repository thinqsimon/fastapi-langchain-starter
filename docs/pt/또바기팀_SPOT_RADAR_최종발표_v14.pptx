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56" r:id="rId2"/>
    <p:sldId id="442" r:id="rId3"/>
    <p:sldId id="440" r:id="rId4"/>
    <p:sldId id="257" r:id="rId5"/>
    <p:sldId id="283" r:id="rId6"/>
    <p:sldId id="258" r:id="rId7"/>
    <p:sldId id="443" r:id="rId8"/>
    <p:sldId id="439" r:id="rId9"/>
    <p:sldId id="437" r:id="rId10"/>
    <p:sldId id="438" r:id="rId11"/>
    <p:sldId id="444" r:id="rId12"/>
    <p:sldId id="446" r:id="rId13"/>
    <p:sldId id="447" r:id="rId14"/>
    <p:sldId id="448" r:id="rId15"/>
    <p:sldId id="449" r:id="rId16"/>
    <p:sldId id="284"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85" r:id="rId30"/>
    <p:sldId id="281" r:id="rId31"/>
    <p:sldId id="272" r:id="rId32"/>
    <p:sldId id="273" r:id="rId33"/>
    <p:sldId id="274" r:id="rId34"/>
    <p:sldId id="275" r:id="rId35"/>
    <p:sldId id="276" r:id="rId36"/>
    <p:sldId id="277" r:id="rId37"/>
    <p:sldId id="286" r:id="rId38"/>
    <p:sldId id="441" r:id="rId39"/>
    <p:sldId id="282" r:id="rId40"/>
    <p:sldId id="288" r:id="rId41"/>
    <p:sldId id="278" r:id="rId42"/>
    <p:sldId id="280" r:id="rId43"/>
  </p:sldIdLst>
  <p:sldSz cx="15240000" cy="8572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ns4:slidesCustomData xmlns="" xmlns:ns3="http://schemas.microsoft.com/office/powerpoint/2012/main" xmlns:ns4="http://customooxmlschemas.google.com/" r:id="rId45" roundtripDataSignature="AMtx7mjmJsDa86WZA5VupqaPRKvF4ntF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9FD255-CB67-4133-AC4B-C19B305D19F0}">
  <a:tblStyle styleId="{AD9FD255-CB67-4133-AC4B-C19B305D19F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25"/>
    <p:restoredTop sz="71368"/>
  </p:normalViewPr>
  <p:slideViewPr>
    <p:cSldViewPr snapToGrid="0">
      <p:cViewPr varScale="1">
        <p:scale>
          <a:sx n="68" d="100"/>
          <a:sy n="68" d="100"/>
        </p:scale>
        <p:origin x="2176"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altLang="ko-KR" sz="1350" b="0" dirty="0">
                <a:solidFill>
                  <a:srgbClr val="101511"/>
                </a:solidFill>
                <a:latin typeface="Malgun Gothic"/>
                <a:ea typeface="Malgun Gothic"/>
                <a:cs typeface="Malgun Gothic"/>
              </a:rPr>
              <a:t>안녕하세요. </a:t>
            </a:r>
            <a:r>
              <a:rPr lang="ko-KR" altLang="en-US" sz="1350" b="0" dirty="0">
                <a:solidFill>
                  <a:srgbClr val="101511"/>
                </a:solidFill>
                <a:latin typeface="Malgun Gothic"/>
                <a:ea typeface="Malgun Gothic"/>
                <a:cs typeface="Malgun Gothic"/>
              </a:rPr>
              <a:t>또바기 팀의 발표자 </a:t>
            </a:r>
            <a:r>
              <a:rPr lang="ko-KR" altLang="en-US" sz="1350" b="0" dirty="0" err="1">
                <a:solidFill>
                  <a:srgbClr val="101511"/>
                </a:solidFill>
                <a:latin typeface="Malgun Gothic"/>
                <a:ea typeface="Malgun Gothic"/>
                <a:cs typeface="Malgun Gothic"/>
              </a:rPr>
              <a:t>유시웅</a:t>
            </a:r>
            <a:r>
              <a:rPr lang="ko-KR" altLang="en-US" sz="1350" b="0" dirty="0">
                <a:solidFill>
                  <a:srgbClr val="101511"/>
                </a:solidFill>
                <a:latin typeface="Malgun Gothic"/>
                <a:ea typeface="Malgun Gothic"/>
                <a:cs typeface="Malgun Gothic"/>
              </a:rPr>
              <a:t> 입니다</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저희 팀에서 준비한 프로젝트는 예비 창업자를 위한 서비스인데요</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서울 상권 탐색 서비스</a:t>
            </a:r>
            <a:r>
              <a:rPr lang="en-US" altLang="ko-KR" sz="1350" b="0" dirty="0">
                <a:solidFill>
                  <a:srgbClr val="101511"/>
                </a:solidFill>
                <a:latin typeface="Malgun Gothic"/>
                <a:ea typeface="Malgun Gothic"/>
                <a:cs typeface="Malgun Gothic"/>
              </a:rPr>
              <a:t>,..</a:t>
            </a:r>
            <a:r>
              <a:rPr lang="ko-KR" altLang="ko-KR" sz="1350" b="0" dirty="0" err="1">
                <a:solidFill>
                  <a:srgbClr val="101511"/>
                </a:solidFill>
                <a:latin typeface="Malgun Gothic"/>
                <a:ea typeface="Malgun Gothic"/>
                <a:cs typeface="Malgun Gothic"/>
              </a:rPr>
              <a:t>스팟</a:t>
            </a:r>
            <a:r>
              <a:rPr lang="ko-KR" altLang="ko-KR" sz="1350" b="0" dirty="0">
                <a:solidFill>
                  <a:srgbClr val="101511"/>
                </a:solidFill>
                <a:latin typeface="Malgun Gothic"/>
                <a:ea typeface="Malgun Gothic"/>
                <a:cs typeface="Malgun Gothic"/>
              </a:rPr>
              <a:t> 레이더 </a:t>
            </a:r>
            <a:r>
              <a:rPr lang="ko-KR" altLang="en-US" sz="1350" b="0" dirty="0">
                <a:solidFill>
                  <a:srgbClr val="101511"/>
                </a:solidFill>
                <a:latin typeface="Malgun Gothic"/>
                <a:ea typeface="Malgun Gothic"/>
                <a:cs typeface="Malgun Gothic"/>
              </a:rPr>
              <a:t>입니다</a:t>
            </a:r>
            <a:r>
              <a:rPr lang="ko-KR" altLang="ko-KR"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그럼 먼저 발표 순서를 말씀 드리겠습니다</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ko-K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먼저 실제 서비스를 짧게 보여드리겠습니다. 이후 프로젝트 개요와 주요 업데이트, 서비스의 기능을 살펴보고, 설계와 구현, 팀의 협업 방식을 차례로 소개하겠습니다. [전환] 그럼 스팟 레이더가 어떻게 작동하는지 직접 보여드리겠습니다."/>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r>
              <a:rPr lang="ko-KR" altLang="en-US" sz="1350" b="0" dirty="0">
                <a:solidFill>
                  <a:srgbClr val="101511"/>
                </a:solidFill>
                <a:latin typeface="Malgun Gothic"/>
                <a:ea typeface="Malgun Gothic"/>
                <a:cs typeface="Malgun Gothic"/>
              </a:rPr>
              <a:t> 순서는</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먼저 서비스를 </a:t>
            </a:r>
            <a:r>
              <a:rPr lang="ko-KR" altLang="en-US" sz="1350" b="0" dirty="0" err="1">
                <a:solidFill>
                  <a:srgbClr val="101511"/>
                </a:solidFill>
                <a:latin typeface="Malgun Gothic"/>
                <a:ea typeface="Malgun Gothic"/>
                <a:cs typeface="Malgun Gothic"/>
              </a:rPr>
              <a:t>시연한뒤에</a:t>
            </a:r>
            <a:r>
              <a:rPr lang="ko-KR" altLang="en-US" sz="1350" b="0" dirty="0">
                <a:solidFill>
                  <a:srgbClr val="101511"/>
                </a:solidFill>
                <a:latin typeface="Malgun Gothic"/>
                <a:ea typeface="Malgun Gothic"/>
                <a:cs typeface="Malgun Gothic"/>
              </a:rPr>
              <a:t>  </a:t>
            </a:r>
            <a:endParaRPr lang="ko-KR" sz="1350" b="0" dirty="0">
              <a:solidFill>
                <a:srgbClr val="101511"/>
              </a:solidFill>
              <a:latin typeface="Malgun Gothic"/>
              <a:ea typeface="Malgun Gothic"/>
              <a:cs typeface="Malgun Gothic"/>
            </a:endParaRPr>
          </a:p>
          <a:p>
            <a:pPr algn="l">
              <a:lnSpc>
                <a:spcPct val="120000"/>
              </a:lnSpc>
              <a:spcAft>
                <a:spcPts val="0"/>
              </a:spcAft>
            </a:pPr>
            <a:endParaRPr 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이후 </a:t>
            </a:r>
            <a:r>
              <a:rPr lang="ko-KR" sz="1350" b="0" dirty="0">
                <a:solidFill>
                  <a:srgbClr val="101511"/>
                </a:solidFill>
                <a:latin typeface="Malgun Gothic"/>
                <a:ea typeface="Malgun Gothic"/>
                <a:cs typeface="Malgun Gothic"/>
              </a:rPr>
              <a:t>프로젝트 개요와 </a:t>
            </a:r>
            <a:r>
              <a:rPr lang="ko-KR" altLang="en-US" sz="1350" b="0" dirty="0">
                <a:solidFill>
                  <a:srgbClr val="101511"/>
                </a:solidFill>
                <a:latin typeface="Malgun Gothic"/>
                <a:ea typeface="Malgun Gothic"/>
                <a:cs typeface="Malgun Gothic"/>
              </a:rPr>
              <a:t>지난 발표 이후의 </a:t>
            </a:r>
            <a:r>
              <a:rPr lang="ko-KR" sz="1350" b="0" dirty="0">
                <a:solidFill>
                  <a:srgbClr val="101511"/>
                </a:solidFill>
                <a:latin typeface="Malgun Gothic"/>
                <a:ea typeface="Malgun Gothic"/>
                <a:cs typeface="Malgun Gothic"/>
              </a:rPr>
              <a:t>주요 업데이트</a:t>
            </a:r>
            <a:r>
              <a:rPr lang="ko-KR" altLang="en-US" sz="1350" b="0" dirty="0">
                <a:solidFill>
                  <a:srgbClr val="101511"/>
                </a:solidFill>
                <a:latin typeface="Malgun Gothic"/>
                <a:ea typeface="Malgun Gothic"/>
                <a:cs typeface="Malgun Gothic"/>
              </a:rPr>
              <a:t>를 확인하고</a:t>
            </a:r>
            <a:r>
              <a:rPr lang="ko-KR" sz="1350" b="0" dirty="0">
                <a:solidFill>
                  <a:srgbClr val="101511"/>
                </a:solidFill>
                <a:latin typeface="Malgun Gothic"/>
                <a:ea typeface="Malgun Gothic"/>
                <a:cs typeface="Malgun Gothic"/>
              </a:rPr>
              <a:t>, 서비스</a:t>
            </a:r>
            <a:r>
              <a:rPr lang="ko-KR" altLang="en-US" sz="1350" b="0" dirty="0">
                <a:solidFill>
                  <a:srgbClr val="101511"/>
                </a:solidFill>
                <a:latin typeface="Malgun Gothic"/>
                <a:ea typeface="Malgun Gothic"/>
                <a:cs typeface="Malgun Gothic"/>
              </a:rPr>
              <a:t>의 흐름과 주요</a:t>
            </a:r>
            <a:r>
              <a:rPr lang="ko-KR" sz="1350" b="0" dirty="0">
                <a:solidFill>
                  <a:srgbClr val="101511"/>
                </a:solidFill>
                <a:latin typeface="Malgun Gothic"/>
                <a:ea typeface="Malgun Gothic"/>
                <a:cs typeface="Malgun Gothic"/>
              </a:rPr>
              <a:t> 기능을 살펴보고, 설계와 구현, 팀의 협업</a:t>
            </a:r>
            <a:r>
              <a:rPr lang="ko-KR" altLang="en-US" sz="1350" b="0" dirty="0">
                <a:solidFill>
                  <a:srgbClr val="101511"/>
                </a:solidFill>
                <a:latin typeface="Malgun Gothic"/>
                <a:ea typeface="Malgun Gothic"/>
                <a:cs typeface="Malgun Gothic"/>
              </a:rPr>
              <a:t>과 운영을</a:t>
            </a:r>
            <a:r>
              <a:rPr lang="ko-KR" sz="1350" b="0" dirty="0">
                <a:solidFill>
                  <a:srgbClr val="101511"/>
                </a:solidFill>
                <a:latin typeface="Malgun Gothic"/>
                <a:ea typeface="Malgun Gothic"/>
                <a:cs typeface="Malgun Gothic"/>
              </a:rPr>
              <a:t> 차례로 소개하겠습니다.</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ko-KR" sz="1350" b="0" dirty="0">
              <a:solidFill>
                <a:srgbClr val="101511"/>
              </a:solidFill>
              <a:latin typeface="Malgun Gothic"/>
              <a:ea typeface="Malgun Gothic"/>
              <a:cs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ko-KR" altLang="en-US" sz="1400" dirty="0"/>
              <a:t>감으로 창업하는 시대는 끝났습니다</a:t>
            </a:r>
            <a:r>
              <a:rPr lang="en-US" altLang="ko-KR" sz="1400" dirty="0"/>
              <a:t>.</a:t>
            </a:r>
          </a:p>
          <a:p>
            <a:pPr rtl="0"/>
            <a:endParaRPr lang="en-US" altLang="ko-KR" sz="1400" dirty="0"/>
          </a:p>
          <a:p>
            <a:pPr rtl="0"/>
            <a:r>
              <a:rPr lang="en-US" altLang="ko-KR" sz="1400" dirty="0"/>
              <a:t>&lt;</a:t>
            </a:r>
            <a:r>
              <a:rPr lang="ko-KR" altLang="en-US" sz="1400" dirty="0"/>
              <a:t>연기력 발휘</a:t>
            </a:r>
            <a:r>
              <a:rPr lang="en-US" altLang="ko-KR" sz="1400" dirty="0"/>
              <a:t>&gt;</a:t>
            </a:r>
          </a:p>
          <a:p>
            <a:pPr rtl="0"/>
            <a:r>
              <a:rPr lang="ko-KR" altLang="en-US" sz="1400" dirty="0"/>
              <a:t>나는 카페를 하나 하고 싶은데</a:t>
            </a:r>
            <a:r>
              <a:rPr lang="en-US" altLang="ko-KR" sz="1400" dirty="0"/>
              <a:t>… </a:t>
            </a:r>
            <a:r>
              <a:rPr lang="ko-KR" altLang="en-US" sz="1400" dirty="0"/>
              <a:t> 어디에 카페를 차리지</a:t>
            </a:r>
            <a:r>
              <a:rPr lang="en-US" altLang="ko-KR" sz="1400" dirty="0"/>
              <a:t>?</a:t>
            </a:r>
            <a:br>
              <a:rPr lang="en-US" altLang="ko-KR" sz="1400" dirty="0"/>
            </a:br>
            <a:r>
              <a:rPr lang="ko-KR" altLang="en-US" sz="1400" dirty="0"/>
              <a:t>우리 동네 놀이터 앞 큰길에 사람들이 많이 다니던데 거기가 </a:t>
            </a:r>
            <a:r>
              <a:rPr lang="ko-KR" altLang="en-US" sz="1400" dirty="0" err="1"/>
              <a:t>좋을것</a:t>
            </a:r>
            <a:r>
              <a:rPr lang="ko-KR" altLang="en-US" sz="1400" dirty="0"/>
              <a:t> 같아</a:t>
            </a:r>
            <a:r>
              <a:rPr lang="en-US" altLang="ko-KR" sz="1400" dirty="0"/>
              <a:t>……</a:t>
            </a:r>
          </a:p>
          <a:p>
            <a:pPr rtl="0"/>
            <a:r>
              <a:rPr lang="en-US" altLang="ko-KR" sz="1400" dirty="0"/>
              <a:t>(</a:t>
            </a:r>
            <a:r>
              <a:rPr lang="ko-KR" altLang="en-US" sz="1400" dirty="0"/>
              <a:t>잠시 멈춤</a:t>
            </a:r>
            <a:r>
              <a:rPr lang="en-US" altLang="ko-KR" sz="1400" dirty="0"/>
              <a:t>)</a:t>
            </a:r>
          </a:p>
          <a:p>
            <a:pPr rtl="0"/>
            <a:r>
              <a:rPr lang="ko-KR" altLang="en-US" sz="1400" dirty="0"/>
              <a:t>그런데</a:t>
            </a:r>
            <a:r>
              <a:rPr lang="en-US" altLang="ko-KR" sz="1400" dirty="0"/>
              <a:t>, </a:t>
            </a:r>
            <a:r>
              <a:rPr lang="ko-KR" altLang="en-US" sz="1400" dirty="0"/>
              <a:t>사람이 많이 다닌다고 정말 장사가 잘될까요</a:t>
            </a:r>
            <a:r>
              <a:rPr lang="en-US" altLang="ko-KR" sz="1400" dirty="0"/>
              <a:t>?</a:t>
            </a:r>
            <a:br>
              <a:rPr lang="en-US" altLang="ko-KR" sz="1400" dirty="0"/>
            </a:br>
            <a:endParaRPr lang="en-US" altLang="ko-KR" sz="1400" dirty="0"/>
          </a:p>
          <a:p>
            <a:pPr rtl="0"/>
            <a:r>
              <a:rPr lang="ko-KR" altLang="en-US" sz="1400" dirty="0" err="1"/>
              <a:t>스팟레이더는</a:t>
            </a:r>
            <a:endParaRPr lang="en-US" altLang="ko-KR" sz="1400" dirty="0"/>
          </a:p>
          <a:p>
            <a:pPr algn="l">
              <a:lnSpc>
                <a:spcPct val="125000"/>
              </a:lnSpc>
              <a:spcAft>
                <a:spcPts val="0"/>
              </a:spcAft>
            </a:pPr>
            <a:r>
              <a:rPr lang="ko-KR" altLang="ko-Kore-KR" sz="1400" b="0" dirty="0">
                <a:solidFill>
                  <a:srgbClr val="F8F7F2"/>
                </a:solidFill>
                <a:latin typeface="Malgun Gothic"/>
                <a:ea typeface="Malgun Gothic"/>
                <a:cs typeface="Malgun Gothic"/>
              </a:rPr>
              <a:t>현장에 갈 후보를 데이터로 좁히고,</a:t>
            </a:r>
            <a:endParaRPr lang="ko-KR" altLang="ko-Kore-KR" sz="1400" dirty="0"/>
          </a:p>
          <a:p>
            <a:pPr algn="l">
              <a:lnSpc>
                <a:spcPct val="125000"/>
              </a:lnSpc>
              <a:spcAft>
                <a:spcPts val="0"/>
              </a:spcAft>
            </a:pPr>
            <a:r>
              <a:rPr lang="ko-KR" altLang="ko-Kore-KR" sz="1400" b="0" dirty="0">
                <a:solidFill>
                  <a:srgbClr val="F8F7F2"/>
                </a:solidFill>
                <a:latin typeface="Malgun Gothic"/>
                <a:ea typeface="Malgun Gothic"/>
                <a:cs typeface="Malgun Gothic"/>
              </a:rPr>
              <a:t>선택의 근거를 AI 설명과 함께 확인합니다.</a:t>
            </a:r>
            <a:endParaRPr lang="en-US" altLang="ko-KR" sz="1400" b="0" dirty="0">
              <a:solidFill>
                <a:srgbClr val="F8F7F2"/>
              </a:solidFill>
              <a:latin typeface="Malgun Gothic"/>
              <a:ea typeface="Malgun Gothic"/>
              <a:cs typeface="Malgun Gothic"/>
            </a:endParaRPr>
          </a:p>
          <a:p>
            <a:pPr algn="l">
              <a:lnSpc>
                <a:spcPct val="125000"/>
              </a:lnSpc>
              <a:spcAft>
                <a:spcPts val="0"/>
              </a:spcAft>
            </a:pPr>
            <a:endParaRPr lang="en-US" altLang="ko-KR" sz="1400" dirty="0"/>
          </a:p>
          <a:p>
            <a:pPr rtl="0"/>
            <a:r>
              <a:rPr lang="ko-KR" altLang="en-US" sz="1400" dirty="0"/>
              <a:t>감이 아닌 데이터로 고르는 창업 입지</a:t>
            </a:r>
            <a:r>
              <a:rPr lang="en-US" altLang="ko-KR" sz="1400" dirty="0"/>
              <a:t>,</a:t>
            </a:r>
            <a:br>
              <a:rPr lang="en-US" altLang="ko-KR" sz="1400" dirty="0"/>
            </a:br>
            <a:r>
              <a:rPr lang="ko-KR" altLang="en-US" sz="1400" dirty="0"/>
              <a:t>이제 </a:t>
            </a:r>
            <a:r>
              <a:rPr lang="ko-KR" altLang="en-US" sz="1400" dirty="0" err="1"/>
              <a:t>스팟</a:t>
            </a:r>
            <a:r>
              <a:rPr lang="ko-KR" altLang="en-US" sz="1400" dirty="0"/>
              <a:t> 레이더와 함께 찾아보세요</a:t>
            </a:r>
            <a:r>
              <a:rPr lang="en-US" altLang="ko-KR" sz="1400" dirty="0"/>
              <a:t>.</a:t>
            </a:r>
          </a:p>
          <a:p>
            <a:pPr rtl="0"/>
            <a:endParaRPr lang="en-US" altLang="ko-KR" sz="1400" dirty="0"/>
          </a:p>
          <a:p>
            <a:pPr rtl="0"/>
            <a:r>
              <a:rPr lang="ko-KR" altLang="en-US" sz="1400" dirty="0"/>
              <a:t>시연은 </a:t>
            </a:r>
            <a:r>
              <a:rPr lang="ko-KR" altLang="en-US" sz="1400" dirty="0" err="1"/>
              <a:t>프론트엔드</a:t>
            </a:r>
            <a:r>
              <a:rPr lang="ko-KR" altLang="en-US" sz="1400" dirty="0"/>
              <a:t> 작업하신 </a:t>
            </a:r>
            <a:r>
              <a:rPr lang="ko-KR" altLang="en-US" sz="1400" dirty="0" err="1"/>
              <a:t>이소영님이</a:t>
            </a:r>
            <a:r>
              <a:rPr lang="ko-KR" altLang="en-US" sz="1400" dirty="0"/>
              <a:t> </a:t>
            </a:r>
            <a:r>
              <a:rPr lang="ko-KR" altLang="en-US" sz="1400" dirty="0" err="1"/>
              <a:t>해주시겠습니다</a:t>
            </a:r>
            <a:r>
              <a:rPr lang="en-US" altLang="ko-KR" sz="1400" dirty="0"/>
              <a:t>.</a:t>
            </a:r>
          </a:p>
          <a:p>
            <a:pPr algn="l">
              <a:lnSpc>
                <a:spcPct val="120000"/>
              </a:lnSpc>
              <a:spcAft>
                <a:spcPts val="0"/>
              </a:spcAft>
            </a:pPr>
            <a:br>
              <a:rPr lang="en-US" altLang="ko-KR" sz="1350" b="0" dirty="0">
                <a:solidFill>
                  <a:srgbClr val="101511"/>
                </a:solidFill>
                <a:latin typeface="Malgun Gothic"/>
                <a:ea typeface="Malgun Gothic"/>
                <a:cs typeface="Malgun Gothic"/>
              </a:rPr>
            </a:br>
            <a:endParaRPr lang="en-US" altLang="ko-KR" sz="1350" b="0" dirty="0">
              <a:solidFill>
                <a:srgbClr val="101511"/>
              </a:solidFill>
              <a:latin typeface="Malgun Gothic"/>
              <a:ea typeface="Malgun Gothic"/>
              <a:cs typeface="Malgun Gothic"/>
            </a:endParaRPr>
          </a:p>
          <a:p>
            <a:pPr algn="l">
              <a:lnSpc>
                <a:spcPct val="118000"/>
              </a:lnSpc>
              <a:spcAft>
                <a:spcPts val="0"/>
              </a:spcAft>
            </a:pPr>
            <a:endParaRPr lang="ko-KR" sz="1350" dirty="0"/>
          </a:p>
        </p:txBody>
      </p:sp>
    </p:spTree>
    <p:extLst>
      <p:ext uri="{BB962C8B-B14F-4D97-AF65-F5344CB8AC3E}">
        <p14:creationId xmlns:p14="http://schemas.microsoft.com/office/powerpoint/2010/main" val="1866318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0" dirty="0">
                <a:solidFill>
                  <a:srgbClr val="101511"/>
                </a:solidFill>
                <a:latin typeface="Malgun Gothic"/>
                <a:ea typeface="Malgun Gothic"/>
              </a:rPr>
              <a:t>&lt;</a:t>
            </a:r>
            <a:r>
              <a:rPr lang="ko-KR" altLang="en-US" sz="1350" b="0" dirty="0">
                <a:solidFill>
                  <a:srgbClr val="101511"/>
                </a:solidFill>
                <a:latin typeface="Malgun Gothic"/>
                <a:ea typeface="Malgun Gothic"/>
              </a:rPr>
              <a:t>배포 서비스를 연다</a:t>
            </a:r>
            <a:r>
              <a:rPr lang="en-US" altLang="ko-KR" sz="1350" b="0" dirty="0">
                <a:solidFill>
                  <a:srgbClr val="101511"/>
                </a:solidFill>
                <a:latin typeface="Malgun Gothic"/>
                <a:ea typeface="Malgun Gothic"/>
              </a:rPr>
              <a:t>&gt;</a:t>
            </a:r>
          </a:p>
          <a:p>
            <a:pPr algn="l">
              <a:lnSpc>
                <a:spcPct val="120000"/>
              </a:lnSpc>
              <a:spcAft>
                <a:spcPts val="0"/>
              </a:spcAft>
            </a:pPr>
            <a:endParaRPr lang="ko-KR" dirty="0"/>
          </a:p>
          <a:p>
            <a:pPr algn="l">
              <a:lnSpc>
                <a:spcPct val="120000"/>
              </a:lnSpc>
              <a:spcAft>
                <a:spcPts val="0"/>
              </a:spcAft>
            </a:pPr>
            <a:r>
              <a:rPr lang="ko-KR" altLang="en-US" sz="1350" b="0" dirty="0" err="1">
                <a:solidFill>
                  <a:srgbClr val="101511"/>
                </a:solidFill>
                <a:latin typeface="Malgun Gothic"/>
                <a:ea typeface="Malgun Gothic"/>
                <a:cs typeface="Malgun Gothic"/>
              </a:rPr>
              <a:t>스팟</a:t>
            </a:r>
            <a:r>
              <a:rPr lang="ko-KR" altLang="en-US" sz="1350" b="0" dirty="0">
                <a:solidFill>
                  <a:srgbClr val="101511"/>
                </a:solidFill>
                <a:latin typeface="Malgun Gothic"/>
                <a:ea typeface="Malgun Gothic"/>
                <a:cs typeface="Malgun Gothic"/>
              </a:rPr>
              <a:t> 레이더는</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세가지 화면으로 구성되어있습니다</a:t>
            </a:r>
            <a:r>
              <a:rPr lang="en-US" alt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탐색 화면</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a:t>
            </a:r>
            <a:r>
              <a:rPr lang="ko-KR" altLang="en-US" sz="1350" b="0" dirty="0" err="1">
                <a:solidFill>
                  <a:srgbClr val="101511"/>
                </a:solidFill>
                <a:latin typeface="Malgun Gothic"/>
                <a:ea typeface="Malgun Gothic"/>
                <a:cs typeface="Malgun Gothic"/>
              </a:rPr>
              <a:t>상세화면</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비교 화면 입니다</a:t>
            </a:r>
            <a:r>
              <a:rPr lang="ko-KR" sz="1350" b="0" dirty="0">
                <a:solidFill>
                  <a:srgbClr val="101511"/>
                </a:solidFill>
                <a:latin typeface="Malgun Gothic"/>
                <a:ea typeface="Malgun Gothic"/>
                <a:cs typeface="Malgun Gothic"/>
              </a:rPr>
              <a:t>.</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rPr>
              <a:t>지금 보시는 화면은 탐색 화면입니다</a:t>
            </a:r>
            <a:r>
              <a:rPr lang="en-US" altLang="ko-KR" sz="1350" b="0" dirty="0">
                <a:solidFill>
                  <a:srgbClr val="101511"/>
                </a:solidFill>
                <a:latin typeface="Malgun Gothic"/>
                <a:ea typeface="Malgun Gothic"/>
              </a:rPr>
              <a:t>.</a:t>
            </a:r>
          </a:p>
          <a:p>
            <a:pPr algn="l">
              <a:lnSpc>
                <a:spcPct val="120000"/>
              </a:lnSpc>
              <a:spcAft>
                <a:spcPts val="0"/>
              </a:spcAft>
            </a:pPr>
            <a:endParaRPr lang="en-US" altLang="ko-KR" sz="1350" b="0" dirty="0">
              <a:solidFill>
                <a:srgbClr val="101511"/>
              </a:solidFill>
              <a:latin typeface="Malgun Gothic"/>
              <a:ea typeface="Malgun Gothic"/>
            </a:endParaRPr>
          </a:p>
          <a:p>
            <a:pPr algn="l">
              <a:lnSpc>
                <a:spcPct val="120000"/>
              </a:lnSpc>
              <a:spcAft>
                <a:spcPts val="0"/>
              </a:spcAft>
            </a:pPr>
            <a:r>
              <a:rPr lang="ko-KR" altLang="en-US" sz="1350" b="0" dirty="0">
                <a:solidFill>
                  <a:srgbClr val="101511"/>
                </a:solidFill>
                <a:latin typeface="Malgun Gothic"/>
                <a:ea typeface="Malgun Gothic"/>
              </a:rPr>
              <a:t>디폴트로 커피</a:t>
            </a:r>
            <a:r>
              <a:rPr lang="en-US" altLang="ko-KR" sz="1350" b="0" dirty="0">
                <a:solidFill>
                  <a:srgbClr val="101511"/>
                </a:solidFill>
                <a:latin typeface="Malgun Gothic"/>
                <a:ea typeface="Malgun Gothic"/>
              </a:rPr>
              <a:t>-</a:t>
            </a:r>
            <a:r>
              <a:rPr lang="ko-KR" altLang="en-US" sz="1350" b="0" dirty="0">
                <a:solidFill>
                  <a:srgbClr val="101511"/>
                </a:solidFill>
                <a:latin typeface="Malgun Gothic"/>
                <a:ea typeface="Malgun Gothic"/>
              </a:rPr>
              <a:t>음료 업종이 </a:t>
            </a:r>
            <a:r>
              <a:rPr lang="ko-KR" altLang="en-US" sz="1350" b="0" dirty="0" err="1">
                <a:solidFill>
                  <a:srgbClr val="101511"/>
                </a:solidFill>
                <a:latin typeface="Malgun Gothic"/>
                <a:ea typeface="Malgun Gothic"/>
              </a:rPr>
              <a:t>선택되어있고</a:t>
            </a:r>
            <a:r>
              <a:rPr lang="ko-KR" altLang="en-US" sz="1350" b="0" dirty="0">
                <a:solidFill>
                  <a:srgbClr val="101511"/>
                </a:solidFill>
                <a:latin typeface="Malgun Gothic"/>
                <a:ea typeface="Malgun Gothic"/>
              </a:rPr>
              <a:t> 자치구는 서울 전체가 선택되어 있습니다</a:t>
            </a:r>
            <a:r>
              <a:rPr lang="en-US" altLang="ko-KR" sz="1350" b="0" dirty="0">
                <a:solidFill>
                  <a:srgbClr val="101511"/>
                </a:solidFill>
                <a:latin typeface="Malgun Gothic"/>
                <a:ea typeface="Malgun Gothic"/>
              </a:rPr>
              <a:t>.</a:t>
            </a:r>
            <a:endParaRPr lang="ko-KR" dirty="0"/>
          </a:p>
          <a:p>
            <a:pPr algn="l">
              <a:lnSpc>
                <a:spcPct val="120000"/>
              </a:lnSpc>
              <a:spcAft>
                <a:spcPts val="0"/>
              </a:spcAft>
            </a:pPr>
            <a:endParaRPr lang="en-US" altLang="ko-KR" dirty="0"/>
          </a:p>
          <a:p>
            <a:pPr algn="l">
              <a:lnSpc>
                <a:spcPct val="120000"/>
              </a:lnSpc>
              <a:spcAft>
                <a:spcPts val="0"/>
              </a:spcAft>
            </a:pPr>
            <a:r>
              <a:rPr lang="ko-KR" altLang="en-US" dirty="0"/>
              <a:t>창업을 꿈꾸는 사람 입장에서 사용자 흐름을 알아보겠습니다</a:t>
            </a:r>
            <a:r>
              <a:rPr lang="en-US" altLang="ko-KR" dirty="0"/>
              <a:t>.</a:t>
            </a:r>
          </a:p>
          <a:p>
            <a:pPr algn="l">
              <a:lnSpc>
                <a:spcPct val="120000"/>
              </a:lnSpc>
              <a:spcAft>
                <a:spcPts val="0"/>
              </a:spcAft>
            </a:pPr>
            <a:r>
              <a:rPr lang="ko-KR" altLang="ko-KR" sz="1100" b="0" dirty="0">
                <a:solidFill>
                  <a:srgbClr val="101511"/>
                </a:solidFill>
                <a:latin typeface="Malgun Gothic"/>
                <a:ea typeface="Malgun Gothic"/>
                <a:cs typeface="Malgun Gothic"/>
              </a:rPr>
              <a:t>사용자는 </a:t>
            </a:r>
            <a:r>
              <a:rPr lang="ko-KR" altLang="en-US" dirty="0"/>
              <a:t>먼저 업종을 선택하고 서울의 자치구와 기준 분기를 선택합니다</a:t>
            </a:r>
            <a:r>
              <a:rPr lang="ko-KR" altLang="ko-KR" sz="1100" b="0" dirty="0">
                <a:solidFill>
                  <a:srgbClr val="101511"/>
                </a:solidFill>
                <a:latin typeface="Malgun Gothic"/>
                <a:ea typeface="Malgun Gothic"/>
                <a:cs typeface="Malgun Gothic"/>
              </a:rPr>
              <a:t>. </a:t>
            </a:r>
            <a:r>
              <a:rPr lang="ko-KR" altLang="en-US" sz="1100" b="0" dirty="0">
                <a:solidFill>
                  <a:srgbClr val="101511"/>
                </a:solidFill>
                <a:latin typeface="Malgun Gothic"/>
                <a:ea typeface="Malgun Gothic"/>
                <a:cs typeface="Malgun Gothic"/>
              </a:rPr>
              <a:t>그러면 그 검색 필터에 해당하는 </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먼저 볼 상권 목록</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에서 입지 </a:t>
            </a:r>
            <a:r>
              <a:rPr lang="ko-KR" altLang="ko-KR" sz="1100" b="0" dirty="0">
                <a:solidFill>
                  <a:srgbClr val="101511"/>
                </a:solidFill>
                <a:latin typeface="Malgun Gothic"/>
                <a:ea typeface="Malgun Gothic"/>
                <a:cs typeface="Malgun Gothic"/>
              </a:rPr>
              <a:t>후보를 살펴</a:t>
            </a:r>
            <a:r>
              <a:rPr lang="ko-KR" altLang="en-US" sz="1100" b="0" dirty="0">
                <a:solidFill>
                  <a:srgbClr val="101511"/>
                </a:solidFill>
                <a:latin typeface="Malgun Gothic"/>
                <a:ea typeface="Malgun Gothic"/>
                <a:cs typeface="Malgun Gothic"/>
              </a:rPr>
              <a:t>볼 수 있겠네요</a:t>
            </a:r>
            <a:r>
              <a:rPr lang="en-US" altLang="ko-KR" sz="1100" b="0" dirty="0">
                <a:solidFill>
                  <a:srgbClr val="101511"/>
                </a:solidFill>
                <a:latin typeface="Malgun Gothic"/>
                <a:ea typeface="Malgun Gothic"/>
                <a:cs typeface="Malgun Gothic"/>
              </a:rPr>
              <a:t>.</a:t>
            </a:r>
          </a:p>
          <a:p>
            <a:pPr algn="l">
              <a:lnSpc>
                <a:spcPct val="120000"/>
              </a:lnSpc>
              <a:spcAft>
                <a:spcPts val="0"/>
              </a:spcAft>
            </a:pPr>
            <a:r>
              <a:rPr lang="ko-KR" altLang="en-US" sz="1100" b="0" dirty="0">
                <a:solidFill>
                  <a:srgbClr val="101511"/>
                </a:solidFill>
                <a:latin typeface="Malgun Gothic"/>
                <a:ea typeface="Malgun Gothic"/>
                <a:cs typeface="Malgun Gothic"/>
              </a:rPr>
              <a:t>직접 선택해 보겠습니다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algn="l">
              <a:lnSpc>
                <a:spcPct val="120000"/>
              </a:lnSpc>
              <a:spcAft>
                <a:spcPts val="0"/>
              </a:spcAft>
            </a:pPr>
            <a:r>
              <a:rPr lang="ko-KR" altLang="en-US" sz="1100" b="0" dirty="0">
                <a:solidFill>
                  <a:srgbClr val="101511"/>
                </a:solidFill>
                <a:latin typeface="Malgun Gothic"/>
                <a:ea typeface="Malgun Gothic"/>
                <a:cs typeface="Malgun Gothic"/>
              </a:rPr>
              <a:t>업종은 커피</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음료로 선택하고 자치구를 강남구로 변경해 보겠습니다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r>
              <a:rPr lang="ko-KR" altLang="en-US" sz="1100" b="0" dirty="0">
                <a:solidFill>
                  <a:srgbClr val="101511"/>
                </a:solidFill>
                <a:latin typeface="Malgun Gothic"/>
                <a:ea typeface="Malgun Gothic"/>
                <a:cs typeface="Malgun Gothic"/>
              </a:rPr>
              <a:t>추천 목록에서 관심 가는 상권을 선택해 </a:t>
            </a:r>
            <a:r>
              <a:rPr lang="ko-KR" altLang="en-US" sz="1100" b="0" dirty="0" err="1">
                <a:solidFill>
                  <a:srgbClr val="101511"/>
                </a:solidFill>
                <a:latin typeface="Malgun Gothic"/>
                <a:ea typeface="Malgun Gothic"/>
                <a:cs typeface="Malgun Gothic"/>
              </a:rPr>
              <a:t>상세화면을</a:t>
            </a:r>
            <a:r>
              <a:rPr lang="ko-KR" altLang="en-US" sz="1100" b="0" dirty="0">
                <a:solidFill>
                  <a:srgbClr val="101511"/>
                </a:solidFill>
                <a:latin typeface="Malgun Gothic"/>
                <a:ea typeface="Malgun Gothic"/>
                <a:cs typeface="Malgun Gothic"/>
              </a:rPr>
              <a:t> 살펴 </a:t>
            </a:r>
            <a:r>
              <a:rPr lang="ko-KR" altLang="en-US" sz="1100" b="0" dirty="0" err="1">
                <a:solidFill>
                  <a:srgbClr val="101511"/>
                </a:solidFill>
                <a:latin typeface="Malgun Gothic"/>
                <a:ea typeface="Malgun Gothic"/>
                <a:cs typeface="Malgun Gothic"/>
              </a:rPr>
              <a:t>볼수</a:t>
            </a:r>
            <a:r>
              <a:rPr lang="ko-KR" altLang="en-US" sz="1100" b="0" dirty="0">
                <a:solidFill>
                  <a:srgbClr val="101511"/>
                </a:solidFill>
                <a:latin typeface="Malgun Gothic"/>
                <a:ea typeface="Malgun Gothic"/>
                <a:cs typeface="Malgun Gothic"/>
              </a:rPr>
              <a:t> 있습니다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상세 화면</a:t>
            </a:r>
            <a:r>
              <a:rPr lang="en-US" altLang="ko-KR" sz="1100" b="0" dirty="0">
                <a:solidFill>
                  <a:srgbClr val="101511"/>
                </a:solidFill>
                <a:latin typeface="Malgun Gothic"/>
                <a:ea typeface="Malgun Gothic"/>
                <a:cs typeface="Malgun Gothic"/>
              </a:rPr>
              <a:t>&gt;</a:t>
            </a:r>
            <a:r>
              <a:rPr lang="ko-KR" altLang="en-US" sz="1100" b="0" dirty="0">
                <a:solidFill>
                  <a:srgbClr val="101511"/>
                </a:solidFill>
                <a:latin typeface="Malgun Gothic"/>
                <a:ea typeface="Malgun Gothic"/>
                <a:cs typeface="Malgun Gothic"/>
              </a:rPr>
              <a:t>에 가서 진행</a:t>
            </a:r>
            <a:endParaRPr lang="en-US" altLang="ko-KR" sz="110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en-US" sz="1100" b="0" dirty="0" err="1">
                <a:solidFill>
                  <a:srgbClr val="101511"/>
                </a:solidFill>
                <a:latin typeface="Malgun Gothic"/>
                <a:ea typeface="Malgun Gothic"/>
                <a:cs typeface="Malgun Gothic"/>
              </a:rPr>
              <a:t>상세화은</a:t>
            </a:r>
            <a:r>
              <a:rPr lang="ko-KR" altLang="en-US" sz="1100" b="0" dirty="0">
                <a:solidFill>
                  <a:srgbClr val="101511"/>
                </a:solidFill>
                <a:latin typeface="Malgun Gothic"/>
                <a:ea typeface="Malgun Gothic"/>
                <a:cs typeface="Malgun Gothic"/>
              </a:rPr>
              <a:t> </a:t>
            </a:r>
            <a:r>
              <a:rPr lang="ko-KR" altLang="en-US" sz="1100" b="0" dirty="0" err="1">
                <a:solidFill>
                  <a:srgbClr val="101511"/>
                </a:solidFill>
                <a:latin typeface="Malgun Gothic"/>
                <a:ea typeface="Malgun Gothic"/>
                <a:cs typeface="Malgun Gothic"/>
              </a:rPr>
              <a:t>데시보드</a:t>
            </a:r>
            <a:r>
              <a:rPr lang="ko-KR" altLang="en-US" sz="1100" b="0" dirty="0">
                <a:solidFill>
                  <a:srgbClr val="101511"/>
                </a:solidFill>
                <a:latin typeface="Malgun Gothic"/>
                <a:ea typeface="Malgun Gothic"/>
                <a:cs typeface="Malgun Gothic"/>
              </a:rPr>
              <a:t> 형태로 해당 상권을 보여줍니다</a:t>
            </a:r>
            <a:r>
              <a:rPr lang="en-US" altLang="ko-KR" sz="1100" b="0" dirty="0">
                <a:solidFill>
                  <a:srgbClr val="101511"/>
                </a:solidFill>
                <a:latin typeface="Malgun Gothic"/>
                <a:ea typeface="Malgun Gothic"/>
                <a:cs typeface="Malgun Gothic"/>
              </a:rPr>
              <a:t>.</a:t>
            </a:r>
          </a:p>
          <a:p>
            <a:pPr algn="l">
              <a:lnSpc>
                <a:spcPct val="120000"/>
              </a:lnSpc>
              <a:spcAft>
                <a:spcPts val="0"/>
              </a:spcAft>
            </a:pPr>
            <a:r>
              <a:rPr lang="ko-KR" altLang="ko-KR" sz="1100" b="0" dirty="0">
                <a:solidFill>
                  <a:srgbClr val="101511"/>
                </a:solidFill>
                <a:latin typeface="Malgun Gothic"/>
                <a:ea typeface="Malgun Gothic"/>
                <a:cs typeface="Malgun Gothic"/>
              </a:rPr>
              <a:t> AI INSIGHT 라벨이 보일 때만 </a:t>
            </a:r>
            <a:r>
              <a:rPr lang="ko-KR" altLang="ko-KR" sz="1100" b="0" dirty="0" err="1">
                <a:solidFill>
                  <a:srgbClr val="101511"/>
                </a:solidFill>
                <a:latin typeface="Malgun Gothic"/>
                <a:ea typeface="Malgun Gothic"/>
                <a:cs typeface="Malgun Gothic"/>
              </a:rPr>
              <a:t>Gemini</a:t>
            </a:r>
            <a:r>
              <a:rPr lang="ko-KR" altLang="ko-KR" sz="1100" b="0" dirty="0">
                <a:solidFill>
                  <a:srgbClr val="101511"/>
                </a:solidFill>
                <a:latin typeface="Malgun Gothic"/>
                <a:ea typeface="Malgun Gothic"/>
                <a:cs typeface="Malgun Gothic"/>
              </a:rPr>
              <a:t> 생성 결과라고 소개한다. </a:t>
            </a:r>
            <a:endParaRPr lang="en-US" altLang="ko-KR" sz="1100" b="0" dirty="0">
              <a:solidFill>
                <a:srgbClr val="101511"/>
              </a:solidFill>
              <a:latin typeface="Malgun Gothic"/>
              <a:ea typeface="Malgun Gothic"/>
              <a:cs typeface="Malgun Gothic"/>
            </a:endParaRP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돌아온 후</a:t>
            </a:r>
            <a:r>
              <a:rPr lang="en-US" altLang="ko-KR" sz="1100" b="0" dirty="0">
                <a:solidFill>
                  <a:srgbClr val="101511"/>
                </a:solidFill>
                <a:latin typeface="Malgun Gothic"/>
                <a:ea typeface="Malgun Gothic"/>
                <a:cs typeface="Malgun Gothic"/>
              </a:rPr>
              <a:t>&gt;</a:t>
            </a:r>
          </a:p>
          <a:p>
            <a:pPr algn="l">
              <a:lnSpc>
                <a:spcPct val="120000"/>
              </a:lnSpc>
              <a:spcAft>
                <a:spcPts val="0"/>
              </a:spcAft>
            </a:pPr>
            <a:r>
              <a:rPr lang="ko-KR" altLang="en-US" sz="1100" b="0" dirty="0">
                <a:solidFill>
                  <a:srgbClr val="101511"/>
                </a:solidFill>
                <a:latin typeface="Malgun Gothic"/>
                <a:ea typeface="Malgun Gothic"/>
                <a:cs typeface="Malgun Gothic"/>
              </a:rPr>
              <a:t>이번에는 먼저 볼 상권 목록에서 비교 버튼을 눌러서 비교 상권 트레이에 담아 봅니다</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 </a:t>
            </a:r>
            <a:r>
              <a:rPr lang="en-US" altLang="ko-KR" sz="1100" b="0" dirty="0">
                <a:solidFill>
                  <a:srgbClr val="101511"/>
                </a:solidFill>
                <a:latin typeface="Malgun Gothic"/>
                <a:ea typeface="Malgun Gothic"/>
                <a:cs typeface="Malgun Gothic"/>
              </a:rPr>
              <a:t>7</a:t>
            </a:r>
            <a:r>
              <a:rPr lang="ko-KR" altLang="en-US" sz="1100" b="0" dirty="0">
                <a:solidFill>
                  <a:srgbClr val="101511"/>
                </a:solidFill>
                <a:latin typeface="Malgun Gothic"/>
                <a:ea typeface="Malgun Gothic"/>
                <a:cs typeface="Malgun Gothic"/>
              </a:rPr>
              <a:t>개까지 담을 수 있는데요 </a:t>
            </a:r>
            <a:r>
              <a:rPr lang="en-US" altLang="ko-KR" sz="1100" b="0" dirty="0">
                <a:solidFill>
                  <a:srgbClr val="101511"/>
                </a:solidFill>
                <a:latin typeface="Malgun Gothic"/>
                <a:ea typeface="Malgun Gothic"/>
                <a:cs typeface="Malgun Gothic"/>
              </a:rPr>
              <a:t>5</a:t>
            </a:r>
            <a:r>
              <a:rPr lang="ko-KR" altLang="en-US" sz="1100" b="0" dirty="0">
                <a:solidFill>
                  <a:srgbClr val="101511"/>
                </a:solidFill>
                <a:latin typeface="Malgun Gothic"/>
                <a:ea typeface="Malgun Gothic"/>
                <a:cs typeface="Malgun Gothic"/>
              </a:rPr>
              <a:t>개의 상권을 담아 보겠습니다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algn="l">
              <a:lnSpc>
                <a:spcPct val="120000"/>
              </a:lnSpc>
              <a:spcAft>
                <a:spcPts val="0"/>
              </a:spcAft>
            </a:pPr>
            <a:r>
              <a:rPr lang="ko-KR" altLang="en-US" sz="1100" b="0" dirty="0">
                <a:solidFill>
                  <a:srgbClr val="101511"/>
                </a:solidFill>
                <a:latin typeface="Malgun Gothic"/>
                <a:ea typeface="Malgun Gothic"/>
                <a:cs typeface="Malgun Gothic"/>
              </a:rPr>
              <a:t>이제 상권 나란히 비교 버튼을 누르거나 </a:t>
            </a:r>
            <a:r>
              <a:rPr lang="ko-KR" altLang="en-US" sz="1100" b="0" dirty="0" err="1">
                <a:solidFill>
                  <a:srgbClr val="101511"/>
                </a:solidFill>
                <a:latin typeface="Malgun Gothic"/>
                <a:ea typeface="Malgun Gothic"/>
                <a:cs typeface="Malgun Gothic"/>
              </a:rPr>
              <a:t>비교탭으로</a:t>
            </a:r>
            <a:r>
              <a:rPr lang="ko-KR" altLang="en-US" sz="1100" b="0" dirty="0">
                <a:solidFill>
                  <a:srgbClr val="101511"/>
                </a:solidFill>
                <a:latin typeface="Malgun Gothic"/>
                <a:ea typeface="Malgun Gothic"/>
                <a:cs typeface="Malgun Gothic"/>
              </a:rPr>
              <a:t> 이동하여 비교화면으로 진입할 수 있습니다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상권 나란히 비교 버튼을 누른다</a:t>
            </a:r>
            <a:r>
              <a:rPr lang="en-US" altLang="ko-KR" sz="1100" b="0" dirty="0">
                <a:solidFill>
                  <a:srgbClr val="101511"/>
                </a:solidFill>
                <a:latin typeface="Malgun Gothic"/>
                <a:ea typeface="Malgun Gothic"/>
                <a:cs typeface="Malgun Gothic"/>
              </a:rPr>
              <a:t>&gt;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비교 화면</a:t>
            </a:r>
            <a:r>
              <a:rPr lang="en-US" altLang="ko-KR" sz="1100" b="0" dirty="0">
                <a:solidFill>
                  <a:srgbClr val="101511"/>
                </a:solidFill>
                <a:latin typeface="Malgun Gothic"/>
                <a:ea typeface="Malgun Gothic"/>
                <a:cs typeface="Malgun Gothic"/>
              </a:rPr>
              <a:t>&gt;</a:t>
            </a:r>
          </a:p>
          <a:p>
            <a:pPr algn="l">
              <a:lnSpc>
                <a:spcPct val="120000"/>
              </a:lnSpc>
              <a:spcAft>
                <a:spcPts val="0"/>
              </a:spcAft>
            </a:pPr>
            <a:r>
              <a:rPr lang="ko-KR" altLang="en-US" sz="1100" b="0" dirty="0" err="1">
                <a:solidFill>
                  <a:srgbClr val="101511"/>
                </a:solidFill>
                <a:latin typeface="Malgun Gothic"/>
                <a:ea typeface="Malgun Gothic"/>
                <a:cs typeface="Malgun Gothic"/>
              </a:rPr>
              <a:t>비교화면을</a:t>
            </a:r>
            <a:r>
              <a:rPr lang="ko-KR" altLang="en-US" sz="1100" b="0" dirty="0">
                <a:solidFill>
                  <a:srgbClr val="101511"/>
                </a:solidFill>
                <a:latin typeface="Malgun Gothic"/>
                <a:ea typeface="Malgun Gothic"/>
                <a:cs typeface="Malgun Gothic"/>
              </a:rPr>
              <a:t> 충분히 설명한다</a:t>
            </a:r>
            <a:r>
              <a:rPr lang="en-US" altLang="ko-KR" sz="1100" b="0" dirty="0">
                <a:solidFill>
                  <a:srgbClr val="101511"/>
                </a:solidFill>
                <a:latin typeface="Malgun Gothic"/>
                <a:ea typeface="Malgun Gothic"/>
                <a:cs typeface="Malgun Gothic"/>
              </a:rPr>
              <a: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돌아온 후</a:t>
            </a:r>
            <a:r>
              <a:rPr lang="en-US" altLang="ko-KR" sz="1100" b="0" dirty="0">
                <a:solidFill>
                  <a:srgbClr val="101511"/>
                </a:solidFill>
                <a:latin typeface="Malgun Gothic"/>
                <a:ea typeface="Malgun Gothic"/>
                <a:cs typeface="Malgun Gothic"/>
              </a:rPr>
              <a:t>&gt;</a:t>
            </a: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 </a:t>
            </a:r>
            <a:r>
              <a:rPr lang="ko-KR" altLang="en-US" sz="1100" b="0" dirty="0" err="1">
                <a:solidFill>
                  <a:srgbClr val="101511"/>
                </a:solidFill>
                <a:latin typeface="Malgun Gothic"/>
                <a:ea typeface="Malgun Gothic"/>
                <a:cs typeface="Malgun Gothic"/>
              </a:rPr>
              <a:t>검색어</a:t>
            </a:r>
            <a:r>
              <a:rPr lang="ko-KR" altLang="en-US" sz="1100" b="0" dirty="0">
                <a:solidFill>
                  <a:srgbClr val="101511"/>
                </a:solidFill>
                <a:latin typeface="Malgun Gothic"/>
                <a:ea typeface="Malgun Gothic"/>
                <a:cs typeface="Malgun Gothic"/>
              </a:rPr>
              <a:t> </a:t>
            </a:r>
            <a:r>
              <a:rPr lang="ko-KR" altLang="en-US" sz="1100" b="0" dirty="0" err="1">
                <a:solidFill>
                  <a:srgbClr val="101511"/>
                </a:solidFill>
                <a:latin typeface="Malgun Gothic"/>
                <a:ea typeface="Malgun Gothic"/>
                <a:cs typeface="Malgun Gothic"/>
              </a:rPr>
              <a:t>드롭다운</a:t>
            </a:r>
            <a:r>
              <a:rPr lang="ko-KR" altLang="en-US" sz="1100" b="0" dirty="0">
                <a:solidFill>
                  <a:srgbClr val="101511"/>
                </a:solidFill>
                <a:latin typeface="Malgun Gothic"/>
                <a:ea typeface="Malgun Gothic"/>
                <a:cs typeface="Malgun Gothic"/>
              </a:rPr>
              <a:t> 기능의 역할</a:t>
            </a:r>
            <a:r>
              <a:rPr lang="en-US" altLang="ko-KR" sz="1100" b="0" dirty="0">
                <a:solidFill>
                  <a:srgbClr val="101511"/>
                </a:solidFill>
                <a:latin typeface="Malgun Gothic"/>
                <a:ea typeface="Malgun Gothic"/>
                <a:cs typeface="Malgun Gothic"/>
              </a:rPr>
              <a:t>&gt;</a:t>
            </a:r>
          </a:p>
          <a:p>
            <a:pPr algn="l">
              <a:lnSpc>
                <a:spcPct val="120000"/>
              </a:lnSpc>
              <a:spcAft>
                <a:spcPts val="0"/>
              </a:spcAft>
            </a:pPr>
            <a:r>
              <a:rPr lang="ko-KR" altLang="en-US" sz="1100" b="0" dirty="0">
                <a:solidFill>
                  <a:srgbClr val="101511"/>
                </a:solidFill>
                <a:latin typeface="Malgun Gothic"/>
                <a:ea typeface="Malgun Gothic"/>
                <a:cs typeface="Malgun Gothic"/>
              </a:rPr>
              <a:t>상권 이름 </a:t>
            </a:r>
            <a:r>
              <a:rPr lang="ko-KR" altLang="en-US" sz="1100" b="0" dirty="0" err="1">
                <a:solidFill>
                  <a:srgbClr val="101511"/>
                </a:solidFill>
                <a:latin typeface="Malgun Gothic"/>
                <a:ea typeface="Malgun Gothic"/>
                <a:cs typeface="Malgun Gothic"/>
              </a:rPr>
              <a:t>드롭다운을</a:t>
            </a:r>
            <a:r>
              <a:rPr lang="ko-KR" altLang="en-US" sz="1100" b="0" dirty="0">
                <a:solidFill>
                  <a:srgbClr val="101511"/>
                </a:solidFill>
                <a:latin typeface="Malgun Gothic"/>
                <a:ea typeface="Malgun Gothic"/>
                <a:cs typeface="Malgun Gothic"/>
              </a:rPr>
              <a:t> 선택하면 해당 자치구의 상권 목록이 나옵니다</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 </a:t>
            </a: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상권을 선택하고 </a:t>
            </a:r>
            <a:r>
              <a:rPr lang="ko-KR" altLang="en-US" sz="1100" b="0" dirty="0" err="1">
                <a:solidFill>
                  <a:srgbClr val="101511"/>
                </a:solidFill>
                <a:latin typeface="Malgun Gothic"/>
                <a:ea typeface="Malgun Gothic"/>
                <a:cs typeface="Malgun Gothic"/>
              </a:rPr>
              <a:t>엔터</a:t>
            </a:r>
            <a:r>
              <a:rPr lang="en-US" altLang="ko-KR" sz="1100" b="0" dirty="0">
                <a:solidFill>
                  <a:srgbClr val="101511"/>
                </a:solidFill>
                <a:latin typeface="Malgun Gothic"/>
                <a:ea typeface="Malgun Gothic"/>
                <a:cs typeface="Malgun Gothic"/>
              </a:rPr>
              <a:t>&gt;</a:t>
            </a:r>
          </a:p>
          <a:p>
            <a:pPr algn="l">
              <a:lnSpc>
                <a:spcPct val="120000"/>
              </a:lnSpc>
              <a:spcAft>
                <a:spcPts val="0"/>
              </a:spcAft>
            </a:pPr>
            <a:endParaRPr lang="en-US" altLang="ko-KR" sz="1100" b="0" dirty="0">
              <a:solidFill>
                <a:srgbClr val="101511"/>
              </a:solidFill>
              <a:latin typeface="Malgun Gothic"/>
              <a:ea typeface="Malgun Gothic"/>
              <a:cs typeface="Malgun Gothic"/>
            </a:endParaRP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상권 이름으로 검색</a:t>
            </a:r>
            <a:r>
              <a:rPr lang="en-US" altLang="ko-KR" sz="1100" b="0" dirty="0">
                <a:solidFill>
                  <a:srgbClr val="101511"/>
                </a:solidFill>
                <a:latin typeface="Malgun Gothic"/>
                <a:ea typeface="Malgun Gothic"/>
                <a:cs typeface="Malgun Gothic"/>
              </a:rPr>
              <a:t>&gt;</a:t>
            </a:r>
          </a:p>
          <a:p>
            <a:pPr algn="l">
              <a:lnSpc>
                <a:spcPct val="120000"/>
              </a:lnSpc>
              <a:spcAft>
                <a:spcPts val="0"/>
              </a:spcAft>
            </a:pPr>
            <a:r>
              <a:rPr lang="ko-KR" altLang="ko-KR" sz="1100" b="0" dirty="0">
                <a:solidFill>
                  <a:srgbClr val="101511"/>
                </a:solidFill>
                <a:latin typeface="Malgun Gothic"/>
                <a:ea typeface="Malgun Gothic"/>
                <a:cs typeface="Malgun Gothic"/>
              </a:rPr>
              <a:t>상권의 이름</a:t>
            </a:r>
            <a:r>
              <a:rPr lang="ko-KR" altLang="en-US" sz="1100" b="0" dirty="0">
                <a:solidFill>
                  <a:srgbClr val="101511"/>
                </a:solidFill>
                <a:latin typeface="Malgun Gothic"/>
                <a:ea typeface="Malgun Gothic"/>
                <a:cs typeface="Malgun Gothic"/>
              </a:rPr>
              <a:t> 일부로 상권을</a:t>
            </a:r>
            <a:r>
              <a:rPr lang="ko-KR" altLang="ko-KR" sz="1100" b="0" dirty="0">
                <a:solidFill>
                  <a:srgbClr val="101511"/>
                </a:solidFill>
                <a:latin typeface="Malgun Gothic"/>
                <a:ea typeface="Malgun Gothic"/>
                <a:cs typeface="Malgun Gothic"/>
              </a:rPr>
              <a:t> 검색할 수 있습니다.</a:t>
            </a:r>
            <a:r>
              <a:rPr lang="ko-KR" altLang="en-US" sz="1100" b="0" dirty="0">
                <a:solidFill>
                  <a:srgbClr val="101511"/>
                </a:solidFill>
                <a:latin typeface="Malgun Gothic"/>
                <a:ea typeface="Malgun Gothic"/>
                <a:cs typeface="Malgun Gothic"/>
              </a:rPr>
              <a:t> </a:t>
            </a:r>
            <a:r>
              <a:rPr lang="en-US" altLang="ko-KR" sz="1100" b="0" dirty="0">
                <a:solidFill>
                  <a:srgbClr val="101511"/>
                </a:solidFill>
                <a:latin typeface="Malgun Gothic"/>
                <a:ea typeface="Malgun Gothic"/>
                <a:cs typeface="Malgun Gothic"/>
              </a:rPr>
              <a:t>&lt;</a:t>
            </a:r>
            <a:r>
              <a:rPr lang="ko-KR" altLang="en-US" sz="1100" b="0" dirty="0" err="1">
                <a:solidFill>
                  <a:srgbClr val="101511"/>
                </a:solidFill>
                <a:latin typeface="Malgun Gothic"/>
                <a:ea typeface="Malgun Gothic"/>
                <a:cs typeface="Malgun Gothic"/>
              </a:rPr>
              <a:t>검색어</a:t>
            </a:r>
            <a:r>
              <a:rPr lang="ko-KR" altLang="en-US" sz="1100" b="0" dirty="0">
                <a:solidFill>
                  <a:srgbClr val="101511"/>
                </a:solidFill>
                <a:latin typeface="Malgun Gothic"/>
                <a:ea typeface="Malgun Gothic"/>
                <a:cs typeface="Malgun Gothic"/>
              </a:rPr>
              <a:t> </a:t>
            </a:r>
            <a:r>
              <a:rPr lang="en-US" altLang="ko-KR" sz="1100" b="0" dirty="0">
                <a:solidFill>
                  <a:srgbClr val="101511"/>
                </a:solidFill>
                <a:latin typeface="Malgun Gothic"/>
                <a:ea typeface="Malgun Gothic"/>
                <a:cs typeface="Malgun Gothic"/>
              </a:rPr>
              <a:t>x </a:t>
            </a:r>
            <a:r>
              <a:rPr lang="ko-KR" altLang="en-US" sz="1100" b="0" dirty="0">
                <a:solidFill>
                  <a:srgbClr val="101511"/>
                </a:solidFill>
                <a:latin typeface="Malgun Gothic"/>
                <a:ea typeface="Malgun Gothic"/>
                <a:cs typeface="Malgun Gothic"/>
              </a:rPr>
              <a:t>선택</a:t>
            </a:r>
            <a:r>
              <a:rPr lang="en-US" altLang="ko-KR" sz="1100" b="0" dirty="0">
                <a:solidFill>
                  <a:srgbClr val="101511"/>
                </a:solidFill>
                <a:latin typeface="Malgun Gothic"/>
                <a:ea typeface="Malgun Gothic"/>
                <a:cs typeface="Malgun Gothic"/>
              </a:rPr>
              <a:t>&gt;</a:t>
            </a:r>
            <a:r>
              <a:rPr lang="ko-KR" altLang="en-US" sz="1100" b="0" dirty="0">
                <a:solidFill>
                  <a:srgbClr val="101511"/>
                </a:solidFill>
                <a:latin typeface="Malgun Gothic"/>
                <a:ea typeface="Malgun Gothic"/>
                <a:cs typeface="Malgun Gothic"/>
              </a:rPr>
              <a:t> </a:t>
            </a:r>
            <a:endParaRPr lang="ko-KR" altLang="ko-KR" dirty="0"/>
          </a:p>
          <a:p>
            <a:pPr algn="l">
              <a:lnSpc>
                <a:spcPct val="120000"/>
              </a:lnSpc>
              <a:spcAft>
                <a:spcPts val="0"/>
              </a:spcAft>
            </a:pP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역</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이 들어간 상권을 검색해 보겠습니다</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 </a:t>
            </a: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역을 쓰고 </a:t>
            </a:r>
            <a:r>
              <a:rPr lang="ko-KR" altLang="en-US" sz="1100" b="0" dirty="0" err="1">
                <a:solidFill>
                  <a:srgbClr val="101511"/>
                </a:solidFill>
                <a:latin typeface="Malgun Gothic"/>
                <a:ea typeface="Malgun Gothic"/>
                <a:cs typeface="Malgun Gothic"/>
              </a:rPr>
              <a:t>엔터</a:t>
            </a:r>
            <a:r>
              <a:rPr lang="en-US" altLang="ko-KR" sz="1100" b="0" dirty="0">
                <a:solidFill>
                  <a:srgbClr val="101511"/>
                </a:solidFill>
                <a:latin typeface="Malgun Gothic"/>
                <a:ea typeface="Malgun Gothic"/>
                <a:cs typeface="Malgun Gothic"/>
              </a:rPr>
              <a:t>&gt;</a:t>
            </a:r>
            <a:r>
              <a:rPr lang="ko-KR" altLang="en-US" sz="1100" b="0" dirty="0">
                <a:solidFill>
                  <a:srgbClr val="101511"/>
                </a:solidFill>
                <a:latin typeface="Malgun Gothic"/>
                <a:ea typeface="Malgun Gothic"/>
                <a:cs typeface="Malgun Gothic"/>
              </a:rPr>
              <a:t> </a:t>
            </a:r>
            <a:endParaRPr lang="ko-KR" altLang="ko-KR" dirty="0"/>
          </a:p>
          <a:p>
            <a:pPr algn="l">
              <a:lnSpc>
                <a:spcPct val="120000"/>
              </a:lnSpc>
              <a:spcAft>
                <a:spcPts val="0"/>
              </a:spcAft>
            </a:pPr>
            <a:endParaRPr lang="ko-KR" altLang="ko-KR" dirty="0"/>
          </a:p>
          <a:p>
            <a:pPr algn="l">
              <a:lnSpc>
                <a:spcPct val="120000"/>
              </a:lnSpc>
              <a:spcAft>
                <a:spcPts val="0"/>
              </a:spcAft>
            </a:pPr>
            <a:r>
              <a:rPr lang="en-US" altLang="ko-KR" dirty="0"/>
              <a:t>&lt;</a:t>
            </a:r>
            <a:r>
              <a:rPr lang="ko-KR" altLang="en-US" dirty="0"/>
              <a:t>사용법을 설명</a:t>
            </a:r>
            <a:r>
              <a:rPr lang="en-US" altLang="ko-KR" dirty="0"/>
              <a:t>&gt;</a:t>
            </a:r>
          </a:p>
          <a:p>
            <a:pPr algn="l">
              <a:lnSpc>
                <a:spcPct val="120000"/>
              </a:lnSpc>
              <a:spcAft>
                <a:spcPts val="0"/>
              </a:spcAft>
            </a:pPr>
            <a:r>
              <a:rPr lang="ko-KR" altLang="en-US" dirty="0"/>
              <a:t>자세한 사용법은 우측 상단에 사용법 아이콘을 통해 이 서비스의 사용법을 확인할 수 있습니다</a:t>
            </a:r>
            <a:r>
              <a:rPr lang="en-US" altLang="ko-KR" dirty="0"/>
              <a:t>.</a:t>
            </a:r>
          </a:p>
          <a:p>
            <a:pPr algn="l">
              <a:lnSpc>
                <a:spcPct val="120000"/>
              </a:lnSpc>
              <a:spcAft>
                <a:spcPts val="0"/>
              </a:spcAft>
            </a:pPr>
            <a:endParaRPr lang="en-US" altLang="ko-KR" dirty="0"/>
          </a:p>
          <a:p>
            <a:pPr algn="l">
              <a:lnSpc>
                <a:spcPct val="120000"/>
              </a:lnSpc>
              <a:spcAft>
                <a:spcPts val="0"/>
              </a:spcAft>
            </a:pPr>
            <a:r>
              <a:rPr lang="en-US" altLang="ko-KR" dirty="0"/>
              <a:t>&lt;</a:t>
            </a:r>
            <a:r>
              <a:rPr lang="ko-KR" altLang="en-US" dirty="0"/>
              <a:t> 산출 </a:t>
            </a:r>
            <a:r>
              <a:rPr lang="ko-KR" altLang="en-US" dirty="0" err="1"/>
              <a:t>로직</a:t>
            </a:r>
            <a:r>
              <a:rPr lang="ko-KR" altLang="en-US" dirty="0"/>
              <a:t> 버튼 설명</a:t>
            </a:r>
            <a:r>
              <a:rPr lang="en-US" altLang="ko-KR" dirty="0"/>
              <a:t>&gt;</a:t>
            </a:r>
          </a:p>
          <a:p>
            <a:pPr algn="l">
              <a:lnSpc>
                <a:spcPct val="120000"/>
              </a:lnSpc>
              <a:spcAft>
                <a:spcPts val="0"/>
              </a:spcAft>
            </a:pPr>
            <a:r>
              <a:rPr lang="ko-KR" altLang="en-US" dirty="0"/>
              <a:t>탐색 </a:t>
            </a:r>
            <a:r>
              <a:rPr lang="ko-KR" altLang="en-US" dirty="0" err="1"/>
              <a:t>로직은</a:t>
            </a:r>
            <a:r>
              <a:rPr lang="ko-KR" altLang="en-US" dirty="0"/>
              <a:t> 탐색 점수를 구하는 </a:t>
            </a:r>
            <a:r>
              <a:rPr lang="ko-KR" altLang="en-US" dirty="0" err="1"/>
              <a:t>산출식을</a:t>
            </a:r>
            <a:r>
              <a:rPr lang="ko-KR" altLang="en-US" dirty="0"/>
              <a:t> 설명하는 화면입니다</a:t>
            </a:r>
            <a:r>
              <a:rPr lang="en-US" altLang="ko-KR" dirty="0"/>
              <a:t>.</a:t>
            </a:r>
          </a:p>
          <a:p>
            <a:pPr algn="l">
              <a:lnSpc>
                <a:spcPct val="120000"/>
              </a:lnSpc>
              <a:spcAft>
                <a:spcPts val="0"/>
              </a:spcAft>
            </a:pPr>
            <a:r>
              <a:rPr lang="ko-KR" altLang="en-US" dirty="0"/>
              <a:t>지난 발표 이후에 더 </a:t>
            </a:r>
            <a:r>
              <a:rPr lang="ko-KR" altLang="en-US" dirty="0" err="1"/>
              <a:t>디테일한</a:t>
            </a:r>
            <a:r>
              <a:rPr lang="ko-KR" altLang="en-US" dirty="0"/>
              <a:t> 설명이 추가되었습니다</a:t>
            </a:r>
            <a:r>
              <a:rPr lang="en-US" altLang="ko-KR" dirty="0"/>
              <a:t>.</a:t>
            </a:r>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이제 </a:t>
            </a:r>
            <a:r>
              <a:rPr lang="ko-KR" sz="1350" b="0" dirty="0" err="1">
                <a:solidFill>
                  <a:srgbClr val="101511"/>
                </a:solidFill>
                <a:latin typeface="Malgun Gothic"/>
                <a:ea typeface="Malgun Gothic"/>
                <a:cs typeface="Malgun Gothic"/>
              </a:rPr>
              <a:t>발표자료로</a:t>
            </a:r>
            <a:r>
              <a:rPr lang="ko-KR" sz="1350" b="0" dirty="0">
                <a:solidFill>
                  <a:srgbClr val="101511"/>
                </a:solidFill>
                <a:latin typeface="Malgun Gothic"/>
                <a:ea typeface="Malgun Gothic"/>
                <a:cs typeface="Malgun Gothic"/>
              </a:rPr>
              <a:t> 돌아가, 누구의 어떤 문제를 풀려고 </a:t>
            </a:r>
            <a:r>
              <a:rPr lang="ko-KR" sz="1350" b="0" dirty="0" err="1">
                <a:solidFill>
                  <a:srgbClr val="101511"/>
                </a:solidFill>
                <a:latin typeface="Malgun Gothic"/>
                <a:ea typeface="Malgun Gothic"/>
                <a:cs typeface="Malgun Gothic"/>
              </a:rPr>
              <a:t>했는지부터</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설명드리겠습니다</a:t>
            </a:r>
            <a:r>
              <a:rPr 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a:p>
            <a:pPr algn="l">
              <a:lnSpc>
                <a:spcPct val="120000"/>
              </a:lnSpc>
              <a:spcAft>
                <a:spcPts val="0"/>
              </a:spcAft>
            </a:pPr>
            <a:endParaRPr lang="ko-K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18000"/>
              </a:lnSpc>
              <a:spcAft>
                <a:spcPts val="0"/>
              </a:spcAft>
            </a:pPr>
            <a:r>
              <a:rPr lang="ko-KR" sz="1350" b="0" dirty="0">
                <a:solidFill>
                  <a:srgbClr val="000000"/>
                </a:solidFill>
                <a:latin typeface="Malgun Gothic"/>
                <a:ea typeface="Malgun Gothic"/>
                <a:cs typeface="Malgun Gothic"/>
              </a:rPr>
              <a:t>[발표]</a:t>
            </a:r>
            <a:endParaRPr lang="en-US" altLang="ko-KR" sz="1350" b="0" dirty="0">
              <a:solidFill>
                <a:srgbClr val="000000"/>
              </a:solidFill>
              <a:latin typeface="Malgun Gothic"/>
              <a:ea typeface="Malgun Gothic"/>
              <a:cs typeface="Malgun Gothic"/>
            </a:endParaRPr>
          </a:p>
          <a:p>
            <a:pPr algn="l">
              <a:lnSpc>
                <a:spcPct val="118000"/>
              </a:lnSpc>
              <a:spcAft>
                <a:spcPts val="0"/>
              </a:spcAft>
            </a:pPr>
            <a:r>
              <a:rPr lang="ko-KR" altLang="en-US" dirty="0" err="1"/>
              <a:t>시연해주신</a:t>
            </a:r>
            <a:r>
              <a:rPr lang="ko-KR" altLang="en-US" dirty="0"/>
              <a:t> </a:t>
            </a:r>
            <a:r>
              <a:rPr lang="ko-KR" altLang="en-US" dirty="0" err="1"/>
              <a:t>이소영님</a:t>
            </a:r>
            <a:r>
              <a:rPr lang="ko-KR" altLang="en-US" dirty="0"/>
              <a:t> 감사합니다</a:t>
            </a:r>
            <a:r>
              <a:rPr lang="en-US" altLang="ko-KR" dirty="0"/>
              <a:t>.</a:t>
            </a:r>
          </a:p>
          <a:p>
            <a:pPr algn="l">
              <a:lnSpc>
                <a:spcPct val="118000"/>
              </a:lnSpc>
              <a:spcAft>
                <a:spcPts val="0"/>
              </a:spcAft>
            </a:pPr>
            <a:endParaRPr lang="ko-KR" dirty="0"/>
          </a:p>
          <a:p>
            <a:pPr algn="l">
              <a:lnSpc>
                <a:spcPct val="118000"/>
              </a:lnSpc>
              <a:spcAft>
                <a:spcPts val="0"/>
              </a:spcAft>
            </a:pPr>
            <a:r>
              <a:rPr lang="ko-KR" sz="1350" b="0" dirty="0">
                <a:solidFill>
                  <a:srgbClr val="000000"/>
                </a:solidFill>
                <a:latin typeface="Malgun Gothic"/>
                <a:ea typeface="Malgun Gothic"/>
                <a:cs typeface="Malgun Gothic"/>
              </a:rPr>
              <a:t>프로젝트</a:t>
            </a:r>
            <a:r>
              <a:rPr lang="ko-KR" altLang="en-US" sz="1350" b="0" dirty="0">
                <a:solidFill>
                  <a:srgbClr val="000000"/>
                </a:solidFill>
                <a:latin typeface="Malgun Gothic"/>
                <a:ea typeface="Malgun Gothic"/>
                <a:cs typeface="Malgun Gothic"/>
              </a:rPr>
              <a:t> 개요 입니다</a:t>
            </a:r>
            <a:r>
              <a:rPr lang="ko-KR" sz="1350" b="0" dirty="0">
                <a:solidFill>
                  <a:srgbClr val="000000"/>
                </a:solidFill>
                <a:latin typeface="Malgun Gothic"/>
                <a:ea typeface="Malgun Gothic"/>
                <a:cs typeface="Malgun Gothic"/>
              </a:rPr>
              <a:t>.</a:t>
            </a:r>
            <a:endParaRPr lang="ko-KR" dirty="0"/>
          </a:p>
          <a:p>
            <a:pPr algn="l">
              <a:lnSpc>
                <a:spcPct val="118000"/>
              </a:lnSpc>
              <a:spcAft>
                <a:spcPts val="0"/>
              </a:spcAft>
            </a:pPr>
            <a:endParaRPr lang="ko-KR" dirty="0"/>
          </a:p>
          <a:p>
            <a:pPr algn="l">
              <a:lnSpc>
                <a:spcPct val="118000"/>
              </a:lnSpc>
              <a:spcAft>
                <a:spcPts val="0"/>
              </a:spcAft>
            </a:pPr>
            <a:r>
              <a:rPr lang="ko-KR" sz="1350" b="0" dirty="0">
                <a:solidFill>
                  <a:srgbClr val="000000"/>
                </a:solidFill>
                <a:latin typeface="Malgun Gothic"/>
                <a:ea typeface="Malgun Gothic"/>
                <a:cs typeface="Malgun Gothic"/>
              </a:rPr>
              <a:t>저희는 상권 데이터를 많이 보여주는 것만으로는 처음 창업하는 사람의 고민을 해결하기 어렵다고 보았습니다.</a:t>
            </a:r>
            <a:endParaRPr lang="ko-KR" dirty="0"/>
          </a:p>
          <a:p>
            <a:pPr algn="l">
              <a:lnSpc>
                <a:spcPct val="118000"/>
              </a:lnSpc>
              <a:spcAft>
                <a:spcPts val="0"/>
              </a:spcAft>
            </a:pPr>
            <a:endParaRPr lang="ko-KR" dirty="0"/>
          </a:p>
          <a:p>
            <a:pPr algn="l">
              <a:lnSpc>
                <a:spcPct val="118000"/>
              </a:lnSpc>
              <a:spcAft>
                <a:spcPts val="0"/>
              </a:spcAft>
            </a:pPr>
            <a:r>
              <a:rPr lang="ko-KR" sz="1350" b="0" dirty="0">
                <a:solidFill>
                  <a:srgbClr val="000000"/>
                </a:solidFill>
                <a:latin typeface="Malgun Gothic"/>
                <a:ea typeface="Malgun Gothic"/>
                <a:cs typeface="Malgun Gothic"/>
              </a:rPr>
              <a:t>그래서 사용자</a:t>
            </a:r>
            <a:r>
              <a:rPr lang="ko-KR" altLang="en-US" sz="1350" b="0" dirty="0">
                <a:solidFill>
                  <a:srgbClr val="000000"/>
                </a:solidFill>
                <a:latin typeface="Malgun Gothic"/>
                <a:ea typeface="Malgun Gothic"/>
                <a:cs typeface="Malgun Gothic"/>
              </a:rPr>
              <a:t>의 페르소나를 정의하고 페인포인트로</a:t>
            </a:r>
            <a:r>
              <a:rPr lang="ko-KR" sz="1350" b="0" dirty="0">
                <a:solidFill>
                  <a:srgbClr val="000000"/>
                </a:solidFill>
                <a:latin typeface="Malgun Gothic"/>
                <a:ea typeface="Malgun Gothic"/>
                <a:cs typeface="Malgun Gothic"/>
              </a:rPr>
              <a:t>부터 </a:t>
            </a:r>
            <a:r>
              <a:rPr lang="ko-KR" altLang="en-US" sz="1350" b="0" dirty="0">
                <a:solidFill>
                  <a:srgbClr val="000000"/>
                </a:solidFill>
                <a:latin typeface="Malgun Gothic"/>
                <a:ea typeface="Malgun Gothic"/>
                <a:cs typeface="Malgun Gothic"/>
              </a:rPr>
              <a:t>솔루션을 도출</a:t>
            </a:r>
            <a:r>
              <a:rPr lang="ko-KR" sz="1350" b="0" dirty="0">
                <a:solidFill>
                  <a:srgbClr val="000000"/>
                </a:solidFill>
                <a:latin typeface="Malgun Gothic"/>
                <a:ea typeface="Malgun Gothic"/>
                <a:cs typeface="Malgun Gothic"/>
              </a:rPr>
              <a:t>했습니다.</a:t>
            </a:r>
            <a:endParaRPr lang="ko-KR" dirty="0"/>
          </a:p>
          <a:p>
            <a:pPr algn="l">
              <a:lnSpc>
                <a:spcPct val="118000"/>
              </a:lnSpc>
              <a:spcAft>
                <a:spcPts val="0"/>
              </a:spcAft>
            </a:pPr>
            <a:endParaRPr lang="ko-KR" dirty="0"/>
          </a:p>
          <a:p>
            <a:pPr algn="l">
              <a:lnSpc>
                <a:spcPct val="118000"/>
              </a:lnSpc>
              <a:spcAft>
                <a:spcPts val="0"/>
              </a:spcAft>
            </a:pPr>
            <a:r>
              <a:rPr lang="ko-KR" sz="1350" b="0" dirty="0">
                <a:solidFill>
                  <a:srgbClr val="000000"/>
                </a:solidFill>
                <a:latin typeface="Malgun Gothic"/>
                <a:ea typeface="Malgun Gothic"/>
                <a:cs typeface="Malgun Gothic"/>
              </a:rPr>
              <a:t>다음 페이지로 전환</a:t>
            </a:r>
            <a:r>
              <a:rPr lang="en-US" altLang="ko-KR" sz="1350" b="0" dirty="0">
                <a:solidFill>
                  <a:srgbClr val="000000"/>
                </a:solidFill>
                <a:latin typeface="Malgun Gothic"/>
                <a:ea typeface="Malgun Gothic"/>
                <a:cs typeface="Malgun Gothic"/>
              </a:rPr>
              <a:t>&gt;</a:t>
            </a:r>
            <a:endParaRPr lang="ko-K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저희가 페르소나로 선택한 </a:t>
            </a:r>
            <a:r>
              <a:rPr lang="ko-KR" sz="1350" b="0" dirty="0">
                <a:solidFill>
                  <a:srgbClr val="101511"/>
                </a:solidFill>
                <a:latin typeface="Malgun Gothic"/>
                <a:ea typeface="Malgun Gothic"/>
                <a:cs typeface="Malgun Gothic"/>
              </a:rPr>
              <a:t>주 사용자는 서른두 살의 </a:t>
            </a:r>
            <a:r>
              <a:rPr lang="ko-KR" sz="1350" b="0" dirty="0" err="1">
                <a:solidFill>
                  <a:srgbClr val="101511"/>
                </a:solidFill>
                <a:latin typeface="Malgun Gothic"/>
                <a:ea typeface="Malgun Gothic"/>
                <a:cs typeface="Malgun Gothic"/>
              </a:rPr>
              <a:t>김도윤</a:t>
            </a:r>
            <a:r>
              <a:rPr lang="ko-KR" sz="1350" b="0" dirty="0">
                <a:solidFill>
                  <a:srgbClr val="101511"/>
                </a:solidFill>
                <a:latin typeface="Malgun Gothic"/>
                <a:ea typeface="Malgun Gothic"/>
                <a:cs typeface="Malgun Gothic"/>
              </a:rPr>
              <a:t> 씨입니다. 카페 프랜차이즈 매니저로 일한 경험이 있지만, 자기 매장을 여는 것은 처음인 예비 창업자로 설정했습니다.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도윤 씨</a:t>
            </a:r>
            <a:r>
              <a:rPr lang="ko-KR" altLang="en-US" sz="1350" b="0" dirty="0">
                <a:solidFill>
                  <a:srgbClr val="101511"/>
                </a:solidFill>
                <a:latin typeface="Malgun Gothic"/>
                <a:ea typeface="Malgun Gothic"/>
                <a:cs typeface="Malgun Gothic"/>
              </a:rPr>
              <a:t>가 원하는 것은</a:t>
            </a:r>
            <a:r>
              <a:rPr lang="ko-KR" sz="1350" b="0" dirty="0">
                <a:solidFill>
                  <a:srgbClr val="101511"/>
                </a:solidFill>
                <a:latin typeface="Malgun Gothic"/>
                <a:ea typeface="Malgun Gothic"/>
                <a:cs typeface="Malgun Gothic"/>
              </a:rPr>
              <a:t> 성공이 보장된 장소를 바로 고르는 것이 아닙니다. 한정된 자금 안에서 직접 가볼 후보를 두세 곳으로 줄이는 것입니다.</a:t>
            </a:r>
            <a:endParaRPr lang="ko-KR" dirty="0"/>
          </a:p>
          <a:p>
            <a:pPr algn="l">
              <a:lnSpc>
                <a:spcPct val="120000"/>
              </a:lnSpc>
              <a:spcAft>
                <a:spcPts val="0"/>
              </a:spcAft>
            </a:pP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다음 화면은 </a:t>
            </a:r>
            <a:r>
              <a:rPr lang="ko-KR" sz="1350" b="0" dirty="0">
                <a:solidFill>
                  <a:srgbClr val="101511"/>
                </a:solidFill>
                <a:latin typeface="Malgun Gothic"/>
                <a:ea typeface="Malgun Gothic"/>
                <a:cs typeface="Malgun Gothic"/>
              </a:rPr>
              <a:t>이 사용자가 후보지를 찾는 과정에서 겪는 불편을 네 가지로 정리했습니다.</a:t>
            </a:r>
            <a:endParaRPr lang="ko-K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altLang="en-US" sz="1350" b="0" dirty="0">
                <a:solidFill>
                  <a:srgbClr val="101511"/>
                </a:solidFill>
                <a:latin typeface="Malgun Gothic"/>
                <a:ea typeface="Malgun Gothic"/>
                <a:cs typeface="Malgun Gothic"/>
              </a:rPr>
              <a:t>예비 창업자의 입지 선정 시의 어려움은 </a:t>
            </a:r>
            <a:r>
              <a:rPr lang="ko-KR" altLang="en-US" sz="1350" b="0" dirty="0" err="1">
                <a:solidFill>
                  <a:srgbClr val="101511"/>
                </a:solidFill>
                <a:latin typeface="Malgun Gothic"/>
                <a:ea typeface="Malgun Gothic"/>
                <a:cs typeface="Malgun Gothic"/>
              </a:rPr>
              <a:t>어떤게</a:t>
            </a:r>
            <a:r>
              <a:rPr lang="ko-KR" altLang="en-US" sz="1350" b="0" dirty="0">
                <a:solidFill>
                  <a:srgbClr val="101511"/>
                </a:solidFill>
                <a:latin typeface="Malgun Gothic"/>
                <a:ea typeface="Malgun Gothic"/>
                <a:cs typeface="Malgun Gothic"/>
              </a:rPr>
              <a:t> 있을까요</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연기력 </a:t>
            </a:r>
            <a:r>
              <a:rPr lang="en-US" altLang="ko-KR" sz="1350" b="0" dirty="0">
                <a:solidFill>
                  <a:srgbClr val="101511"/>
                </a:solidFill>
                <a:latin typeface="Malgun Gothic"/>
                <a:ea typeface="Malgun Gothic"/>
                <a:cs typeface="Malgun Gothic"/>
              </a:rPr>
              <a:t>!!!&gt;</a:t>
            </a:r>
          </a:p>
          <a:p>
            <a:pPr algn="l">
              <a:lnSpc>
                <a:spcPct val="120000"/>
              </a:lnSpc>
              <a:spcAft>
                <a:spcPts val="0"/>
              </a:spcAft>
            </a:pPr>
            <a:r>
              <a:rPr lang="ko-KR" altLang="en-US" sz="1350" b="0" dirty="0">
                <a:solidFill>
                  <a:srgbClr val="101511"/>
                </a:solidFill>
                <a:latin typeface="Malgun Gothic"/>
                <a:ea typeface="Malgun Gothic"/>
                <a:cs typeface="Malgun Gothic"/>
              </a:rPr>
              <a:t>어디부터 봐야 하지</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상권과 조건이 많네</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자료를 제공하는 곳은 있지만</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자료가 제공하는 숫자의 의미는 뭐지</a:t>
            </a:r>
            <a:r>
              <a:rPr lang="en-US" altLang="ko-KR" sz="1350" b="0" dirty="0">
                <a:solidFill>
                  <a:srgbClr val="101511"/>
                </a:solidFill>
                <a:latin typeface="Malgun Gothic"/>
                <a:ea typeface="Malgun Gothic"/>
                <a:cs typeface="Malgun Gothic"/>
              </a:rPr>
              <a:t>?</a:t>
            </a:r>
          </a:p>
          <a:p>
            <a:pPr algn="l">
              <a:lnSpc>
                <a:spcPct val="120000"/>
              </a:lnSpc>
              <a:spcAft>
                <a:spcPts val="0"/>
              </a:spcAft>
            </a:pPr>
            <a:r>
              <a:rPr lang="ko-KR" altLang="en-US" sz="1350" b="0" dirty="0">
                <a:solidFill>
                  <a:srgbClr val="101511"/>
                </a:solidFill>
                <a:latin typeface="Malgun Gothic"/>
                <a:ea typeface="Malgun Gothic"/>
                <a:cs typeface="Malgun Gothic"/>
              </a:rPr>
              <a:t>숫자만으로는 좋은 입지를 판단으로 연결하기가 어려워</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후보 상권들의 장단점은 무엇일까</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비교해 볼 수 있었으면 좋겠어</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입지를 결정할 근거가 있었으면 좋겠어</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err="1">
                <a:solidFill>
                  <a:srgbClr val="101511"/>
                </a:solidFill>
                <a:latin typeface="Malgun Gothic"/>
                <a:ea typeface="Malgun Gothic"/>
                <a:cs typeface="Malgun Gothic"/>
              </a:rPr>
              <a:t>스팟</a:t>
            </a:r>
            <a:r>
              <a:rPr lang="ko-KR" altLang="en-US" sz="1350" b="0" dirty="0">
                <a:solidFill>
                  <a:srgbClr val="101511"/>
                </a:solidFill>
                <a:latin typeface="Malgun Gothic"/>
                <a:ea typeface="Malgun Gothic"/>
                <a:cs typeface="Malgun Gothic"/>
              </a:rPr>
              <a:t> 레이더는 이러한 예비 창업자의 고충을 고민해 보았습니다</a:t>
            </a:r>
            <a:r>
              <a:rPr lang="en-US" altLang="ko-KR" sz="1350" b="0" dirty="0">
                <a:solidFill>
                  <a:srgbClr val="101511"/>
                </a:solidFill>
                <a:latin typeface="Malgun Gothic"/>
                <a:ea typeface="Malgun Gothic"/>
                <a:cs typeface="Malgun Gothic"/>
              </a:rPr>
              <a:t>.</a:t>
            </a:r>
          </a:p>
          <a:p>
            <a:pPr algn="l">
              <a:lnSpc>
                <a:spcPct val="120000"/>
              </a:lnSpc>
              <a:spcAft>
                <a:spcPts val="0"/>
              </a:spcAft>
            </a:pPr>
            <a:r>
              <a:rPr lang="ko-KR" altLang="en-US" sz="1350" b="0" dirty="0">
                <a:solidFill>
                  <a:srgbClr val="101511"/>
                </a:solidFill>
                <a:latin typeface="Malgun Gothic"/>
                <a:ea typeface="Malgun Gothic"/>
                <a:cs typeface="Malgun Gothic"/>
              </a:rPr>
              <a:t>또한 예비 창업자가 바라는 </a:t>
            </a:r>
            <a:r>
              <a:rPr lang="ko-KR" sz="1350" b="0" dirty="0">
                <a:solidFill>
                  <a:srgbClr val="101511"/>
                </a:solidFill>
                <a:latin typeface="Malgun Gothic"/>
                <a:ea typeface="Malgun Gothic"/>
                <a:cs typeface="Malgun Gothic"/>
              </a:rPr>
              <a:t>현장 조사 후보를 </a:t>
            </a:r>
            <a:r>
              <a:rPr lang="ko-KR" altLang="en-US" sz="1350" b="0" dirty="0">
                <a:solidFill>
                  <a:srgbClr val="101511"/>
                </a:solidFill>
                <a:latin typeface="Malgun Gothic"/>
                <a:ea typeface="Malgun Gothic"/>
                <a:cs typeface="Malgun Gothic"/>
              </a:rPr>
              <a:t>두 </a:t>
            </a:r>
            <a:r>
              <a:rPr lang="ko-KR" altLang="en-US" sz="1350" b="0" dirty="0" err="1">
                <a:solidFill>
                  <a:srgbClr val="101511"/>
                </a:solidFill>
                <a:latin typeface="Malgun Gothic"/>
                <a:ea typeface="Malgun Gothic"/>
                <a:cs typeface="Malgun Gothic"/>
              </a:rPr>
              <a:t>세</a:t>
            </a:r>
            <a:r>
              <a:rPr lang="ko-KR" sz="1350" b="0" dirty="0" err="1">
                <a:solidFill>
                  <a:srgbClr val="101511"/>
                </a:solidFill>
                <a:latin typeface="Malgun Gothic"/>
                <a:ea typeface="Malgun Gothic"/>
                <a:cs typeface="Malgun Gothic"/>
              </a:rPr>
              <a:t>곳으로</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좁혀주는 것도 함께 고려했습니다</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어떤 식으로</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좁혀줄까요</a:t>
            </a:r>
            <a:r>
              <a:rPr lang="en-US" altLang="ko-KR" sz="1350" b="0" dirty="0">
                <a:solidFill>
                  <a:srgbClr val="101511"/>
                </a:solidFill>
                <a:latin typeface="Malgun Gothic"/>
                <a:ea typeface="Malgun Gothic"/>
                <a:cs typeface="Malgun Gothic"/>
              </a:rPr>
              <a:t>????</a:t>
            </a:r>
          </a:p>
          <a:p>
            <a:pPr algn="l">
              <a:lnSpc>
                <a:spcPct val="120000"/>
              </a:lnSpc>
              <a:spcAft>
                <a:spcPts val="0"/>
              </a:spcAft>
            </a:pPr>
            <a:r>
              <a:rPr lang="ko-KR" altLang="en-US" sz="1350" b="0" dirty="0">
                <a:solidFill>
                  <a:srgbClr val="101511"/>
                </a:solidFill>
                <a:latin typeface="Malgun Gothic"/>
                <a:ea typeface="Malgun Gothic"/>
                <a:cs typeface="Malgun Gothic"/>
              </a:rPr>
              <a:t>그래서</a:t>
            </a:r>
            <a:r>
              <a:rPr lang="en-US" altLang="ko-KR" sz="1350" b="0" dirty="0">
                <a:solidFill>
                  <a:srgbClr val="101511"/>
                </a:solidFill>
                <a:latin typeface="Malgun Gothic"/>
                <a:ea typeface="Malgun Gothic"/>
                <a:cs typeface="Malgun Gothic"/>
              </a:rPr>
              <a:t>,…</a:t>
            </a:r>
            <a:r>
              <a:rPr lang="ko-KR" altLang="en-US" sz="1350" b="0" dirty="0" err="1">
                <a:solidFill>
                  <a:srgbClr val="101511"/>
                </a:solidFill>
                <a:latin typeface="Malgun Gothic"/>
                <a:ea typeface="Malgun Gothic"/>
                <a:cs typeface="Malgun Gothic"/>
              </a:rPr>
              <a:t>스팟</a:t>
            </a:r>
            <a:r>
              <a:rPr lang="ko-KR" altLang="en-US" sz="1350" b="0" dirty="0">
                <a:solidFill>
                  <a:srgbClr val="101511"/>
                </a:solidFill>
                <a:latin typeface="Malgun Gothic"/>
                <a:ea typeface="Malgun Gothic"/>
                <a:cs typeface="Malgun Gothic"/>
              </a:rPr>
              <a:t> 레이더는</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ko-KR" sz="1350" b="0" dirty="0">
                <a:solidFill>
                  <a:srgbClr val="101511"/>
                </a:solidFill>
                <a:latin typeface="Malgun Gothic"/>
                <a:ea typeface="Malgun Gothic"/>
                <a:cs typeface="Malgun Gothic"/>
              </a:rPr>
              <a:t>탐색</a:t>
            </a:r>
            <a:r>
              <a:rPr lang="ko-KR" altLang="en-US" sz="1350" b="0" dirty="0">
                <a:solidFill>
                  <a:srgbClr val="101511"/>
                </a:solidFill>
                <a:latin typeface="Malgun Gothic"/>
                <a:ea typeface="Malgun Gothic"/>
                <a:cs typeface="Malgun Gothic"/>
              </a:rPr>
              <a:t>을</a:t>
            </a:r>
            <a:r>
              <a:rPr lang="ko-KR" alt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쉽게 </a:t>
            </a:r>
            <a:r>
              <a:rPr lang="ko-KR" altLang="ko-KR" sz="1350" b="0" dirty="0">
                <a:solidFill>
                  <a:srgbClr val="101511"/>
                </a:solidFill>
                <a:latin typeface="Malgun Gothic"/>
                <a:ea typeface="Malgun Gothic"/>
                <a:cs typeface="Malgun Gothic"/>
              </a:rPr>
              <a:t>시작</a:t>
            </a:r>
            <a:r>
              <a:rPr lang="ko-KR" altLang="en-US" sz="1350" b="0" dirty="0">
                <a:solidFill>
                  <a:srgbClr val="101511"/>
                </a:solidFill>
                <a:latin typeface="Malgun Gothic"/>
                <a:ea typeface="Malgun Gothic"/>
                <a:cs typeface="Malgun Gothic"/>
              </a:rPr>
              <a:t>할 수 있게 도와주고</a:t>
            </a:r>
            <a:r>
              <a:rPr lang="ko-KR" altLang="ko-KR"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ko-KR" sz="1350" b="0" dirty="0">
                <a:solidFill>
                  <a:srgbClr val="101511"/>
                </a:solidFill>
                <a:latin typeface="Malgun Gothic"/>
                <a:ea typeface="Malgun Gothic"/>
                <a:cs typeface="Malgun Gothic"/>
              </a:rPr>
              <a:t>지표 해석</a:t>
            </a:r>
            <a:r>
              <a:rPr lang="ko-KR" altLang="en-US" sz="1350" b="0" dirty="0">
                <a:solidFill>
                  <a:srgbClr val="101511"/>
                </a:solidFill>
                <a:latin typeface="Malgun Gothic"/>
                <a:ea typeface="Malgun Gothic"/>
                <a:cs typeface="Malgun Gothic"/>
              </a:rPr>
              <a:t>을 이해하기 쉬운 말로 바꿔주며</a:t>
            </a:r>
            <a:r>
              <a:rPr lang="ko-KR" altLang="ko-KR"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ko-KR" sz="1400" b="0" dirty="0">
                <a:solidFill>
                  <a:srgbClr val="101511"/>
                </a:solidFill>
                <a:latin typeface="Malgun Gothic"/>
                <a:ea typeface="Malgun Gothic"/>
                <a:cs typeface="Malgun Gothic"/>
              </a:rPr>
              <a:t>AI 요약으로 계산된 지표의 이해</a:t>
            </a:r>
            <a:r>
              <a:rPr lang="ko-KR" altLang="en-US" sz="1400" b="0" dirty="0">
                <a:solidFill>
                  <a:srgbClr val="101511"/>
                </a:solidFill>
                <a:latin typeface="Malgun Gothic"/>
                <a:ea typeface="Malgun Gothic"/>
                <a:cs typeface="Malgun Gothic"/>
              </a:rPr>
              <a:t>를</a:t>
            </a:r>
            <a:r>
              <a:rPr lang="ko-KR" altLang="ko-KR" sz="1400" b="0" dirty="0">
                <a:solidFill>
                  <a:srgbClr val="101511"/>
                </a:solidFill>
                <a:latin typeface="Malgun Gothic"/>
                <a:ea typeface="Malgun Gothic"/>
                <a:cs typeface="Malgun Gothic"/>
              </a:rPr>
              <a:t> </a:t>
            </a:r>
            <a:r>
              <a:rPr lang="ko-KR" altLang="en-US" sz="1400" b="0" dirty="0">
                <a:solidFill>
                  <a:srgbClr val="101511"/>
                </a:solidFill>
                <a:latin typeface="Malgun Gothic"/>
                <a:ea typeface="Malgun Gothic"/>
                <a:cs typeface="Malgun Gothic"/>
              </a:rPr>
              <a:t>돕습니다</a:t>
            </a:r>
            <a:r>
              <a:rPr lang="en-US" altLang="ko-KR" sz="1400" b="0" dirty="0">
                <a:solidFill>
                  <a:srgbClr val="101511"/>
                </a:solidFill>
                <a:latin typeface="Malgun Gothic"/>
                <a:ea typeface="Malgun Gothic"/>
                <a:cs typeface="Malgun Gothic"/>
              </a:rPr>
              <a:t>.</a:t>
            </a:r>
            <a:endParaRPr lang="ko-KR" altLang="ko-KR" sz="1400" dirty="0"/>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또한 상권 </a:t>
            </a:r>
            <a:r>
              <a:rPr lang="ko-KR" altLang="ko-KR" sz="1350" b="0" dirty="0">
                <a:solidFill>
                  <a:srgbClr val="101511"/>
                </a:solidFill>
                <a:latin typeface="Malgun Gothic"/>
                <a:ea typeface="Malgun Gothic"/>
                <a:cs typeface="Malgun Gothic"/>
              </a:rPr>
              <a:t>후보 비교</a:t>
            </a:r>
            <a:r>
              <a:rPr lang="ko-KR" altLang="en-US" sz="1350" b="0" dirty="0">
                <a:solidFill>
                  <a:srgbClr val="101511"/>
                </a:solidFill>
                <a:latin typeface="Malgun Gothic"/>
                <a:ea typeface="Malgun Gothic"/>
                <a:cs typeface="Malgun Gothic"/>
              </a:rPr>
              <a:t>를 한눈에 할 수 있게 하고</a:t>
            </a:r>
            <a:r>
              <a:rPr lang="ko-KR" altLang="ko-KR"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en-US" sz="1350" b="0" dirty="0">
                <a:solidFill>
                  <a:srgbClr val="101511"/>
                </a:solidFill>
                <a:latin typeface="Malgun Gothic"/>
                <a:ea typeface="Malgun Gothic"/>
                <a:cs typeface="Malgun Gothic"/>
              </a:rPr>
              <a:t>탐색 점수라는 정량적 지표를 기준으로 입지를 추천합니다</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입지 선정의 근거를 자세한 </a:t>
            </a:r>
            <a:r>
              <a:rPr lang="ko-KR" altLang="en-US" sz="1350" b="0" dirty="0" err="1">
                <a:solidFill>
                  <a:srgbClr val="101511"/>
                </a:solidFill>
                <a:latin typeface="Malgun Gothic"/>
                <a:ea typeface="Malgun Gothic"/>
                <a:cs typeface="Malgun Gothic"/>
              </a:rPr>
              <a:t>산출식</a:t>
            </a:r>
            <a:r>
              <a:rPr lang="ko-KR" altLang="en-US" sz="1350" b="0" dirty="0">
                <a:solidFill>
                  <a:srgbClr val="101511"/>
                </a:solidFill>
                <a:latin typeface="Malgun Gothic"/>
                <a:ea typeface="Malgun Gothic"/>
                <a:cs typeface="Malgun Gothic"/>
              </a:rPr>
              <a:t> 해설을 제공하여 </a:t>
            </a:r>
            <a:r>
              <a:rPr lang="ko-KR" altLang="ko-KR" sz="1350" b="0" dirty="0">
                <a:solidFill>
                  <a:srgbClr val="101511"/>
                </a:solidFill>
                <a:latin typeface="Malgun Gothic"/>
                <a:ea typeface="Malgun Gothic"/>
                <a:cs typeface="Malgun Gothic"/>
              </a:rPr>
              <a:t>추천 근거</a:t>
            </a:r>
            <a:r>
              <a:rPr lang="ko-KR" altLang="en-US" sz="1350" b="0" dirty="0">
                <a:solidFill>
                  <a:srgbClr val="101511"/>
                </a:solidFill>
                <a:latin typeface="Malgun Gothic"/>
                <a:ea typeface="Malgun Gothic"/>
                <a:cs typeface="Malgun Gothic"/>
              </a:rPr>
              <a:t>를 제공합니다</a:t>
            </a:r>
            <a:r>
              <a:rPr lang="en-US" altLang="ko-KR" sz="1350" b="0" dirty="0">
                <a:solidFill>
                  <a:srgbClr val="101511"/>
                </a:solidFill>
                <a:latin typeface="Malgun Gothic"/>
                <a:ea typeface="Malgun Gothic"/>
                <a:cs typeface="Malgun Gothic"/>
              </a:rPr>
              <a:t>.</a:t>
            </a:r>
          </a:p>
          <a:p>
            <a:pPr algn="l">
              <a:lnSpc>
                <a:spcPct val="120000"/>
              </a:lnSpc>
              <a:spcAft>
                <a:spcPts val="0"/>
              </a:spcAft>
            </a:pPr>
            <a:r>
              <a:rPr lang="ko-KR" altLang="en-US" sz="1350" b="0" dirty="0" err="1">
                <a:solidFill>
                  <a:srgbClr val="101511"/>
                </a:solidFill>
                <a:latin typeface="Malgun Gothic"/>
                <a:ea typeface="Malgun Gothic"/>
                <a:cs typeface="Malgun Gothic"/>
              </a:rPr>
              <a:t>이와같이</a:t>
            </a:r>
            <a:r>
              <a:rPr lang="ko-KR" altLang="en-US" sz="1350" b="0" dirty="0">
                <a:solidFill>
                  <a:srgbClr val="101511"/>
                </a:solidFill>
                <a:latin typeface="Malgun Gothic"/>
                <a:ea typeface="Malgun Gothic"/>
                <a:cs typeface="Malgun Gothic"/>
              </a:rPr>
              <a:t> </a:t>
            </a:r>
            <a:r>
              <a:rPr lang="ko-KR" altLang="ko-KR" sz="1350" b="0" dirty="0">
                <a:solidFill>
                  <a:srgbClr val="101511"/>
                </a:solidFill>
                <a:latin typeface="Malgun Gothic"/>
                <a:ea typeface="Malgun Gothic"/>
                <a:cs typeface="Malgun Gothic"/>
              </a:rPr>
              <a:t>네 가지 </a:t>
            </a:r>
            <a:r>
              <a:rPr lang="ko-KR" altLang="en-US" sz="1350" b="0" dirty="0">
                <a:solidFill>
                  <a:srgbClr val="101511"/>
                </a:solidFill>
                <a:latin typeface="Malgun Gothic"/>
                <a:ea typeface="Malgun Gothic"/>
                <a:cs typeface="Malgun Gothic"/>
              </a:rPr>
              <a:t>페인 포인트를</a:t>
            </a:r>
            <a:r>
              <a:rPr lang="ko-KR" altLang="ko-KR" sz="1350" b="0" dirty="0">
                <a:solidFill>
                  <a:srgbClr val="101511"/>
                </a:solidFill>
                <a:latin typeface="Malgun Gothic"/>
                <a:ea typeface="Malgun Gothic"/>
                <a:cs typeface="Malgun Gothic"/>
              </a:rPr>
              <a:t> 줄이도록 </a:t>
            </a:r>
            <a:r>
              <a:rPr lang="ko-KR" altLang="en-US" sz="1350" b="0" dirty="0">
                <a:solidFill>
                  <a:srgbClr val="101511"/>
                </a:solidFill>
                <a:latin typeface="Malgun Gothic"/>
                <a:ea typeface="Malgun Gothic"/>
                <a:cs typeface="Malgun Gothic"/>
              </a:rPr>
              <a:t>솔루션을 마련했</a:t>
            </a:r>
            <a:r>
              <a:rPr lang="ko-KR" altLang="ko-KR" sz="1350" b="0" dirty="0">
                <a:solidFill>
                  <a:srgbClr val="101511"/>
                </a:solidFill>
                <a:latin typeface="Malgun Gothic"/>
                <a:ea typeface="Malgun Gothic"/>
                <a:cs typeface="Malgun Gothic"/>
              </a:rPr>
              <a:t>습니다. </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그렇지만 </a:t>
            </a:r>
            <a:r>
              <a:rPr lang="ko-KR" altLang="ko-KR" sz="1350" b="0" dirty="0">
                <a:solidFill>
                  <a:srgbClr val="101511"/>
                </a:solidFill>
                <a:latin typeface="Malgun Gothic"/>
                <a:ea typeface="Malgun Gothic"/>
                <a:cs typeface="Malgun Gothic"/>
              </a:rPr>
              <a:t>추천 점수는 창업 성공 확률이 아니</a:t>
            </a:r>
            <a:r>
              <a:rPr lang="ko-KR" altLang="en-US" sz="1350" b="0" dirty="0">
                <a:solidFill>
                  <a:srgbClr val="101511"/>
                </a:solidFill>
                <a:latin typeface="Malgun Gothic"/>
                <a:ea typeface="Malgun Gothic"/>
                <a:cs typeface="Malgun Gothic"/>
              </a:rPr>
              <a:t>라고 안내하고 그래서</a:t>
            </a:r>
            <a:r>
              <a:rPr lang="ko-KR" altLang="ko-KR" sz="1350" b="0" dirty="0">
                <a:solidFill>
                  <a:srgbClr val="101511"/>
                </a:solidFill>
                <a:latin typeface="Malgun Gothic"/>
                <a:ea typeface="Malgun Gothic"/>
                <a:cs typeface="Malgun Gothic"/>
              </a:rPr>
              <a:t> 임대료와 매장 상태, 주변 동선은 직접 확인</a:t>
            </a:r>
            <a:r>
              <a:rPr lang="ko-KR" altLang="en-US" sz="1350" b="0" dirty="0">
                <a:solidFill>
                  <a:srgbClr val="101511"/>
                </a:solidFill>
                <a:latin typeface="Malgun Gothic"/>
                <a:ea typeface="Malgun Gothic"/>
                <a:cs typeface="Malgun Gothic"/>
              </a:rPr>
              <a:t>하도록 유도하기로 하였습니다</a:t>
            </a:r>
            <a:r>
              <a:rPr lang="en-US" altLang="ko-KR" sz="1350" b="0" dirty="0">
                <a:solidFill>
                  <a:srgbClr val="101511"/>
                </a:solidFill>
                <a:latin typeface="Malgun Gothic"/>
                <a:ea typeface="Malgun Gothic"/>
                <a:cs typeface="Malgun Gothic"/>
              </a:rPr>
              <a: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ko-KR" sz="1350" dirty="0"/>
          </a:p>
          <a:p>
            <a:pPr algn="l">
              <a:lnSpc>
                <a:spcPct val="120000"/>
              </a:lnSpc>
              <a:spcAft>
                <a:spcPts val="0"/>
              </a:spcAft>
            </a:pPr>
            <a:endParaRPr lang="en-US" altLang="ko-KR" sz="1350" dirty="0"/>
          </a:p>
        </p:txBody>
      </p:sp>
    </p:spTree>
    <p:extLst>
      <p:ext uri="{BB962C8B-B14F-4D97-AF65-F5344CB8AC3E}">
        <p14:creationId xmlns:p14="http://schemas.microsoft.com/office/powerpoint/2010/main" val="2345491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18000"/>
              </a:lnSpc>
              <a:spcAft>
                <a:spcPts val="0"/>
              </a:spcAft>
            </a:pPr>
            <a:r>
              <a:rPr lang="ko-KR" sz="1200" dirty="0"/>
              <a:t>[발표]</a:t>
            </a:r>
          </a:p>
          <a:p>
            <a:pPr algn="l">
              <a:lnSpc>
                <a:spcPct val="118000"/>
              </a:lnSpc>
              <a:spcAft>
                <a:spcPts val="0"/>
              </a:spcAft>
            </a:pPr>
            <a:r>
              <a:rPr lang="ko-KR" sz="1200" dirty="0"/>
              <a:t>지난 발표 이후에 </a:t>
            </a:r>
            <a:r>
              <a:rPr lang="ko-KR" altLang="en-US" sz="1200" dirty="0"/>
              <a:t>주요 업데이트 내용을</a:t>
            </a:r>
            <a:r>
              <a:rPr lang="ko-KR" sz="1200" dirty="0"/>
              <a:t> 소개하겠습니다.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 먼저 </a:t>
            </a:r>
            <a:r>
              <a:rPr lang="ko-KR" altLang="en-US" sz="1350" b="0" dirty="0">
                <a:solidFill>
                  <a:srgbClr val="101511"/>
                </a:solidFill>
                <a:latin typeface="Malgun Gothic"/>
                <a:ea typeface="Malgun Gothic"/>
                <a:cs typeface="Malgun Gothic"/>
              </a:rPr>
              <a:t>탐색</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및</a:t>
            </a:r>
            <a:r>
              <a:rPr lang="ko-KR" sz="1350" b="0" dirty="0">
                <a:solidFill>
                  <a:srgbClr val="101511"/>
                </a:solidFill>
                <a:latin typeface="Malgun Gothic"/>
                <a:ea typeface="Malgun Gothic"/>
                <a:cs typeface="Malgun Gothic"/>
              </a:rPr>
              <a:t> 비교</a:t>
            </a:r>
            <a:r>
              <a:rPr lang="ko-KR" altLang="en-US" sz="1350" b="0" dirty="0">
                <a:solidFill>
                  <a:srgbClr val="101511"/>
                </a:solidFill>
                <a:latin typeface="Malgun Gothic"/>
                <a:ea typeface="Malgun Gothic"/>
                <a:cs typeface="Malgun Gothic"/>
              </a:rPr>
              <a:t> 화면에서의 개선 내용 입니다</a:t>
            </a:r>
            <a:r>
              <a:rPr lang="en-US" altLang="ko-KR" sz="1350" b="0" dirty="0">
                <a:solidFill>
                  <a:srgbClr val="101511"/>
                </a:solidFill>
                <a:latin typeface="Malgun Gothic"/>
                <a:ea typeface="Malgun Gothic"/>
                <a:cs typeface="Malgun Gothic"/>
              </a:rPr>
              <a:t>.</a:t>
            </a:r>
          </a:p>
          <a:p>
            <a:pPr algn="l">
              <a:lnSpc>
                <a:spcPct val="120000"/>
              </a:lnSpc>
              <a:spcAft>
                <a:spcPts val="0"/>
              </a:spcAft>
            </a:pPr>
            <a:r>
              <a:rPr lang="ko-KR" altLang="en-US" sz="1350" b="0" dirty="0">
                <a:solidFill>
                  <a:srgbClr val="101511"/>
                </a:solidFill>
                <a:latin typeface="Malgun Gothic"/>
                <a:ea typeface="Malgun Gothic"/>
              </a:rPr>
              <a:t> 지난 발표 피드백을 반영한 중요한 내용만 언급하겠습니다</a:t>
            </a:r>
            <a:r>
              <a:rPr lang="en-US" altLang="ko-KR" sz="1350" b="0" dirty="0">
                <a:solidFill>
                  <a:srgbClr val="101511"/>
                </a:solidFill>
                <a:latin typeface="Malgun Gothic"/>
                <a:ea typeface="Malgun Gothic"/>
              </a:rPr>
              <a:t>.</a:t>
            </a:r>
            <a:endParaRPr lang="ko-KR" dirty="0"/>
          </a:p>
          <a:p>
            <a:pPr algn="l">
              <a:lnSpc>
                <a:spcPct val="120000"/>
              </a:lnSpc>
              <a:spcAft>
                <a:spcPts val="0"/>
              </a:spcAft>
            </a:pP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사용법 화면을 만들었습니다</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생략 가능 </a:t>
            </a:r>
            <a:r>
              <a:rPr lang="en-US" altLang="ko-KR" sz="1350" b="0" dirty="0">
                <a:solidFill>
                  <a:srgbClr val="101511"/>
                </a:solidFill>
                <a:latin typeface="Malgun Gothic"/>
                <a:ea typeface="Malgun Gothic"/>
                <a:cs typeface="Malgun Gothic"/>
              </a:rPr>
              <a:t>-&gt;)</a:t>
            </a:r>
            <a:r>
              <a:rPr lang="ko-KR" altLang="en-US" sz="1350" b="0" dirty="0">
                <a:solidFill>
                  <a:srgbClr val="101511"/>
                </a:solidFill>
                <a:latin typeface="Malgun Gothic"/>
                <a:ea typeface="Malgun Gothic"/>
                <a:cs typeface="Malgun Gothic"/>
              </a:rPr>
              <a:t>탐색</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상세</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비교 </a:t>
            </a:r>
            <a:r>
              <a:rPr lang="ko-KR" altLang="en-US" sz="1350" b="0" dirty="0" err="1">
                <a:solidFill>
                  <a:srgbClr val="101511"/>
                </a:solidFill>
                <a:latin typeface="Malgun Gothic"/>
                <a:ea typeface="Malgun Gothic"/>
                <a:cs typeface="Malgun Gothic"/>
              </a:rPr>
              <a:t>화면별</a:t>
            </a:r>
            <a:r>
              <a:rPr lang="ko-KR" altLang="en-US" sz="1350" b="0" dirty="0">
                <a:solidFill>
                  <a:srgbClr val="101511"/>
                </a:solidFill>
                <a:latin typeface="Malgun Gothic"/>
                <a:ea typeface="Malgun Gothic"/>
                <a:cs typeface="Malgun Gothic"/>
              </a:rPr>
              <a:t> 탭으로 구분하여 </a:t>
            </a:r>
            <a:r>
              <a:rPr lang="en-US" altLang="ko-KR" sz="1350" b="0" dirty="0">
                <a:solidFill>
                  <a:srgbClr val="101511"/>
                </a:solidFill>
                <a:latin typeface="Malgun Gothic"/>
                <a:ea typeface="Malgun Gothic"/>
                <a:cs typeface="Malgun Gothic"/>
              </a:rPr>
              <a:t>Q/A </a:t>
            </a:r>
            <a:r>
              <a:rPr lang="ko-KR" altLang="en-US" sz="1350" b="0" dirty="0">
                <a:solidFill>
                  <a:srgbClr val="101511"/>
                </a:solidFill>
                <a:latin typeface="Malgun Gothic"/>
                <a:ea typeface="Malgun Gothic"/>
                <a:cs typeface="Malgun Gothic"/>
              </a:rPr>
              <a:t>방식으로 만들어 우측 상단 </a:t>
            </a:r>
            <a:r>
              <a:rPr lang="ko-KR" altLang="en-US" sz="1350" b="0" dirty="0" err="1">
                <a:solidFill>
                  <a:srgbClr val="101511"/>
                </a:solidFill>
                <a:latin typeface="Malgun Gothic"/>
                <a:ea typeface="Malgun Gothic"/>
                <a:cs typeface="Malgun Gothic"/>
              </a:rPr>
              <a:t>헬프</a:t>
            </a:r>
            <a:r>
              <a:rPr lang="ko-KR" altLang="en-US" sz="1350" b="0" dirty="0">
                <a:solidFill>
                  <a:srgbClr val="101511"/>
                </a:solidFill>
                <a:latin typeface="Malgun Gothic"/>
                <a:ea typeface="Malgun Gothic"/>
                <a:cs typeface="Malgun Gothic"/>
              </a:rPr>
              <a:t> 아이콘을 통해 열리도록 추가하였습니다</a:t>
            </a:r>
            <a:r>
              <a:rPr lang="en-US" altLang="ko-KR" sz="1350" b="0" dirty="0">
                <a:solidFill>
                  <a:srgbClr val="101511"/>
                </a:solidFill>
                <a:latin typeface="Malgun Gothic"/>
                <a:ea typeface="Malgun Gothic"/>
                <a:cs typeface="Malgun Gothic"/>
              </a:rPr>
              <a:t>.</a:t>
            </a: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ko-KR" sz="1100" b="0" dirty="0">
                <a:solidFill>
                  <a:srgbClr val="101511"/>
                </a:solidFill>
                <a:latin typeface="Malgun Gothic"/>
                <a:ea typeface="Malgun Gothic"/>
                <a:cs typeface="Malgun Gothic"/>
              </a:rPr>
              <a:t>산출 </a:t>
            </a:r>
            <a:r>
              <a:rPr lang="ko-KR" altLang="ko-KR" sz="1100" b="0" dirty="0" err="1">
                <a:solidFill>
                  <a:srgbClr val="101511"/>
                </a:solidFill>
                <a:latin typeface="Malgun Gothic"/>
                <a:ea typeface="Malgun Gothic"/>
                <a:cs typeface="Malgun Gothic"/>
              </a:rPr>
              <a:t>로직</a:t>
            </a:r>
            <a:r>
              <a:rPr lang="ko-KR" altLang="en-US" sz="1100" b="0" dirty="0" err="1">
                <a:solidFill>
                  <a:srgbClr val="101511"/>
                </a:solidFill>
                <a:latin typeface="Malgun Gothic"/>
                <a:ea typeface="Malgun Gothic"/>
                <a:cs typeface="Malgun Gothic"/>
              </a:rPr>
              <a:t>의</a:t>
            </a:r>
            <a:r>
              <a:rPr lang="ko-KR" altLang="en-US" sz="1100" b="0" dirty="0">
                <a:solidFill>
                  <a:srgbClr val="101511"/>
                </a:solidFill>
                <a:latin typeface="Malgun Gothic"/>
                <a:ea typeface="Malgun Gothic"/>
                <a:cs typeface="Malgun Gothic"/>
              </a:rPr>
              <a:t> 자세한 설명 화면을 추가 하였습니다</a:t>
            </a:r>
            <a:r>
              <a:rPr lang="en-US" altLang="ko-KR" sz="1100" b="0" dirty="0">
                <a:solidFill>
                  <a:srgbClr val="101511"/>
                </a:solidFill>
                <a:latin typeface="Malgun Gothic"/>
                <a:ea typeface="Malgun Gothic"/>
                <a:cs typeface="Malgun Gothic"/>
              </a:rPr>
              <a:t>.</a:t>
            </a:r>
            <a:r>
              <a:rPr lang="ko-KR" altLang="ko-KR" sz="1100" b="0" dirty="0">
                <a:solidFill>
                  <a:srgbClr val="101511"/>
                </a:solidFill>
                <a:latin typeface="Malgun Gothic"/>
                <a:ea typeface="Malgun Gothic"/>
                <a:cs typeface="Malgun Gothic"/>
              </a:rPr>
              <a:t> </a:t>
            </a:r>
            <a:endParaRPr lang="en-US" altLang="ko-KR" sz="110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endParaRPr lang="en-US" altLang="ko-KR" sz="1100" b="0"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화면 보며 설명 가능</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 이미 설명했으면 생략</a:t>
            </a:r>
            <a:r>
              <a:rPr lang="en-US" altLang="ko-KR" sz="1100" b="0" dirty="0">
                <a:solidFill>
                  <a:srgbClr val="101511"/>
                </a:solidFill>
                <a:latin typeface="Malgun Gothic"/>
                <a:ea typeface="Malgun Gothic"/>
                <a:cs typeface="Malgun Gothic"/>
              </a:rPr>
              <a:t>)</a:t>
            </a:r>
            <a:r>
              <a:rPr lang="ko-KR" altLang="ko-KR" sz="1100" b="0" dirty="0">
                <a:solidFill>
                  <a:srgbClr val="101511"/>
                </a:solidFill>
                <a:latin typeface="Malgun Gothic"/>
                <a:ea typeface="Malgun Gothic"/>
                <a:cs typeface="Malgun Gothic"/>
              </a:rPr>
              <a:t> 안내 화면을</a:t>
            </a:r>
            <a:r>
              <a:rPr lang="ko-KR" altLang="en-US" sz="1100" b="0" dirty="0">
                <a:solidFill>
                  <a:srgbClr val="101511"/>
                </a:solidFill>
                <a:latin typeface="Malgun Gothic"/>
                <a:ea typeface="Malgun Gothic"/>
                <a:cs typeface="Malgun Gothic"/>
              </a:rPr>
              <a:t> 좀더 자세히 </a:t>
            </a:r>
            <a:r>
              <a:rPr lang="ko-KR" altLang="ko-KR" sz="1100" b="0" dirty="0">
                <a:solidFill>
                  <a:srgbClr val="101511"/>
                </a:solidFill>
                <a:latin typeface="Malgun Gothic"/>
                <a:ea typeface="Malgun Gothic"/>
                <a:cs typeface="Malgun Gothic"/>
              </a:rPr>
              <a:t>소개하겠습니다.</a:t>
            </a:r>
            <a:endParaRPr lang="ko-KR" altLang="ko-KR" dirty="0"/>
          </a:p>
          <a:p>
            <a:pPr algn="l">
              <a:lnSpc>
                <a:spcPct val="120000"/>
              </a:lnSpc>
              <a:spcAft>
                <a:spcPts val="0"/>
              </a:spcAft>
            </a:pPr>
            <a:endParaRPr lang="en-US" altLang="ko-KR" dirty="0"/>
          </a:p>
          <a:p>
            <a:pPr algn="l">
              <a:lnSpc>
                <a:spcPct val="120000"/>
              </a:lnSpc>
              <a:spcAft>
                <a:spcPts val="0"/>
              </a:spcAft>
            </a:pPr>
            <a:r>
              <a:rPr lang="en-US" altLang="ko-KR" dirty="0"/>
              <a:t>&lt;</a:t>
            </a:r>
            <a:r>
              <a:rPr lang="ko-KR" altLang="en-US" dirty="0"/>
              <a:t>나머지는 표 직접 보며 진행</a:t>
            </a:r>
            <a:r>
              <a:rPr lang="en-US" altLang="ko-KR" dirty="0"/>
              <a:t>&gt;</a:t>
            </a:r>
          </a:p>
          <a:p>
            <a:pPr algn="l">
              <a:lnSpc>
                <a:spcPct val="120000"/>
              </a:lnSpc>
              <a:spcAft>
                <a:spcPts val="0"/>
              </a:spcAft>
            </a:pPr>
            <a:endParaRPr lang="en-US" altLang="ko-KR" dirty="0"/>
          </a:p>
          <a:p>
            <a:pPr algn="l">
              <a:lnSpc>
                <a:spcPct val="120000"/>
              </a:lnSpc>
              <a:spcAft>
                <a:spcPts val="0"/>
              </a:spcAft>
            </a:pPr>
            <a:r>
              <a:rPr lang="en-US" altLang="ko-KR" dirty="0"/>
              <a:t>&lt;</a:t>
            </a:r>
            <a:r>
              <a:rPr lang="ko-KR" altLang="en-US" dirty="0"/>
              <a:t>이하 생략</a:t>
            </a:r>
            <a:r>
              <a:rPr lang="en-US" altLang="ko-KR" dirty="0"/>
              <a:t>&gt;</a:t>
            </a:r>
            <a:endParaRPr lang="ko-KR" dirty="0"/>
          </a:p>
          <a:p>
            <a:pPr algn="l">
              <a:lnSpc>
                <a:spcPct val="120000"/>
              </a:lnSpc>
              <a:spcAft>
                <a:spcPts val="0"/>
              </a:spcAft>
            </a:pPr>
            <a:endParaRPr lang="en-US" altLang="ko-KR" dirty="0"/>
          </a:p>
          <a:p>
            <a:pPr algn="l">
              <a:lnSpc>
                <a:spcPct val="120000"/>
              </a:lnSpc>
              <a:spcAft>
                <a:spcPts val="0"/>
              </a:spcAft>
            </a:pPr>
            <a:endParaRPr lang="ko-K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상세 화면에서의 </a:t>
            </a:r>
            <a:r>
              <a:rPr lang="ko-KR" sz="1350" b="0" dirty="0">
                <a:solidFill>
                  <a:srgbClr val="101511"/>
                </a:solidFill>
                <a:latin typeface="Malgun Gothic"/>
                <a:ea typeface="Malgun Gothic"/>
                <a:cs typeface="Malgun Gothic"/>
              </a:rPr>
              <a:t>개선입니다. </a:t>
            </a:r>
            <a:r>
              <a:rPr lang="ko-KR" sz="1350" b="1" dirty="0">
                <a:solidFill>
                  <a:srgbClr val="101511"/>
                </a:solidFill>
                <a:latin typeface="Malgun Gothic"/>
                <a:ea typeface="Malgun Gothic"/>
                <a:cs typeface="Malgun Gothic"/>
              </a:rPr>
              <a:t>경쟁 여건</a:t>
            </a:r>
            <a:r>
              <a:rPr lang="ko-KR" altLang="en-US" sz="1350" b="1" dirty="0">
                <a:solidFill>
                  <a:srgbClr val="101511"/>
                </a:solidFill>
                <a:latin typeface="Malgun Gothic"/>
                <a:ea typeface="Malgun Gothic"/>
                <a:cs typeface="Malgun Gothic"/>
              </a:rPr>
              <a:t> 점수는</a:t>
            </a:r>
            <a:r>
              <a:rPr lang="ko-KR" sz="1350" b="1" dirty="0">
                <a:solidFill>
                  <a:srgbClr val="101511"/>
                </a:solidFill>
                <a:latin typeface="Malgun Gothic"/>
                <a:ea typeface="Malgun Gothic"/>
                <a:cs typeface="Malgun Gothic"/>
              </a:rPr>
              <a:t> 좋음, 보통, 나쁨으로 바꿔 </a:t>
            </a:r>
            <a:r>
              <a:rPr lang="ko-KR" altLang="en-US" sz="1350" b="1" dirty="0">
                <a:solidFill>
                  <a:srgbClr val="101511"/>
                </a:solidFill>
                <a:latin typeface="Malgun Gothic"/>
                <a:ea typeface="Malgun Gothic"/>
                <a:cs typeface="Malgun Gothic"/>
              </a:rPr>
              <a:t>경쟁 점수의 의미를 </a:t>
            </a:r>
            <a:r>
              <a:rPr lang="ko-KR" sz="1350" b="1" dirty="0">
                <a:solidFill>
                  <a:srgbClr val="101511"/>
                </a:solidFill>
                <a:latin typeface="Malgun Gothic"/>
                <a:ea typeface="Malgun Gothic"/>
                <a:cs typeface="Malgun Gothic"/>
              </a:rPr>
              <a:t>이해하기 쉽게 했습니다</a:t>
            </a:r>
            <a:r>
              <a:rPr lang="ko-KR" sz="1350" b="0" dirty="0">
                <a:solidFill>
                  <a:srgbClr val="101511"/>
                </a:solidFill>
                <a:latin typeface="Malgun Gothic"/>
                <a:ea typeface="Malgun Gothic"/>
                <a:cs typeface="Malgun Gothic"/>
              </a:rPr>
              <a:t>.</a:t>
            </a:r>
            <a:r>
              <a:rPr lang="en-US" altLang="ko-KR" sz="1350" b="0" dirty="0">
                <a:solidFill>
                  <a:srgbClr val="101511"/>
                </a:solidFill>
                <a:latin typeface="Malgun Gothic"/>
                <a:ea typeface="Malgun Gothic"/>
                <a:cs typeface="Malgun Gothic"/>
              </a:rPr>
              <a:t>(</a:t>
            </a:r>
            <a:r>
              <a:rPr lang="ko-KR" altLang="en-US" sz="1350" b="1" dirty="0">
                <a:solidFill>
                  <a:srgbClr val="101511"/>
                </a:solidFill>
                <a:latin typeface="Malgun Gothic"/>
                <a:ea typeface="Malgun Gothic"/>
                <a:cs typeface="Malgun Gothic"/>
              </a:rPr>
              <a:t>기존</a:t>
            </a:r>
            <a:r>
              <a:rPr lang="en-US" altLang="ko-KR" sz="1350" b="1" dirty="0">
                <a:solidFill>
                  <a:srgbClr val="101511"/>
                </a:solidFill>
                <a:latin typeface="Malgun Gothic"/>
                <a:ea typeface="Malgun Gothic"/>
                <a:cs typeface="Malgun Gothic"/>
              </a:rPr>
              <a:t>:</a:t>
            </a:r>
            <a:r>
              <a:rPr lang="ko-KR" altLang="en-US" sz="1350" b="1" dirty="0">
                <a:solidFill>
                  <a:srgbClr val="101511"/>
                </a:solidFill>
                <a:latin typeface="Malgun Gothic"/>
                <a:ea typeface="Malgun Gothic"/>
                <a:cs typeface="Malgun Gothic"/>
              </a:rPr>
              <a:t> 강함 중간 약함</a:t>
            </a:r>
            <a:r>
              <a:rPr lang="en-US" alt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a:p>
            <a:pPr algn="l">
              <a:lnSpc>
                <a:spcPct val="120000"/>
              </a:lnSpc>
              <a:spcAft>
                <a:spcPts val="0"/>
              </a:spcAft>
            </a:pP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생략</a:t>
            </a:r>
            <a:r>
              <a:rPr lang="en-US" altLang="ko-KR" sz="1350" b="0" dirty="0">
                <a:solidFill>
                  <a:srgbClr val="101511"/>
                </a:solidFill>
                <a:latin typeface="Malgun Gothic"/>
                <a:ea typeface="Malgun Gothic"/>
                <a:cs typeface="Malgun Gothic"/>
              </a:rPr>
              <a:t>)</a:t>
            </a:r>
            <a:r>
              <a:rPr lang="ko-KR" sz="1350" b="0" dirty="0">
                <a:solidFill>
                  <a:srgbClr val="101511"/>
                </a:solidFill>
                <a:latin typeface="Malgun Gothic"/>
                <a:ea typeface="Malgun Gothic"/>
                <a:cs typeface="Malgun Gothic"/>
              </a:rPr>
              <a:t>순위 차트는 </a:t>
            </a:r>
            <a:r>
              <a:rPr lang="ko-KR" sz="1350" b="0" dirty="0" err="1">
                <a:solidFill>
                  <a:srgbClr val="101511"/>
                </a:solidFill>
                <a:latin typeface="Malgun Gothic"/>
                <a:ea typeface="Malgun Gothic"/>
                <a:cs typeface="Malgun Gothic"/>
              </a:rPr>
              <a:t>탭</a:t>
            </a:r>
            <a:r>
              <a:rPr lang="ko-KR" altLang="en-US" sz="1350" b="0" dirty="0" err="1">
                <a:solidFill>
                  <a:srgbClr val="101511"/>
                </a:solidFill>
                <a:latin typeface="Malgun Gothic"/>
                <a:ea typeface="Malgun Gothic"/>
                <a:cs typeface="Malgun Gothic"/>
              </a:rPr>
              <a:t>별</a:t>
            </a:r>
            <a:r>
              <a:rPr lang="ko-KR" altLang="en-US" sz="1350" b="0" dirty="0">
                <a:solidFill>
                  <a:srgbClr val="101511"/>
                </a:solidFill>
                <a:latin typeface="Malgun Gothic"/>
                <a:ea typeface="Malgun Gothic"/>
                <a:cs typeface="Malgun Gothic"/>
              </a:rPr>
              <a:t> 백분위 수치를 적용했고</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요일</a:t>
            </a:r>
            <a:r>
              <a:rPr lang="ko-KR" altLang="en-US" sz="1350" b="0" dirty="0" err="1">
                <a:solidFill>
                  <a:srgbClr val="101511"/>
                </a:solidFill>
                <a:latin typeface="Malgun Gothic"/>
                <a:ea typeface="Malgun Gothic"/>
                <a:cs typeface="Malgun Gothic"/>
              </a:rPr>
              <a:t>별</a:t>
            </a:r>
            <a:r>
              <a:rPr lang="ko-KR" altLang="en-US" sz="1350" b="0" dirty="0">
                <a:solidFill>
                  <a:srgbClr val="101511"/>
                </a:solidFill>
                <a:latin typeface="Malgun Gothic"/>
                <a:ea typeface="Malgun Gothic"/>
                <a:cs typeface="Malgun Gothic"/>
              </a:rPr>
              <a:t> 매출 차트에는</a:t>
            </a:r>
            <a:r>
              <a:rPr lang="ko-KR" sz="1350" b="0" dirty="0">
                <a:solidFill>
                  <a:srgbClr val="101511"/>
                </a:solidFill>
                <a:latin typeface="Malgun Gothic"/>
                <a:ea typeface="Malgun Gothic"/>
                <a:cs typeface="Malgun Gothic"/>
              </a:rPr>
              <a:t> 평균선</a:t>
            </a:r>
            <a:r>
              <a:rPr lang="ko-KR" altLang="en-US" sz="1350" b="0" dirty="0">
                <a:solidFill>
                  <a:srgbClr val="101511"/>
                </a:solidFill>
                <a:latin typeface="Malgun Gothic"/>
                <a:ea typeface="Malgun Gothic"/>
                <a:cs typeface="Malgun Gothic"/>
              </a:rPr>
              <a:t>을 추가하였습니다</a:t>
            </a:r>
            <a:r>
              <a:rPr lang="en-US" altLang="ko-KR" sz="1350" b="0" dirty="0">
                <a:solidFill>
                  <a:srgbClr val="101511"/>
                </a:solidFill>
                <a:latin typeface="Malgun Gothic"/>
                <a:ea typeface="Malgun Gothic"/>
                <a:cs typeface="Malgun Gothic"/>
              </a:rPr>
              <a:t>.</a:t>
            </a:r>
            <a:r>
              <a:rPr lang="ko-KR" sz="1350" b="0" dirty="0">
                <a:solidFill>
                  <a:srgbClr val="101511"/>
                </a:solidFill>
                <a:latin typeface="Malgun Gothic"/>
                <a:ea typeface="Malgun Gothic"/>
                <a:cs typeface="Malgun Gothic"/>
              </a:rPr>
              <a:t>. </a:t>
            </a:r>
            <a:endParaRPr lang="ko-KR" dirty="0"/>
          </a:p>
          <a:p>
            <a:pPr algn="l">
              <a:lnSpc>
                <a:spcPct val="120000"/>
              </a:lnSpc>
              <a:spcAft>
                <a:spcPts val="0"/>
              </a:spcAft>
            </a:pPr>
            <a:endParaRPr lang="ko-KR" dirty="0"/>
          </a:p>
          <a:p>
            <a:pPr algn="l">
              <a:lnSpc>
                <a:spcPct val="120000"/>
              </a:lnSpc>
              <a:spcAft>
                <a:spcPts val="0"/>
              </a:spcAft>
            </a:pPr>
            <a:r>
              <a:rPr lang="ko-KR" sz="1350" b="1" dirty="0">
                <a:solidFill>
                  <a:srgbClr val="101511"/>
                </a:solidFill>
                <a:latin typeface="Malgun Gothic"/>
                <a:ea typeface="Malgun Gothic"/>
                <a:cs typeface="Malgun Gothic"/>
              </a:rPr>
              <a:t>AI</a:t>
            </a:r>
            <a:r>
              <a:rPr lang="ko-KR" altLang="en-US" sz="1350" b="1" dirty="0">
                <a:solidFill>
                  <a:srgbClr val="101511"/>
                </a:solidFill>
                <a:latin typeface="Malgun Gothic"/>
                <a:ea typeface="Malgun Gothic"/>
                <a:cs typeface="Malgun Gothic"/>
              </a:rPr>
              <a:t> </a:t>
            </a:r>
            <a:r>
              <a:rPr lang="ko-KR" altLang="en-US" sz="1350" b="1" dirty="0" err="1">
                <a:solidFill>
                  <a:srgbClr val="101511"/>
                </a:solidFill>
                <a:latin typeface="Malgun Gothic"/>
                <a:ea typeface="Malgun Gothic"/>
                <a:cs typeface="Malgun Gothic"/>
              </a:rPr>
              <a:t>인사이트</a:t>
            </a:r>
            <a:r>
              <a:rPr lang="ko-KR" sz="1350" b="1" dirty="0" err="1">
                <a:solidFill>
                  <a:srgbClr val="101511"/>
                </a:solidFill>
                <a:latin typeface="Malgun Gothic"/>
                <a:ea typeface="Malgun Gothic"/>
                <a:cs typeface="Malgun Gothic"/>
              </a:rPr>
              <a:t>는</a:t>
            </a:r>
            <a:r>
              <a:rPr lang="ko-KR" sz="1350" b="1" dirty="0">
                <a:solidFill>
                  <a:srgbClr val="101511"/>
                </a:solidFill>
                <a:latin typeface="Malgun Gothic"/>
                <a:ea typeface="Malgun Gothic"/>
                <a:cs typeface="Malgun Gothic"/>
              </a:rPr>
              <a:t> 매출과 거래, 점포 변화 사이</a:t>
            </a:r>
            <a:r>
              <a:rPr lang="ko-KR" altLang="en-US" sz="1350" b="1" dirty="0">
                <a:solidFill>
                  <a:srgbClr val="101511"/>
                </a:solidFill>
                <a:latin typeface="Malgun Gothic"/>
                <a:ea typeface="Malgun Gothic"/>
                <a:cs typeface="Malgun Gothic"/>
              </a:rPr>
              <a:t>의</a:t>
            </a:r>
            <a:r>
              <a:rPr lang="ko-KR" sz="1350" b="1" dirty="0">
                <a:solidFill>
                  <a:srgbClr val="101511"/>
                </a:solidFill>
                <a:latin typeface="Malgun Gothic"/>
                <a:ea typeface="Malgun Gothic"/>
                <a:cs typeface="Malgun Gothic"/>
              </a:rPr>
              <a:t> 의미 있는 관계를 </a:t>
            </a:r>
            <a:r>
              <a:rPr lang="ko-KR" sz="1350" b="1" dirty="0" err="1">
                <a:solidFill>
                  <a:srgbClr val="101511"/>
                </a:solidFill>
                <a:latin typeface="Malgun Gothic"/>
                <a:ea typeface="Malgun Gothic"/>
                <a:cs typeface="Malgun Gothic"/>
              </a:rPr>
              <a:t>설명</a:t>
            </a:r>
            <a:r>
              <a:rPr lang="ko-KR" altLang="en-US" sz="1350" b="1" dirty="0" err="1">
                <a:solidFill>
                  <a:srgbClr val="101511"/>
                </a:solidFill>
                <a:latin typeface="Malgun Gothic"/>
                <a:ea typeface="Malgun Gothic"/>
                <a:cs typeface="Malgun Gothic"/>
              </a:rPr>
              <a:t>하도로</a:t>
            </a:r>
            <a:r>
              <a:rPr lang="ko-KR" altLang="en-US" sz="1350" b="1" dirty="0">
                <a:solidFill>
                  <a:srgbClr val="101511"/>
                </a:solidFill>
                <a:latin typeface="Malgun Gothic"/>
                <a:ea typeface="Malgun Gothic"/>
                <a:cs typeface="Malgun Gothic"/>
              </a:rPr>
              <a:t> 하여 좀더 깊은 </a:t>
            </a:r>
            <a:r>
              <a:rPr lang="ko-KR" altLang="en-US" sz="1350" b="1" dirty="0" err="1">
                <a:solidFill>
                  <a:srgbClr val="101511"/>
                </a:solidFill>
                <a:latin typeface="Malgun Gothic"/>
                <a:ea typeface="Malgun Gothic"/>
                <a:cs typeface="Malgun Gothic"/>
              </a:rPr>
              <a:t>인사이트를</a:t>
            </a:r>
            <a:r>
              <a:rPr lang="ko-KR" altLang="en-US" sz="1350" b="1" dirty="0">
                <a:solidFill>
                  <a:srgbClr val="101511"/>
                </a:solidFill>
                <a:latin typeface="Malgun Gothic"/>
                <a:ea typeface="Malgun Gothic"/>
                <a:cs typeface="Malgun Gothic"/>
              </a:rPr>
              <a:t> </a:t>
            </a:r>
            <a:r>
              <a:rPr lang="ko-KR" sz="1350" b="1" dirty="0">
                <a:solidFill>
                  <a:srgbClr val="101511"/>
                </a:solidFill>
                <a:latin typeface="Malgun Gothic"/>
                <a:ea typeface="Malgun Gothic"/>
                <a:cs typeface="Malgun Gothic"/>
              </a:rPr>
              <a:t>하도록</a:t>
            </a:r>
            <a:r>
              <a:rPr lang="ko-KR" altLang="en-US" sz="1350" b="1" dirty="0">
                <a:solidFill>
                  <a:srgbClr val="101511"/>
                </a:solidFill>
                <a:latin typeface="Malgun Gothic"/>
                <a:ea typeface="Malgun Gothic"/>
                <a:cs typeface="Malgun Gothic"/>
              </a:rPr>
              <a:t> 프롬프트를 수정</a:t>
            </a:r>
            <a:r>
              <a:rPr lang="ko-KR" sz="1350" b="1" dirty="0">
                <a:solidFill>
                  <a:srgbClr val="101511"/>
                </a:solidFill>
                <a:latin typeface="Malgun Gothic"/>
                <a:ea typeface="Malgun Gothic"/>
                <a:cs typeface="Malgun Gothic"/>
              </a:rPr>
              <a:t> 했습니다. 숫자의 단위</a:t>
            </a:r>
            <a:r>
              <a:rPr lang="en-US" altLang="ko-KR" sz="1350" b="1" dirty="0">
                <a:solidFill>
                  <a:srgbClr val="101511"/>
                </a:solidFill>
                <a:latin typeface="Malgun Gothic"/>
                <a:ea typeface="Malgun Gothic"/>
                <a:cs typeface="Malgun Gothic"/>
              </a:rPr>
              <a:t>/</a:t>
            </a:r>
            <a:r>
              <a:rPr lang="ko-KR" altLang="en-US" sz="1350" b="1" dirty="0">
                <a:solidFill>
                  <a:srgbClr val="101511"/>
                </a:solidFill>
                <a:latin typeface="Malgun Gothic"/>
                <a:ea typeface="Malgun Gothic"/>
                <a:cs typeface="Malgun Gothic"/>
              </a:rPr>
              <a:t>등급</a:t>
            </a:r>
            <a:r>
              <a:rPr lang="ko-KR" sz="1350" b="1" dirty="0">
                <a:solidFill>
                  <a:srgbClr val="101511"/>
                </a:solidFill>
                <a:latin typeface="Malgun Gothic"/>
                <a:ea typeface="Malgun Gothic"/>
                <a:cs typeface="Malgun Gothic"/>
              </a:rPr>
              <a:t> </a:t>
            </a:r>
            <a:r>
              <a:rPr lang="ko-KR" altLang="en-US" sz="1350" b="1" dirty="0">
                <a:solidFill>
                  <a:srgbClr val="101511"/>
                </a:solidFill>
                <a:latin typeface="Malgun Gothic"/>
                <a:ea typeface="Malgun Gothic"/>
                <a:cs typeface="Malgun Gothic"/>
              </a:rPr>
              <a:t>오류</a:t>
            </a:r>
            <a:r>
              <a:rPr lang="ko-KR" sz="1350" b="1" dirty="0">
                <a:solidFill>
                  <a:srgbClr val="101511"/>
                </a:solidFill>
                <a:latin typeface="Malgun Gothic"/>
                <a:ea typeface="Malgun Gothic"/>
                <a:cs typeface="Malgun Gothic"/>
              </a:rPr>
              <a:t> 확인</a:t>
            </a:r>
            <a:r>
              <a:rPr lang="ko-KR" altLang="en-US" sz="1350" b="1" dirty="0">
                <a:solidFill>
                  <a:srgbClr val="101511"/>
                </a:solidFill>
                <a:latin typeface="Malgun Gothic"/>
                <a:ea typeface="Malgun Gothic"/>
                <a:cs typeface="Malgun Gothic"/>
              </a:rPr>
              <a:t> 등</a:t>
            </a:r>
            <a:r>
              <a:rPr lang="ko-KR" sz="1350" b="1" dirty="0">
                <a:solidFill>
                  <a:srgbClr val="101511"/>
                </a:solidFill>
                <a:latin typeface="Malgun Gothic"/>
                <a:ea typeface="Malgun Gothic"/>
                <a:cs typeface="Malgun Gothic"/>
              </a:rPr>
              <a:t> </a:t>
            </a:r>
            <a:r>
              <a:rPr lang="en-US" altLang="ko-KR" sz="1350" b="1" dirty="0" err="1">
                <a:solidFill>
                  <a:srgbClr val="101511"/>
                </a:solidFill>
                <a:latin typeface="Malgun Gothic"/>
                <a:ea typeface="Malgun Gothic"/>
                <a:cs typeface="Malgun Gothic"/>
              </a:rPr>
              <a:t>ai</a:t>
            </a:r>
            <a:r>
              <a:rPr lang="ko-KR" altLang="en-US" sz="1350" b="1" dirty="0">
                <a:solidFill>
                  <a:srgbClr val="101511"/>
                </a:solidFill>
                <a:latin typeface="Malgun Gothic"/>
                <a:ea typeface="Malgun Gothic"/>
                <a:cs typeface="Malgun Gothic"/>
              </a:rPr>
              <a:t>응답의</a:t>
            </a:r>
            <a:r>
              <a:rPr lang="en-US" altLang="ko-KR" sz="1350" b="1" dirty="0">
                <a:solidFill>
                  <a:srgbClr val="101511"/>
                </a:solidFill>
                <a:latin typeface="Malgun Gothic"/>
                <a:ea typeface="Malgun Gothic"/>
                <a:cs typeface="Malgun Gothic"/>
              </a:rPr>
              <a:t> </a:t>
            </a:r>
            <a:r>
              <a:rPr lang="ko-KR" altLang="en-US" sz="1350" b="1" dirty="0">
                <a:solidFill>
                  <a:srgbClr val="101511"/>
                </a:solidFill>
                <a:latin typeface="Malgun Gothic"/>
                <a:ea typeface="Malgun Gothic"/>
                <a:cs typeface="Malgun Gothic"/>
              </a:rPr>
              <a:t>오류 </a:t>
            </a:r>
            <a:r>
              <a:rPr lang="ko-KR" sz="1350" b="1" dirty="0">
                <a:solidFill>
                  <a:srgbClr val="101511"/>
                </a:solidFill>
                <a:latin typeface="Malgun Gothic"/>
                <a:ea typeface="Malgun Gothic"/>
                <a:cs typeface="Malgun Gothic"/>
              </a:rPr>
              <a:t>검사도 강화했습니다.</a:t>
            </a:r>
            <a:endParaRPr lang="en-US" altLang="ko-KR" sz="1350" b="1"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100" b="0" dirty="0">
                <a:solidFill>
                  <a:srgbClr val="101511"/>
                </a:solidFill>
                <a:latin typeface="Malgun Gothic"/>
                <a:ea typeface="Malgun Gothic"/>
                <a:cs typeface="Malgun Gothic"/>
              </a:rPr>
              <a:t>좌측 상단과 하단에 </a:t>
            </a:r>
            <a:r>
              <a:rPr lang="ko-KR" altLang="en-US" sz="1100" b="0" dirty="0" err="1">
                <a:solidFill>
                  <a:srgbClr val="101511"/>
                </a:solidFill>
                <a:latin typeface="Malgun Gothic"/>
                <a:ea typeface="Malgun Gothic"/>
                <a:cs typeface="Malgun Gothic"/>
              </a:rPr>
              <a:t>에니메이션</a:t>
            </a:r>
            <a:r>
              <a:rPr lang="ko-KR" altLang="en-US" sz="1100" b="0" dirty="0">
                <a:solidFill>
                  <a:srgbClr val="101511"/>
                </a:solidFill>
                <a:latin typeface="Malgun Gothic"/>
                <a:ea typeface="Malgun Gothic"/>
                <a:cs typeface="Malgun Gothic"/>
              </a:rPr>
              <a:t> 로고를 적용</a:t>
            </a:r>
            <a:r>
              <a:rPr lang="ko-KR" altLang="en-US" sz="1100" b="0" dirty="0">
                <a:solidFill>
                  <a:srgbClr val="101511"/>
                </a:solidFill>
                <a:latin typeface="Malgun Gothic"/>
                <a:ea typeface="Malgun Gothic"/>
              </a:rPr>
              <a:t>하여 브랜드 평판에 도움이 되도록 하였습니다</a:t>
            </a:r>
            <a:r>
              <a:rPr lang="en-US" altLang="ko-KR" sz="1100" b="0" dirty="0">
                <a:solidFill>
                  <a:srgbClr val="101511"/>
                </a:solidFill>
                <a:latin typeface="Malgun Gothic"/>
                <a:ea typeface="Malgun Gothic"/>
              </a:rPr>
              <a:t>.</a:t>
            </a:r>
            <a:endParaRPr lang="ko-KR" altLang="ko-KR" dirty="0"/>
          </a:p>
          <a:p>
            <a:pPr algn="l">
              <a:lnSpc>
                <a:spcPct val="120000"/>
              </a:lnSpc>
              <a:spcAft>
                <a:spcPts val="0"/>
              </a:spcAft>
            </a:pPr>
            <a:endParaRPr lang="ko-KR" dirty="0"/>
          </a:p>
          <a:p>
            <a:pPr algn="l">
              <a:lnSpc>
                <a:spcPct val="120000"/>
              </a:lnSpc>
              <a:spcAft>
                <a:spcPts val="0"/>
              </a:spcAft>
            </a:pPr>
            <a:endParaRPr lang="en-US" altLang="ko-KR" dirty="0"/>
          </a:p>
          <a:p>
            <a:pPr algn="l">
              <a:lnSpc>
                <a:spcPct val="120000"/>
              </a:lnSpc>
              <a:spcAft>
                <a:spcPts val="0"/>
              </a:spcAft>
            </a:pPr>
            <a:r>
              <a:rPr lang="en-US" altLang="ko-KR" dirty="0"/>
              <a:t>&lt;</a:t>
            </a:r>
            <a:r>
              <a:rPr lang="ko-KR" altLang="en-US" dirty="0"/>
              <a:t>이미 했으면 이하 생략</a:t>
            </a:r>
            <a:r>
              <a:rPr lang="en-US" altLang="ko-KR" dirty="0"/>
              <a:t>&gt;</a:t>
            </a: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업데이트 사항 중에 </a:t>
            </a:r>
            <a:r>
              <a:rPr lang="ko-KR" sz="1350" b="0" dirty="0">
                <a:solidFill>
                  <a:srgbClr val="101511"/>
                </a:solidFill>
                <a:latin typeface="Malgun Gothic"/>
                <a:ea typeface="Malgun Gothic"/>
                <a:cs typeface="Malgun Gothic"/>
              </a:rPr>
              <a:t>산출 </a:t>
            </a:r>
            <a:r>
              <a:rPr lang="ko-KR" sz="1350" b="0" dirty="0" err="1">
                <a:solidFill>
                  <a:srgbClr val="101511"/>
                </a:solidFill>
                <a:latin typeface="Malgun Gothic"/>
                <a:ea typeface="Malgun Gothic"/>
                <a:cs typeface="Malgun Gothic"/>
              </a:rPr>
              <a:t>로직</a:t>
            </a:r>
            <a:r>
              <a:rPr lang="ko-KR" sz="1350" b="0" dirty="0">
                <a:solidFill>
                  <a:srgbClr val="101511"/>
                </a:solidFill>
                <a:latin typeface="Malgun Gothic"/>
                <a:ea typeface="Malgun Gothic"/>
                <a:cs typeface="Malgun Gothic"/>
              </a:rPr>
              <a:t> 안내 화면을</a:t>
            </a:r>
            <a:r>
              <a:rPr lang="ko-KR" altLang="en-US" sz="1350" b="0" dirty="0">
                <a:solidFill>
                  <a:srgbClr val="101511"/>
                </a:solidFill>
                <a:latin typeface="Malgun Gothic"/>
                <a:ea typeface="Malgun Gothic"/>
                <a:cs typeface="Malgun Gothic"/>
              </a:rPr>
              <a:t> 좀더 자세히 </a:t>
            </a:r>
            <a:r>
              <a:rPr lang="ko-KR" sz="1350" b="0" dirty="0">
                <a:solidFill>
                  <a:srgbClr val="101511"/>
                </a:solidFill>
                <a:latin typeface="Malgun Gothic"/>
                <a:ea typeface="Malgun Gothic"/>
                <a:cs typeface="Malgun Gothic"/>
              </a:rPr>
              <a:t>소개하겠습니다.</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생략 가능</a:t>
            </a:r>
            <a:r>
              <a:rPr lang="en-US" alt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이번에 중요하게 추가한 기능은 산출 로직 안내입니다. 먼저 어디에서 확인할 수 있는지 화면으로 보여드리겠습니다. 상단의 산출 로직 버튼을 누르면 점수 기준을 요약한 창이 열립니다. 제목 옆 도움말 아이콘을 누르면 자세한 산출 설명으로 이어집니다. 분홍색 화살표가 이 순서를 보여줍니다. [전환] 이 안내를 왜 추가했는지 말씀드린 뒤, 상세 화면의 네 가지 산출 방식을 하나씩 살펴보겠습니다."/>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p>
          <a:p>
            <a:pPr algn="l">
              <a:lnSpc>
                <a:spcPct val="120000"/>
              </a:lnSpc>
              <a:spcAft>
                <a:spcPts val="0"/>
              </a:spcAft>
            </a:pPr>
            <a:r>
              <a:rPr lang="ko-KR" sz="1350" b="0" dirty="0">
                <a:solidFill>
                  <a:srgbClr val="101511"/>
                </a:solidFill>
                <a:latin typeface="Malgun Gothic"/>
                <a:ea typeface="Malgun Gothic"/>
                <a:cs typeface="Malgun Gothic"/>
              </a:rPr>
              <a:t>이번에 중요하게 추가한 기능은 산출 </a:t>
            </a:r>
            <a:r>
              <a:rPr lang="ko-KR" sz="1350" b="0" dirty="0" err="1">
                <a:solidFill>
                  <a:srgbClr val="101511"/>
                </a:solidFill>
                <a:latin typeface="Malgun Gothic"/>
                <a:ea typeface="Malgun Gothic"/>
                <a:cs typeface="Malgun Gothic"/>
              </a:rPr>
              <a:t>로직</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상세 </a:t>
            </a:r>
            <a:r>
              <a:rPr lang="ko-KR" sz="1350" b="0" dirty="0" err="1">
                <a:solidFill>
                  <a:srgbClr val="101511"/>
                </a:solidFill>
                <a:latin typeface="Malgun Gothic"/>
                <a:ea typeface="Malgun Gothic"/>
                <a:cs typeface="Malgun Gothic"/>
              </a:rPr>
              <a:t>안내</a:t>
            </a:r>
            <a:r>
              <a:rPr lang="ko-KR" altLang="en-US" sz="1350" b="0" dirty="0" err="1">
                <a:solidFill>
                  <a:srgbClr val="101511"/>
                </a:solidFill>
                <a:latin typeface="Malgun Gothic"/>
                <a:ea typeface="Malgun Gothic"/>
                <a:cs typeface="Malgun Gothic"/>
              </a:rPr>
              <a:t>화면</a:t>
            </a:r>
            <a:r>
              <a:rPr lang="ko-KR" sz="1350" b="0" dirty="0" err="1">
                <a:solidFill>
                  <a:srgbClr val="101511"/>
                </a:solidFill>
                <a:latin typeface="Malgun Gothic"/>
                <a:ea typeface="Malgun Gothic"/>
                <a:cs typeface="Malgun Gothic"/>
              </a:rPr>
              <a:t>입니다</a:t>
            </a:r>
            <a:r>
              <a:rPr lang="ko-KR" sz="1350" b="0" dirty="0">
                <a:solidFill>
                  <a:srgbClr val="101511"/>
                </a:solidFill>
                <a:latin typeface="Malgun Gothic"/>
                <a:ea typeface="Malgun Gothic"/>
                <a:cs typeface="Malgun Gothic"/>
              </a:rPr>
              <a:t>. 먼저 어디에서 확인할 수 있는지 화면으로 보여드리겠습니다.</a:t>
            </a:r>
          </a:p>
          <a:p>
            <a:pPr algn="l">
              <a:lnSpc>
                <a:spcPct val="120000"/>
              </a:lnSpc>
              <a:spcAft>
                <a:spcPts val="0"/>
              </a:spcAft>
            </a:pPr>
            <a:r>
              <a:rPr lang="ko-KR" sz="1350" b="0" dirty="0">
                <a:solidFill>
                  <a:srgbClr val="101511"/>
                </a:solidFill>
                <a:latin typeface="Malgun Gothic"/>
                <a:ea typeface="Malgun Gothic"/>
                <a:cs typeface="Malgun Gothic"/>
              </a:rPr>
              <a:t>상단의 산출 </a:t>
            </a:r>
            <a:r>
              <a:rPr lang="ko-KR" sz="1350" b="0" dirty="0" err="1">
                <a:solidFill>
                  <a:srgbClr val="101511"/>
                </a:solidFill>
                <a:latin typeface="Malgun Gothic"/>
                <a:ea typeface="Malgun Gothic"/>
                <a:cs typeface="Malgun Gothic"/>
              </a:rPr>
              <a:t>로직</a:t>
            </a:r>
            <a:r>
              <a:rPr lang="ko-KR" sz="1350" b="0" dirty="0">
                <a:solidFill>
                  <a:srgbClr val="101511"/>
                </a:solidFill>
                <a:latin typeface="Malgun Gothic"/>
                <a:ea typeface="Malgun Gothic"/>
                <a:cs typeface="Malgun Gothic"/>
              </a:rPr>
              <a:t> 버튼을 누르면 점수 기준을 요약한 창이 열립니다. 제목 옆 도움말 아이콘을 누르면 자세한 산출 설명으로 이어집니다. </a:t>
            </a:r>
          </a:p>
          <a:p>
            <a:pPr algn="l">
              <a:lnSpc>
                <a:spcPct val="120000"/>
              </a:lnSpc>
              <a:spcAft>
                <a:spcPts val="0"/>
              </a:spcAft>
            </a:pPr>
            <a:r>
              <a:rPr lang="ko-KR" sz="1350" b="0" dirty="0">
                <a:solidFill>
                  <a:srgbClr val="101511"/>
                </a:solidFill>
                <a:latin typeface="Malgun Gothic"/>
                <a:ea typeface="Malgun Gothic"/>
                <a:cs typeface="Malgun Gothic"/>
              </a:rPr>
              <a:t>[전환]</a:t>
            </a:r>
          </a:p>
          <a:p>
            <a:pPr algn="l">
              <a:lnSpc>
                <a:spcPct val="120000"/>
              </a:lnSpc>
              <a:spcAft>
                <a:spcPts val="0"/>
              </a:spcAft>
            </a:pPr>
            <a:r>
              <a:rPr lang="ko-KR" altLang="en-US" sz="1350" b="0" dirty="0">
                <a:solidFill>
                  <a:srgbClr val="101511"/>
                </a:solidFill>
                <a:latin typeface="Malgun Gothic"/>
                <a:ea typeface="Malgun Gothic"/>
                <a:cs typeface="Malgun Gothic"/>
              </a:rPr>
              <a:t>이제 </a:t>
            </a:r>
            <a:r>
              <a:rPr lang="ko-KR" sz="1350" b="0" dirty="0">
                <a:solidFill>
                  <a:srgbClr val="101511"/>
                </a:solidFill>
                <a:latin typeface="Malgun Gothic"/>
                <a:ea typeface="Malgun Gothic"/>
                <a:cs typeface="Malgun Gothic"/>
              </a:rPr>
              <a:t>상세 화면의 네 가지 산출 방식을 하나씩 살펴보겠습니다.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매출이 아주 크게 늘어난 상권이 있으면, 작은 값과 큰 값만 기준으로 점수를 나눌 때 다른 상권의 성장 차이가 잘 드러나지 않을 수 있습니다. 윈저라이징은 지나치게 큰 값과 작은 값을 정해 둔 범위의 경계값으로 바꿔, 극단값의 영향을 줄이는 방법입니다. 실제 구현에서는 하위 5%와 상위 5% 경계를 사용한 뒤 0점에서 100점 사이로 환산합니다. 화면의 표는 이 효과를 설명하는 예시입니다. 특정 상권의 점수가 실제로 0.5점에서 92점으로 개선됐다는 측정 결과는 아닙니다. [전환] 거래 건수는 상권 규모 차이가 크기 때문에 다른 방식으로 보정합니다. [참고 자료] 사용자 제공 이미지: 준비자료/스크린샷/산출로직_상세.png. 화면의 설명 예시와 실제 계산 단위를 구분해 해설."/>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p>
          <a:p>
            <a:pPr algn="l">
              <a:lnSpc>
                <a:spcPct val="120000"/>
              </a:lnSpc>
              <a:spcAft>
                <a:spcPts val="0"/>
              </a:spcAft>
            </a:pPr>
            <a:r>
              <a:rPr lang="ko-KR" sz="1350" b="0">
                <a:solidFill>
                  <a:srgbClr val="101511"/>
                </a:solidFill>
                <a:latin typeface="Malgun Gothic"/>
                <a:ea typeface="Malgun Gothic"/>
                <a:cs typeface="Malgun Gothic"/>
              </a:rPr>
              <a:t>매출이 아주 크게 늘어난 상권이 있으면, 작은 값과 큰 값만 기준으로 점수를 나눌 때 다른 상권의 성장 차이가 잘 드러나지 않을 수 있습니다.</a:t>
            </a:r>
          </a:p>
          <a:p>
            <a:pPr algn="l">
              <a:lnSpc>
                <a:spcPct val="120000"/>
              </a:lnSpc>
              <a:spcAft>
                <a:spcPts val="0"/>
              </a:spcAft>
            </a:pPr>
            <a:r>
              <a:rPr lang="ko-KR" sz="1350" b="0">
                <a:solidFill>
                  <a:srgbClr val="101511"/>
                </a:solidFill>
                <a:latin typeface="Malgun Gothic"/>
                <a:ea typeface="Malgun Gothic"/>
                <a:cs typeface="Malgun Gothic"/>
              </a:rPr>
              <a:t>윈저라이징은 지나치게 큰 값과 작은 값을 정해 둔 범위의 경계값으로 바꿔, 극단값의 영향을 줄이는 방법입니다. 실제 구현에서는 하위 5%와 상위 5% 경계를 사용한 뒤 0점에서 100점 사이로 환산합니다.</a:t>
            </a:r>
          </a:p>
          <a:p>
            <a:pPr algn="l">
              <a:lnSpc>
                <a:spcPct val="120000"/>
              </a:lnSpc>
              <a:spcAft>
                <a:spcPts val="0"/>
              </a:spcAft>
            </a:pPr>
            <a:r>
              <a:rPr lang="ko-KR" sz="1350" b="0">
                <a:solidFill>
                  <a:srgbClr val="101511"/>
                </a:solidFill>
                <a:latin typeface="Malgun Gothic"/>
                <a:ea typeface="Malgun Gothic"/>
                <a:cs typeface="Malgun Gothic"/>
              </a:rPr>
              <a:t>화면의 표는 이 효과를 설명하는 예시입니다. 특정 상권의 점수가 실제로 0.5점에서 92점으로 개선됐다는 측정 결과는 아닙니다.</a:t>
            </a:r>
          </a:p>
          <a:p>
            <a:pPr algn="l">
              <a:lnSpc>
                <a:spcPct val="120000"/>
              </a:lnSpc>
              <a:spcAft>
                <a:spcPts val="0"/>
              </a:spcAft>
            </a:pPr>
            <a:r>
              <a:rPr lang="ko-KR" sz="1350" b="0">
                <a:solidFill>
                  <a:srgbClr val="101511"/>
                </a:solidFill>
                <a:latin typeface="Malgun Gothic"/>
                <a:ea typeface="Malgun Gothic"/>
                <a:cs typeface="Malgun Gothic"/>
              </a:rPr>
              <a:t>[전환]</a:t>
            </a:r>
          </a:p>
          <a:p>
            <a:pPr algn="l">
              <a:lnSpc>
                <a:spcPct val="120000"/>
              </a:lnSpc>
              <a:spcAft>
                <a:spcPts val="0"/>
              </a:spcAft>
            </a:pPr>
            <a:r>
              <a:rPr lang="ko-KR" sz="1350" b="0">
                <a:solidFill>
                  <a:srgbClr val="101511"/>
                </a:solidFill>
                <a:latin typeface="Malgun Gothic"/>
                <a:ea typeface="Malgun Gothic"/>
                <a:cs typeface="Malgun Gothic"/>
              </a:rPr>
              <a:t>거래 건수는 상권 규모 차이가 크기 때문에 다른 방식으로 보정합니다.</a:t>
            </a:r>
          </a:p>
          <a:p>
            <a:pPr algn="l">
              <a:lnSpc>
                <a:spcPct val="120000"/>
              </a:lnSpc>
              <a:spcAft>
                <a:spcPts val="0"/>
              </a:spcAft>
            </a:pPr>
            <a:r>
              <a:rPr lang="ko-KR" sz="1350" b="0">
                <a:solidFill>
                  <a:srgbClr val="101511"/>
                </a:solidFill>
                <a:latin typeface="Malgun Gothic"/>
                <a:ea typeface="Malgun Gothic"/>
                <a:cs typeface="Malgun Gothic"/>
              </a:rPr>
              <a:t>[참고 자료]</a:t>
            </a:r>
          </a:p>
          <a:p>
            <a:pPr algn="l">
              <a:lnSpc>
                <a:spcPct val="120000"/>
              </a:lnSpc>
              <a:spcAft>
                <a:spcPts val="0"/>
              </a:spcAft>
            </a:pPr>
            <a:r>
              <a:rPr lang="ko-KR" sz="1350" b="0">
                <a:solidFill>
                  <a:srgbClr val="101511"/>
                </a:solidFill>
                <a:latin typeface="Malgun Gothic"/>
                <a:ea typeface="Malgun Gothic"/>
                <a:cs typeface="Malgun Gothic"/>
              </a:rPr>
              <a:t>사용자 제공 이미지: 준비자료/스크린샷/산출로직_상세.png. 화면의 설명 예시와 실제 계산 단위를 구분해 해설.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거래가 백만 건인 상권과 만 건인 상권을 원래 숫자만으로 비교하면 차이가 백 배입니다. 그러면 작은 상권의 거래 활성도가 점수에서 잘 드러나지 않을 수 있습니다. 로그 변환은 큰 숫자 사이의 간격을 줄이는 방법입니다. 거래가 많은 순서는 유지하면서 차이의 폭을 완화하고, 그 결과를 다시 0점에서 100점 사이의 점수로 바꿉니다. 실제 구현은 거래 건수에 log1p를 적용합니다. 화면의 81.4점과 68.2점 등은 설명용 수치입니다. 로그 변환을 하면 언제나 백 배가 1.5배가 된다는 뜻은 아닙니다. [전환] 다음 경쟁 점수는 세 가지 지표를 함께 반영합니다. [참고 자료] 사용자 제공 이미지: 준비자료/스크린샷/산출로직_상세.png. 화면의 설명 예시와 실제 계산 단위를 구분해 해설."/>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p>
          <a:p>
            <a:pPr algn="l">
              <a:lnSpc>
                <a:spcPct val="120000"/>
              </a:lnSpc>
              <a:spcAft>
                <a:spcPts val="0"/>
              </a:spcAft>
            </a:pPr>
            <a:r>
              <a:rPr lang="ko-KR" sz="1350" b="0">
                <a:solidFill>
                  <a:srgbClr val="101511"/>
                </a:solidFill>
                <a:latin typeface="Malgun Gothic"/>
                <a:ea typeface="Malgun Gothic"/>
                <a:cs typeface="Malgun Gothic"/>
              </a:rPr>
              <a:t>거래가 백만 건인 상권과 만 건인 상권을 원래 숫자만으로 비교하면 차이가 백 배입니다. 그러면 작은 상권의 거래 활성도가 점수에서 잘 드러나지 않을 수 있습니다.</a:t>
            </a:r>
          </a:p>
          <a:p>
            <a:pPr algn="l">
              <a:lnSpc>
                <a:spcPct val="120000"/>
              </a:lnSpc>
              <a:spcAft>
                <a:spcPts val="0"/>
              </a:spcAft>
            </a:pPr>
            <a:r>
              <a:rPr lang="ko-KR" sz="1350" b="0">
                <a:solidFill>
                  <a:srgbClr val="101511"/>
                </a:solidFill>
                <a:latin typeface="Malgun Gothic"/>
                <a:ea typeface="Malgun Gothic"/>
                <a:cs typeface="Malgun Gothic"/>
              </a:rPr>
              <a:t>로그 변환은 큰 숫자 사이의 간격을 줄이는 방법입니다. 거래가 많은 순서는 유지하면서 차이의 폭을 완화하고, 그 결과를 다시 0점에서 100점 사이의 점수로 바꿉니다. 실제 구현은 거래 건수에 log1p를 적용합니다.</a:t>
            </a:r>
          </a:p>
          <a:p>
            <a:pPr algn="l">
              <a:lnSpc>
                <a:spcPct val="120000"/>
              </a:lnSpc>
              <a:spcAft>
                <a:spcPts val="0"/>
              </a:spcAft>
            </a:pPr>
            <a:r>
              <a:rPr lang="ko-KR" sz="1350" b="0">
                <a:solidFill>
                  <a:srgbClr val="101511"/>
                </a:solidFill>
                <a:latin typeface="Malgun Gothic"/>
                <a:ea typeface="Malgun Gothic"/>
                <a:cs typeface="Malgun Gothic"/>
              </a:rPr>
              <a:t>화면의 81.4점과 68.2점 등은 설명용 수치입니다. 로그 변환을 하면 언제나 백 배가 1.5배가 된다는 뜻은 아닙니다.</a:t>
            </a:r>
          </a:p>
          <a:p>
            <a:pPr algn="l">
              <a:lnSpc>
                <a:spcPct val="120000"/>
              </a:lnSpc>
              <a:spcAft>
                <a:spcPts val="0"/>
              </a:spcAft>
            </a:pPr>
            <a:r>
              <a:rPr lang="ko-KR" sz="1350" b="0">
                <a:solidFill>
                  <a:srgbClr val="101511"/>
                </a:solidFill>
                <a:latin typeface="Malgun Gothic"/>
                <a:ea typeface="Malgun Gothic"/>
                <a:cs typeface="Malgun Gothic"/>
              </a:rPr>
              <a:t>[전환]</a:t>
            </a:r>
          </a:p>
          <a:p>
            <a:pPr algn="l">
              <a:lnSpc>
                <a:spcPct val="120000"/>
              </a:lnSpc>
              <a:spcAft>
                <a:spcPts val="0"/>
              </a:spcAft>
            </a:pPr>
            <a:r>
              <a:rPr lang="ko-KR" sz="1350" b="0">
                <a:solidFill>
                  <a:srgbClr val="101511"/>
                </a:solidFill>
                <a:latin typeface="Malgun Gothic"/>
                <a:ea typeface="Malgun Gothic"/>
                <a:cs typeface="Malgun Gothic"/>
              </a:rPr>
              <a:t>다음 경쟁 점수는 세 가지 지표를 함께 반영합니다.</a:t>
            </a:r>
          </a:p>
          <a:p>
            <a:pPr algn="l">
              <a:lnSpc>
                <a:spcPct val="120000"/>
              </a:lnSpc>
              <a:spcAft>
                <a:spcPts val="0"/>
              </a:spcAft>
            </a:pPr>
            <a:r>
              <a:rPr lang="ko-KR" sz="1350" b="0">
                <a:solidFill>
                  <a:srgbClr val="101511"/>
                </a:solidFill>
                <a:latin typeface="Malgun Gothic"/>
                <a:ea typeface="Malgun Gothic"/>
                <a:cs typeface="Malgun Gothic"/>
              </a:rPr>
              <a:t>[참고 자료]</a:t>
            </a:r>
          </a:p>
          <a:p>
            <a:pPr algn="l">
              <a:lnSpc>
                <a:spcPct val="120000"/>
              </a:lnSpc>
              <a:spcAft>
                <a:spcPts val="0"/>
              </a:spcAft>
            </a:pPr>
            <a:r>
              <a:rPr lang="ko-KR" sz="1350" b="0">
                <a:solidFill>
                  <a:srgbClr val="101511"/>
                </a:solidFill>
                <a:latin typeface="Malgun Gothic"/>
                <a:ea typeface="Malgun Gothic"/>
                <a:cs typeface="Malgun Gothic"/>
              </a:rPr>
              <a:t>사용자 제공 이미지: 준비자료/스크린샷/산출로직_상세.png. 화면의 설명 예시와 실제 계산 단위를 구분해 해설.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경쟁 점수는 높을수록 지표상 경쟁 여건이 상대적으로 좋다는 뜻입니다. 경쟁이 치열할수록 높아지는 점수와는 방향이 다릅니다. 같은 업종의 점포 수가 적은 쪽에 50%, 점포당 거래 건수가 많은 쪽에 30%, 폐업률이 낮은 쪽에 20%를 반영합니다. 세 항목을 각각 점수로 바꾼 뒤 가중치를 적용합니다. 화면은 비교 원리를 보여주는 예시입니다. 표에는 월 몇 명이라는 표현이 있지만, 실제 구현에서 점포당 수요는 방문자 수가 아니라 선택 분기의 거래 건수를 점포 수로 나눈 값입니다. 표의 안전이나 추천이라는 표현도 성공을 보장한다는 뜻으로 읽지 않고, 현재 지표상 경쟁 여건이 상대적으로 낫다는 의미로 설명하겠습니다. [전환] 이렇게 계산한 성장, 거래, 경쟁 점수를 하나의 탐색 점수로 합칩니다. [참고 자료] 사용자 제공 이미지: 준비자료/스크린샷/산출로직_상세.png. 화면의 설명 예시와 실제 계산 단위를 구분해 해설."/>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p>
          <a:p>
            <a:pPr algn="l">
              <a:lnSpc>
                <a:spcPct val="120000"/>
              </a:lnSpc>
              <a:spcAft>
                <a:spcPts val="0"/>
              </a:spcAft>
            </a:pPr>
            <a:r>
              <a:rPr lang="ko-KR" sz="1350" b="0">
                <a:solidFill>
                  <a:srgbClr val="101511"/>
                </a:solidFill>
                <a:latin typeface="Malgun Gothic"/>
                <a:ea typeface="Malgun Gothic"/>
                <a:cs typeface="Malgun Gothic"/>
              </a:rPr>
              <a:t>경쟁 점수는 높을수록 지표상 경쟁 여건이 상대적으로 좋다는 뜻입니다. 경쟁이 치열할수록 높아지는 점수와는 방향이 다릅니다.</a:t>
            </a:r>
          </a:p>
          <a:p>
            <a:pPr algn="l">
              <a:lnSpc>
                <a:spcPct val="120000"/>
              </a:lnSpc>
              <a:spcAft>
                <a:spcPts val="0"/>
              </a:spcAft>
            </a:pPr>
            <a:r>
              <a:rPr lang="ko-KR" sz="1350" b="0">
                <a:solidFill>
                  <a:srgbClr val="101511"/>
                </a:solidFill>
                <a:latin typeface="Malgun Gothic"/>
                <a:ea typeface="Malgun Gothic"/>
                <a:cs typeface="Malgun Gothic"/>
              </a:rPr>
              <a:t>같은 업종의 점포 수가 적은 쪽에 50%, 점포당 거래 건수가 많은 쪽에 30%, 폐업률이 낮은 쪽에 20%를 반영합니다. 세 항목을 각각 점수로 바꾼 뒤 가중치를 적용합니다.</a:t>
            </a:r>
          </a:p>
          <a:p>
            <a:pPr algn="l">
              <a:lnSpc>
                <a:spcPct val="120000"/>
              </a:lnSpc>
              <a:spcAft>
                <a:spcPts val="0"/>
              </a:spcAft>
            </a:pPr>
            <a:r>
              <a:rPr lang="ko-KR" sz="1350" b="0">
                <a:solidFill>
                  <a:srgbClr val="101511"/>
                </a:solidFill>
                <a:latin typeface="Malgun Gothic"/>
                <a:ea typeface="Malgun Gothic"/>
                <a:cs typeface="Malgun Gothic"/>
              </a:rPr>
              <a:t>화면은 비교 원리를 보여주는 예시입니다. 표에는 월 몇 명이라는 표현이 있지만, 실제 구현에서 점포당 수요는 방문자 수가 아니라 선택 분기의 거래 건수를 점포 수로 나눈 값입니다.</a:t>
            </a:r>
          </a:p>
          <a:p>
            <a:pPr algn="l">
              <a:lnSpc>
                <a:spcPct val="120000"/>
              </a:lnSpc>
              <a:spcAft>
                <a:spcPts val="0"/>
              </a:spcAft>
            </a:pPr>
            <a:r>
              <a:rPr lang="ko-KR" sz="1350" b="0">
                <a:solidFill>
                  <a:srgbClr val="101511"/>
                </a:solidFill>
                <a:latin typeface="Malgun Gothic"/>
                <a:ea typeface="Malgun Gothic"/>
                <a:cs typeface="Malgun Gothic"/>
              </a:rPr>
              <a:t>표의 안전이나 추천이라는 표현도 성공을 보장한다는 뜻으로 읽지 않고, 현재 지표상 경쟁 여건이 상대적으로 낫다는 의미로 설명하겠습니다.</a:t>
            </a:r>
          </a:p>
          <a:p>
            <a:pPr algn="l">
              <a:lnSpc>
                <a:spcPct val="120000"/>
              </a:lnSpc>
              <a:spcAft>
                <a:spcPts val="0"/>
              </a:spcAft>
            </a:pPr>
            <a:r>
              <a:rPr lang="ko-KR" sz="1350" b="0">
                <a:solidFill>
                  <a:srgbClr val="101511"/>
                </a:solidFill>
                <a:latin typeface="Malgun Gothic"/>
                <a:ea typeface="Malgun Gothic"/>
                <a:cs typeface="Malgun Gothic"/>
              </a:rPr>
              <a:t>[전환]</a:t>
            </a:r>
          </a:p>
          <a:p>
            <a:pPr algn="l">
              <a:lnSpc>
                <a:spcPct val="120000"/>
              </a:lnSpc>
              <a:spcAft>
                <a:spcPts val="0"/>
              </a:spcAft>
            </a:pPr>
            <a:r>
              <a:rPr lang="ko-KR" sz="1350" b="0">
                <a:solidFill>
                  <a:srgbClr val="101511"/>
                </a:solidFill>
                <a:latin typeface="Malgun Gothic"/>
                <a:ea typeface="Malgun Gothic"/>
                <a:cs typeface="Malgun Gothic"/>
              </a:rPr>
              <a:t>이렇게 계산한 성장, 거래, 경쟁 점수를 하나의 탐색 점수로 합칩니다.</a:t>
            </a:r>
          </a:p>
          <a:p>
            <a:pPr algn="l">
              <a:lnSpc>
                <a:spcPct val="120000"/>
              </a:lnSpc>
              <a:spcAft>
                <a:spcPts val="0"/>
              </a:spcAft>
            </a:pPr>
            <a:r>
              <a:rPr lang="ko-KR" sz="1350" b="0">
                <a:solidFill>
                  <a:srgbClr val="101511"/>
                </a:solidFill>
                <a:latin typeface="Malgun Gothic"/>
                <a:ea typeface="Malgun Gothic"/>
                <a:cs typeface="Malgun Gothic"/>
              </a:rPr>
              <a:t>[참고 자료]</a:t>
            </a:r>
          </a:p>
          <a:p>
            <a:pPr algn="l">
              <a:lnSpc>
                <a:spcPct val="120000"/>
              </a:lnSpc>
              <a:spcAft>
                <a:spcPts val="0"/>
              </a:spcAft>
            </a:pPr>
            <a:r>
              <a:rPr lang="ko-KR" sz="1350" b="0">
                <a:solidFill>
                  <a:srgbClr val="101511"/>
                </a:solidFill>
                <a:latin typeface="Malgun Gothic"/>
                <a:ea typeface="Malgun Gothic"/>
                <a:cs typeface="Malgun Gothic"/>
              </a:rPr>
              <a:t>사용자 제공 이미지: 준비자료/스크린샷/산출로직_상세.png. 화면의 설명 예시와 실제 계산 단위를 구분해 해설.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발표] 최종 탐색 점수는 성장 점수에 40%, 거래 활성도에 35%, 경쟁 점수에 25%를 적용해 합산합니다. 예시의 첫 번째 유형은 거래량이 더 크지만 성장성과 경쟁 여건 점수가 낮아 56.75점입니다. 두 번째 유형은 성장성이 높고 나머지 점수도 고르게 받으면서 78점이 됩니다. 규모가 큰 상권만 우선하지 않고, 여러 지표를 함께 보려는 기준을 설명한 예시입니다. 등급은 70점 이상이면 높음이나 좋음, 40점 이상 70점 미만이면 보통, 40점 미만이면 낮음이나 나쁨으로 안내합니다. 이 점수로 먼저 확인할 후보를 좁힌 뒤, 임대료나 주변 환경 등 데이터에 없는 조건은 현장에서 확인해야 합니다. [전환] 이제 이 기준을 실제 화면에서 어떻게 확인하는지, 탐색부터 상세 분석과 후보 비교까지 서비스 흐름을 따라 소개하겠습니다. [참고 자료] 사용자 제공 이미지: 준비자료/스크린샷/산출로직_상세.png. 화면의 설명 예시와 실제 계산 단위를 구분해 해설."/>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p>
          <a:p>
            <a:pPr algn="l">
              <a:lnSpc>
                <a:spcPct val="120000"/>
              </a:lnSpc>
              <a:spcAft>
                <a:spcPts val="0"/>
              </a:spcAft>
            </a:pPr>
            <a:r>
              <a:rPr lang="ko-KR" sz="1350" b="0">
                <a:solidFill>
                  <a:srgbClr val="101511"/>
                </a:solidFill>
                <a:latin typeface="Malgun Gothic"/>
                <a:ea typeface="Malgun Gothic"/>
                <a:cs typeface="Malgun Gothic"/>
              </a:rPr>
              <a:t>최종 탐색 점수는 성장 점수에 40%, 거래 활성도에 35%, 경쟁 점수에 25%를 적용해 합산합니다.</a:t>
            </a:r>
          </a:p>
          <a:p>
            <a:pPr algn="l">
              <a:lnSpc>
                <a:spcPct val="120000"/>
              </a:lnSpc>
              <a:spcAft>
                <a:spcPts val="0"/>
              </a:spcAft>
            </a:pPr>
            <a:r>
              <a:rPr lang="ko-KR" sz="1350" b="0">
                <a:solidFill>
                  <a:srgbClr val="101511"/>
                </a:solidFill>
                <a:latin typeface="Malgun Gothic"/>
                <a:ea typeface="Malgun Gothic"/>
                <a:cs typeface="Malgun Gothic"/>
              </a:rPr>
              <a:t>예시의 첫 번째 유형은 거래량이 더 크지만 성장성과 경쟁 여건 점수가 낮아 56.75점입니다. 두 번째 유형은 성장성이 높고 나머지 점수도 고르게 받으면서 78점이 됩니다. 규모가 큰 상권만 우선하지 않고, 여러 지표를 함께 보려는 기준을 설명한 예시입니다.</a:t>
            </a:r>
          </a:p>
          <a:p>
            <a:pPr algn="l">
              <a:lnSpc>
                <a:spcPct val="120000"/>
              </a:lnSpc>
              <a:spcAft>
                <a:spcPts val="0"/>
              </a:spcAft>
            </a:pPr>
            <a:r>
              <a:rPr lang="ko-KR" sz="1350" b="0">
                <a:solidFill>
                  <a:srgbClr val="101511"/>
                </a:solidFill>
                <a:latin typeface="Malgun Gothic"/>
                <a:ea typeface="Malgun Gothic"/>
                <a:cs typeface="Malgun Gothic"/>
              </a:rPr>
              <a:t>등급은 70점 이상이면 높음이나 좋음, 40점 이상 70점 미만이면 보통, 40점 미만이면 낮음이나 나쁨으로 안내합니다.</a:t>
            </a:r>
          </a:p>
          <a:p>
            <a:pPr algn="l">
              <a:lnSpc>
                <a:spcPct val="120000"/>
              </a:lnSpc>
              <a:spcAft>
                <a:spcPts val="0"/>
              </a:spcAft>
            </a:pPr>
            <a:r>
              <a:rPr lang="ko-KR" sz="1350" b="0">
                <a:solidFill>
                  <a:srgbClr val="101511"/>
                </a:solidFill>
                <a:latin typeface="Malgun Gothic"/>
                <a:ea typeface="Malgun Gothic"/>
                <a:cs typeface="Malgun Gothic"/>
              </a:rPr>
              <a:t>이 점수로 먼저 확인할 후보를 좁힌 뒤, 임대료나 주변 환경 등 데이터에 없는 조건은 현장에서 확인해야 합니다.</a:t>
            </a:r>
          </a:p>
          <a:p>
            <a:pPr algn="l">
              <a:lnSpc>
                <a:spcPct val="120000"/>
              </a:lnSpc>
              <a:spcAft>
                <a:spcPts val="0"/>
              </a:spcAft>
            </a:pPr>
            <a:r>
              <a:rPr lang="ko-KR" sz="1350" b="0">
                <a:solidFill>
                  <a:srgbClr val="101511"/>
                </a:solidFill>
                <a:latin typeface="Malgun Gothic"/>
                <a:ea typeface="Malgun Gothic"/>
                <a:cs typeface="Malgun Gothic"/>
              </a:rPr>
              <a:t>[전환]</a:t>
            </a:r>
          </a:p>
          <a:p>
            <a:pPr algn="l">
              <a:lnSpc>
                <a:spcPct val="120000"/>
              </a:lnSpc>
              <a:spcAft>
                <a:spcPts val="0"/>
              </a:spcAft>
            </a:pPr>
            <a:r>
              <a:rPr lang="ko-KR" sz="1350" b="0">
                <a:solidFill>
                  <a:srgbClr val="101511"/>
                </a:solidFill>
                <a:latin typeface="Malgun Gothic"/>
                <a:ea typeface="Malgun Gothic"/>
                <a:cs typeface="Malgun Gothic"/>
              </a:rPr>
              <a:t>이제 이 기준을 실제 화면에서 어떻게 확인하는지, 탐색부터 상세 분석과 후보 비교까지 서비스 흐름을 따라 소개하겠습니다.</a:t>
            </a:r>
          </a:p>
          <a:p>
            <a:pPr algn="l">
              <a:lnSpc>
                <a:spcPct val="120000"/>
              </a:lnSpc>
              <a:spcAft>
                <a:spcPts val="0"/>
              </a:spcAft>
            </a:pPr>
            <a:r>
              <a:rPr lang="ko-KR" sz="1350" b="0">
                <a:solidFill>
                  <a:srgbClr val="101511"/>
                </a:solidFill>
                <a:latin typeface="Malgun Gothic"/>
                <a:ea typeface="Malgun Gothic"/>
                <a:cs typeface="Malgun Gothic"/>
              </a:rPr>
              <a:t>[참고 자료]</a:t>
            </a:r>
          </a:p>
          <a:p>
            <a:pPr algn="l">
              <a:lnSpc>
                <a:spcPct val="120000"/>
              </a:lnSpc>
              <a:spcAft>
                <a:spcPts val="0"/>
              </a:spcAft>
            </a:pPr>
            <a:r>
              <a:rPr lang="ko-KR" sz="1350" b="0">
                <a:solidFill>
                  <a:srgbClr val="101511"/>
                </a:solidFill>
                <a:latin typeface="Malgun Gothic"/>
                <a:ea typeface="Malgun Gothic"/>
                <a:cs typeface="Malgun Gothic"/>
              </a:rPr>
              <a:t>사용자 제공 이미지: 준비자료/스크린샷/산출로직_상세.png. 화면의 설명 예시와 실제 계산 단위를 구분해 해설.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18000"/>
              </a:lnSpc>
              <a:spcAft>
                <a:spcPts val="0"/>
              </a:spcAft>
            </a:pPr>
            <a:r>
              <a:rPr lang="ko-KR" sz="1350" b="0" dirty="0">
                <a:solidFill>
                  <a:srgbClr val="000000"/>
                </a:solidFill>
                <a:latin typeface="Malgun Gothic"/>
                <a:ea typeface="Malgun Gothic"/>
                <a:cs typeface="Malgun Gothic"/>
              </a:rPr>
              <a:t>[발표]</a:t>
            </a:r>
            <a:endParaRPr lang="ko-KR" dirty="0"/>
          </a:p>
          <a:p>
            <a:pPr algn="l">
              <a:lnSpc>
                <a:spcPct val="118000"/>
              </a:lnSpc>
              <a:spcAft>
                <a:spcPts val="0"/>
              </a:spcAft>
            </a:pPr>
            <a:r>
              <a:rPr lang="ko-KR" altLang="en-US" sz="1350" b="0" dirty="0">
                <a:solidFill>
                  <a:srgbClr val="000000"/>
                </a:solidFill>
                <a:latin typeface="Malgun Gothic"/>
                <a:ea typeface="Malgun Gothic"/>
                <a:cs typeface="Malgun Gothic"/>
              </a:rPr>
              <a:t>서비스 흐름과 주요 기능을 설명하겠습니다</a:t>
            </a:r>
            <a:r>
              <a:rPr lang="en-US" altLang="ko-KR" sz="1350" b="0" dirty="0">
                <a:solidFill>
                  <a:srgbClr val="000000"/>
                </a:solidFill>
                <a:latin typeface="Malgun Gothic"/>
                <a:ea typeface="Malgun Gothic"/>
                <a:cs typeface="Malgun Gothic"/>
              </a:rPr>
              <a:t>.</a:t>
            </a:r>
            <a:endParaRPr lang="ko-KR" dirty="0"/>
          </a:p>
          <a:p>
            <a:pPr algn="l">
              <a:lnSpc>
                <a:spcPct val="118000"/>
              </a:lnSpc>
              <a:spcAft>
                <a:spcPts val="0"/>
              </a:spcAft>
            </a:pPr>
            <a:r>
              <a:rPr lang="en-US" altLang="ko-KR" sz="1350" b="0" dirty="0">
                <a:solidFill>
                  <a:srgbClr val="000000"/>
                </a:solidFill>
                <a:latin typeface="Malgun Gothic"/>
                <a:ea typeface="Malgun Gothic"/>
                <a:cs typeface="Malgun Gothic"/>
              </a:rPr>
              <a:t>&lt;</a:t>
            </a:r>
            <a:r>
              <a:rPr lang="ko-KR" sz="1350" b="0" dirty="0">
                <a:solidFill>
                  <a:srgbClr val="000000"/>
                </a:solidFill>
                <a:latin typeface="Malgun Gothic"/>
                <a:ea typeface="Malgun Gothic"/>
                <a:cs typeface="Malgun Gothic"/>
              </a:rPr>
              <a:t>간지 제목을 잠시 보여준 뒤 다음 페이지로 전환한다.</a:t>
            </a:r>
            <a:r>
              <a:rPr lang="en-US" altLang="ko-KR" sz="1350" b="0" dirty="0">
                <a:solidFill>
                  <a:srgbClr val="000000"/>
                </a:solidFill>
                <a:latin typeface="Malgun Gothic"/>
                <a:ea typeface="Malgun Gothic"/>
                <a:cs typeface="Malgun Gothic"/>
              </a:rPr>
              <a:t>&gt;</a:t>
            </a:r>
            <a:endParaRPr lang="ko-KR" dirty="0"/>
          </a:p>
          <a:p>
            <a:pPr algn="l">
              <a:lnSpc>
                <a:spcPct val="118000"/>
              </a:lnSpc>
              <a:spcAft>
                <a:spcPts val="0"/>
              </a:spcAft>
            </a:pPr>
            <a:endParaRPr lang="ko-K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rPr>
              <a:t>탐색 조건 선택부터 현장 조사까지의 서비스 흐름을 살펴보겠습니다</a:t>
            </a:r>
            <a:r>
              <a:rPr lang="en-US" altLang="ko-KR" sz="1350" b="0" dirty="0">
                <a:solidFill>
                  <a:srgbClr val="101511"/>
                </a:solidFill>
                <a:latin typeface="Malgun Gothic"/>
                <a:ea typeface="Malgun Gothic"/>
              </a:rPr>
              <a:t>.</a:t>
            </a:r>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사용자는 먼저 업종과 </a:t>
            </a:r>
            <a:r>
              <a:rPr lang="ko-KR" altLang="en-US" sz="1350" b="0" dirty="0">
                <a:solidFill>
                  <a:srgbClr val="101511"/>
                </a:solidFill>
                <a:latin typeface="Malgun Gothic"/>
                <a:ea typeface="Malgun Gothic"/>
                <a:cs typeface="Malgun Gothic"/>
              </a:rPr>
              <a:t>자치구</a:t>
            </a:r>
            <a:r>
              <a:rPr lang="ko-KR" sz="1350" b="0" dirty="0">
                <a:solidFill>
                  <a:srgbClr val="101511"/>
                </a:solidFill>
                <a:latin typeface="Malgun Gothic"/>
                <a:ea typeface="Malgun Gothic"/>
                <a:cs typeface="Malgun Gothic"/>
              </a:rPr>
              <a:t>, 기준 분기를 </a:t>
            </a:r>
            <a:r>
              <a:rPr lang="ko-KR" altLang="en-US" sz="1350" b="0" dirty="0">
                <a:solidFill>
                  <a:srgbClr val="101511"/>
                </a:solidFill>
                <a:latin typeface="Malgun Gothic"/>
                <a:ea typeface="Malgun Gothic"/>
                <a:cs typeface="Malgun Gothic"/>
              </a:rPr>
              <a:t>선택</a:t>
            </a:r>
            <a:r>
              <a:rPr lang="ko-KR" sz="1350" b="0" dirty="0">
                <a:solidFill>
                  <a:srgbClr val="101511"/>
                </a:solidFill>
                <a:latin typeface="Malgun Gothic"/>
                <a:ea typeface="Malgun Gothic"/>
                <a:cs typeface="Malgun Gothic"/>
              </a:rPr>
              <a:t>합니다. 추천 목록에서 후보를 살펴보거나, 상권의 이름으로 검색할 수 있습니다.</a:t>
            </a:r>
            <a:r>
              <a:rPr lang="ko-KR" altLang="en-US" sz="1350" b="0" dirty="0">
                <a:solidFill>
                  <a:srgbClr val="101511"/>
                </a:solidFill>
                <a:latin typeface="Malgun Gothic"/>
                <a:ea typeface="Malgun Gothic"/>
                <a:cs typeface="Malgun Gothic"/>
              </a:rPr>
              <a:t> 이렇게 </a:t>
            </a:r>
            <a:r>
              <a:rPr lang="ko-KR" altLang="en-US" sz="1350" b="0" dirty="0" err="1">
                <a:solidFill>
                  <a:srgbClr val="101511"/>
                </a:solidFill>
                <a:latin typeface="Malgun Gothic"/>
                <a:ea typeface="Malgun Gothic"/>
                <a:cs typeface="Malgun Gothic"/>
              </a:rPr>
              <a:t>검색필터를</a:t>
            </a:r>
            <a:r>
              <a:rPr lang="ko-KR" altLang="en-US" sz="1350" b="0" dirty="0">
                <a:solidFill>
                  <a:srgbClr val="101511"/>
                </a:solidFill>
                <a:latin typeface="Malgun Gothic"/>
                <a:ea typeface="Malgun Gothic"/>
                <a:cs typeface="Malgun Gothic"/>
              </a:rPr>
              <a:t> 활용하여 후보를 탐색합니다</a:t>
            </a:r>
            <a:r>
              <a:rPr lang="en-US" alt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후보 </a:t>
            </a:r>
            <a:r>
              <a:rPr lang="ko-KR" altLang="en-US" sz="1350" b="0" dirty="0" err="1">
                <a:solidFill>
                  <a:srgbClr val="101511"/>
                </a:solidFill>
                <a:latin typeface="Malgun Gothic"/>
                <a:ea typeface="Malgun Gothic"/>
                <a:cs typeface="Malgun Gothic"/>
              </a:rPr>
              <a:t>탐색후</a:t>
            </a:r>
            <a:r>
              <a:rPr lang="ko-KR" altLang="en-US" sz="1350" b="0" dirty="0">
                <a:solidFill>
                  <a:srgbClr val="101511"/>
                </a:solidFill>
                <a:latin typeface="Malgun Gothic"/>
                <a:ea typeface="Malgun Gothic"/>
                <a:cs typeface="Malgun Gothic"/>
              </a:rPr>
              <a:t> 상세 분석</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추천 목록에서 </a:t>
            </a:r>
            <a:r>
              <a:rPr lang="ko-KR" sz="1350" b="0" dirty="0">
                <a:solidFill>
                  <a:srgbClr val="101511"/>
                </a:solidFill>
                <a:latin typeface="Malgun Gothic"/>
                <a:ea typeface="Malgun Gothic"/>
                <a:cs typeface="Malgun Gothic"/>
              </a:rPr>
              <a:t>관심 상권을 </a:t>
            </a:r>
            <a:r>
              <a:rPr lang="ko-KR" altLang="en-US" sz="1350" b="0" dirty="0">
                <a:solidFill>
                  <a:srgbClr val="101511"/>
                </a:solidFill>
                <a:latin typeface="Malgun Gothic"/>
                <a:ea typeface="Malgun Gothic"/>
                <a:cs typeface="Malgun Gothic"/>
              </a:rPr>
              <a:t>클릭하면 나오는 상세 화면을 통해</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탐색 </a:t>
            </a:r>
            <a:r>
              <a:rPr lang="ko-KR" sz="1350" b="0" dirty="0">
                <a:solidFill>
                  <a:srgbClr val="101511"/>
                </a:solidFill>
                <a:latin typeface="Malgun Gothic"/>
                <a:ea typeface="Malgun Gothic"/>
                <a:cs typeface="Malgun Gothic"/>
              </a:rPr>
              <a:t>점수와 매출, 거래, 소비 패턴을</a:t>
            </a:r>
            <a:r>
              <a:rPr lang="ko-KR" altLang="en-US" sz="1350" b="0" dirty="0">
                <a:solidFill>
                  <a:srgbClr val="101511"/>
                </a:solidFill>
                <a:latin typeface="Malgun Gothic"/>
                <a:ea typeface="Malgun Gothic"/>
                <a:cs typeface="Malgun Gothic"/>
              </a:rPr>
              <a:t> 확인하고 </a:t>
            </a:r>
            <a:r>
              <a:rPr lang="en-US" altLang="ko-KR" sz="1350" b="0" dirty="0">
                <a:solidFill>
                  <a:srgbClr val="101511"/>
                </a:solidFill>
                <a:latin typeface="Malgun Gothic"/>
                <a:ea typeface="Malgun Gothic"/>
                <a:cs typeface="Malgun Gothic"/>
              </a:rPr>
              <a:t>AI </a:t>
            </a:r>
            <a:r>
              <a:rPr lang="ko-KR" altLang="en-US" sz="1350" b="0" dirty="0" err="1">
                <a:solidFill>
                  <a:srgbClr val="101511"/>
                </a:solidFill>
                <a:latin typeface="Malgun Gothic"/>
                <a:ea typeface="Malgun Gothic"/>
                <a:cs typeface="Malgun Gothic"/>
              </a:rPr>
              <a:t>인사이트</a:t>
            </a:r>
            <a:r>
              <a:rPr lang="ko-KR" altLang="en-US" sz="1350" b="0" dirty="0">
                <a:solidFill>
                  <a:srgbClr val="101511"/>
                </a:solidFill>
                <a:latin typeface="Malgun Gothic"/>
                <a:ea typeface="Malgun Gothic"/>
                <a:cs typeface="Malgun Gothic"/>
              </a:rPr>
              <a:t> 내용 등을</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점검</a:t>
            </a:r>
            <a:r>
              <a:rPr lang="ko-KR" sz="1350" b="0" dirty="0">
                <a:solidFill>
                  <a:srgbClr val="101511"/>
                </a:solidFill>
                <a:latin typeface="Malgun Gothic"/>
                <a:ea typeface="Malgun Gothic"/>
                <a:cs typeface="Malgun Gothic"/>
              </a:rPr>
              <a:t>합니다. </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sz="1350" b="0" dirty="0">
                <a:solidFill>
                  <a:srgbClr val="101511"/>
                </a:solidFill>
                <a:latin typeface="Malgun Gothic"/>
                <a:ea typeface="Malgun Gothic"/>
                <a:cs typeface="Malgun Gothic"/>
              </a:rPr>
              <a:t>후보</a:t>
            </a:r>
            <a:r>
              <a:rPr lang="ko-KR" altLang="en-US" sz="1350" b="0" dirty="0">
                <a:solidFill>
                  <a:srgbClr val="101511"/>
                </a:solidFill>
                <a:latin typeface="Malgun Gothic"/>
                <a:ea typeface="Malgun Gothic"/>
                <a:cs typeface="Malgun Gothic"/>
              </a:rPr>
              <a:t> 비교</a:t>
            </a:r>
            <a:r>
              <a:rPr lang="ko-KR" sz="1350" b="0" dirty="0">
                <a:solidFill>
                  <a:srgbClr val="101511"/>
                </a:solidFill>
                <a:latin typeface="Malgun Gothic"/>
                <a:ea typeface="Malgun Gothic"/>
                <a:cs typeface="Malgun Gothic"/>
              </a:rPr>
              <a:t>는 일곱 개까지</a:t>
            </a:r>
            <a:r>
              <a:rPr lang="ko-KR" altLang="en-US" sz="1350" b="0" dirty="0">
                <a:solidFill>
                  <a:srgbClr val="101511"/>
                </a:solidFill>
                <a:latin typeface="Malgun Gothic"/>
                <a:ea typeface="Malgun Gothic"/>
                <a:cs typeface="Malgun Gothic"/>
              </a:rPr>
              <a:t> 후보를</a:t>
            </a:r>
            <a:r>
              <a:rPr lang="ko-KR" sz="1350" b="0" dirty="0">
                <a:solidFill>
                  <a:srgbClr val="101511"/>
                </a:solidFill>
                <a:latin typeface="Malgun Gothic"/>
                <a:ea typeface="Malgun Gothic"/>
                <a:cs typeface="Malgun Gothic"/>
              </a:rPr>
              <a:t> 담고, 비교 화면에서는 세 개씩 나란히 볼 수 있습니다.</a:t>
            </a:r>
            <a:endParaRPr lang="ko-KR" dirty="0"/>
          </a:p>
          <a:p>
            <a:pPr algn="l">
              <a:lnSpc>
                <a:spcPct val="120000"/>
              </a:lnSpc>
              <a:spcAft>
                <a:spcPts val="0"/>
              </a:spcAft>
            </a:pP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이런 과정을 통해 </a:t>
            </a:r>
            <a:r>
              <a:rPr lang="ko-KR" altLang="ko-KR" sz="1350" b="0" dirty="0">
                <a:solidFill>
                  <a:srgbClr val="101511"/>
                </a:solidFill>
                <a:latin typeface="Malgun Gothic"/>
                <a:ea typeface="Malgun Gothic"/>
                <a:cs typeface="Malgun Gothic"/>
              </a:rPr>
              <a:t>최종적으로 현장에 가볼 곳을</a:t>
            </a:r>
            <a:r>
              <a:rPr lang="ko-KR" altLang="en-US" sz="1350" b="0" dirty="0">
                <a:solidFill>
                  <a:srgbClr val="101511"/>
                </a:solidFill>
                <a:latin typeface="Malgun Gothic"/>
                <a:ea typeface="Malgun Gothic"/>
                <a:cs typeface="Malgun Gothic"/>
              </a:rPr>
              <a:t> </a:t>
            </a:r>
            <a:r>
              <a:rPr lang="ko-KR" altLang="en-US" sz="1350" b="0" dirty="0" err="1">
                <a:solidFill>
                  <a:srgbClr val="101511"/>
                </a:solidFill>
                <a:latin typeface="Malgun Gothic"/>
                <a:ea typeface="Malgun Gothic"/>
                <a:cs typeface="Malgun Gothic"/>
              </a:rPr>
              <a:t>두세곳으로</a:t>
            </a:r>
            <a:r>
              <a:rPr lang="ko-KR" altLang="ko-KR" sz="1350" b="0" dirty="0">
                <a:solidFill>
                  <a:srgbClr val="101511"/>
                </a:solidFill>
                <a:latin typeface="Malgun Gothic"/>
                <a:ea typeface="Malgun Gothic"/>
                <a:cs typeface="Malgun Gothic"/>
              </a:rPr>
              <a:t> 좁</a:t>
            </a:r>
            <a:r>
              <a:rPr lang="ko-KR" altLang="en-US" sz="1350" b="0" dirty="0">
                <a:solidFill>
                  <a:srgbClr val="101511"/>
                </a:solidFill>
                <a:latin typeface="Malgun Gothic"/>
                <a:ea typeface="Malgun Gothic"/>
                <a:cs typeface="Malgun Gothic"/>
              </a:rPr>
              <a:t>혔다면 </a:t>
            </a:r>
            <a:r>
              <a:rPr lang="ko-KR" sz="1350" b="0" dirty="0">
                <a:solidFill>
                  <a:srgbClr val="101511"/>
                </a:solidFill>
                <a:latin typeface="Malgun Gothic"/>
                <a:ea typeface="Malgun Gothic"/>
                <a:cs typeface="Malgun Gothic"/>
              </a:rPr>
              <a:t>서비스 안에서 할 수 있는 일은 여기까지입니다. </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현장 조사</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사용자는 최종적으로 현장 답사를 하게 되는데요</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이때 </a:t>
            </a:r>
            <a:r>
              <a:rPr lang="ko-KR" sz="1350" b="0" dirty="0">
                <a:solidFill>
                  <a:srgbClr val="101511"/>
                </a:solidFill>
                <a:latin typeface="Malgun Gothic"/>
                <a:ea typeface="Malgun Gothic"/>
                <a:cs typeface="Malgun Gothic"/>
              </a:rPr>
              <a:t>임대료나 주변 동선, 매장 상태</a:t>
            </a:r>
            <a:r>
              <a:rPr lang="ko-KR" altLang="en-US" sz="1350" b="0" dirty="0">
                <a:solidFill>
                  <a:srgbClr val="101511"/>
                </a:solidFill>
                <a:latin typeface="Malgun Gothic"/>
                <a:ea typeface="Malgun Gothic"/>
                <a:cs typeface="Malgun Gothic"/>
              </a:rPr>
              <a:t> 등 입지 선정을 위한 현장조사 수행합</a:t>
            </a:r>
            <a:r>
              <a:rPr lang="ko-KR" sz="1350" b="0" dirty="0">
                <a:solidFill>
                  <a:srgbClr val="101511"/>
                </a:solidFill>
                <a:latin typeface="Malgun Gothic"/>
                <a:ea typeface="Malgun Gothic"/>
                <a:cs typeface="Malgun Gothic"/>
              </a:rPr>
              <a:t>니다.</a:t>
            </a:r>
            <a:br>
              <a:rPr lang="en-US" altLang="ko-KR" sz="1350" b="0" dirty="0">
                <a:solidFill>
                  <a:srgbClr val="101511"/>
                </a:solidFill>
                <a:latin typeface="Malgun Gothic"/>
                <a:ea typeface="Malgun Gothic"/>
                <a:cs typeface="Malgun Gothic"/>
              </a:rPr>
            </a:b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잠시 뜸을 들임</a:t>
            </a:r>
            <a:r>
              <a:rPr lang="en-US" altLang="ko-KR" sz="1350" b="0" dirty="0">
                <a:solidFill>
                  <a:srgbClr val="101511"/>
                </a:solidFill>
                <a:latin typeface="Malgun Gothic"/>
                <a:ea typeface="Malgun Gothic"/>
                <a:cs typeface="Malgun Gothic"/>
              </a:rPr>
              <a:t>&gt;</a:t>
            </a:r>
          </a:p>
          <a:p>
            <a:pPr algn="l">
              <a:lnSpc>
                <a:spcPct val="120000"/>
              </a:lnSpc>
              <a:spcAft>
                <a:spcPts val="0"/>
              </a:spcAft>
            </a:pPr>
            <a:endParaRPr lang="en-US" altLang="ko-KR" sz="1350" b="0" dirty="0">
              <a:solidFill>
                <a:srgbClr val="101511"/>
              </a:solidFill>
              <a:latin typeface="Malgun Gothic"/>
              <a:ea typeface="Malgun Gothic"/>
            </a:endParaRPr>
          </a:p>
          <a:p>
            <a:pPr algn="l">
              <a:lnSpc>
                <a:spcPct val="120000"/>
              </a:lnSpc>
              <a:spcAft>
                <a:spcPts val="0"/>
              </a:spcAft>
            </a:pPr>
            <a:r>
              <a:rPr lang="ko-KR" altLang="en-US" sz="1350" b="0" dirty="0">
                <a:solidFill>
                  <a:srgbClr val="101511"/>
                </a:solidFill>
                <a:latin typeface="Malgun Gothic"/>
                <a:ea typeface="Malgun Gothic"/>
              </a:rPr>
              <a:t>나머지 서비스 기능들은 시연 과정에서 이미 설명 드린 내용이니 생략하고 다음 장으로 넘어가겠습니다</a:t>
            </a:r>
            <a:r>
              <a:rPr lang="en-US" altLang="ko-KR" sz="1350" b="0" dirty="0">
                <a:solidFill>
                  <a:srgbClr val="101511"/>
                </a:solidFill>
                <a:latin typeface="Malgun Gothic"/>
                <a:ea typeface="Malgun Gothic"/>
              </a:rPr>
              <a:t>.</a:t>
            </a:r>
            <a:r>
              <a:rPr lang="ko-KR" altLang="en-US" sz="1350" b="0" dirty="0">
                <a:solidFill>
                  <a:srgbClr val="101511"/>
                </a:solidFill>
                <a:latin typeface="Malgun Gothic"/>
                <a:ea typeface="Malgun Gothic"/>
              </a:rPr>
              <a:t>  </a:t>
            </a:r>
            <a:endParaRPr lang="ko-KR" dirty="0"/>
          </a:p>
          <a:p>
            <a:pPr algn="l">
              <a:lnSpc>
                <a:spcPct val="120000"/>
              </a:lnSpc>
              <a:spcAft>
                <a:spcPts val="0"/>
              </a:spcAft>
            </a:pPr>
            <a:endParaRPr lang="ko-KR" dirty="0"/>
          </a:p>
          <a:p>
            <a:pPr algn="l">
              <a:lnSpc>
                <a:spcPct val="120000"/>
              </a:lnSpc>
              <a:spcAft>
                <a:spcPts val="0"/>
              </a:spcAft>
            </a:pP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설계 와 구현</a:t>
            </a:r>
            <a:r>
              <a:rPr lang="en-US" altLang="ko-KR" sz="1350" b="0" dirty="0">
                <a:solidFill>
                  <a:srgbClr val="101511"/>
                </a:solidFill>
                <a:latin typeface="Malgun Gothic"/>
                <a:ea typeface="Malgun Gothic"/>
                <a:cs typeface="Malgun Gothic"/>
              </a:rPr>
              <a:t>)</a:t>
            </a:r>
            <a:endParaRPr lang="ko-K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첫 화면은 위에서 아래로 읽으면 됩니다. 헤더에는 탐색과 비교 메뉴, 점수 산출 </a:t>
            </a:r>
            <a:r>
              <a:rPr lang="ko-KR" sz="1350" b="0" dirty="0" err="1">
                <a:solidFill>
                  <a:srgbClr val="101511"/>
                </a:solidFill>
                <a:latin typeface="Malgun Gothic"/>
                <a:ea typeface="Malgun Gothic"/>
                <a:cs typeface="Malgun Gothic"/>
              </a:rPr>
              <a:t>로직</a:t>
            </a:r>
            <a:r>
              <a:rPr lang="ko-KR" sz="1350" b="0" dirty="0">
                <a:solidFill>
                  <a:srgbClr val="101511"/>
                </a:solidFill>
                <a:latin typeface="Malgun Gothic"/>
                <a:ea typeface="Malgun Gothic"/>
                <a:cs typeface="Malgun Gothic"/>
              </a:rPr>
              <a:t>, 화면 사용법을 여는 도움말 아이콘이 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그 아래 필터에서 업종과 자치구, 분기를 정하고 상권 이름을 검색합니다. 관심 후보는 바로 아래 비교 트레이에 모입니다.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왼쪽 목록은 먼저 살펴볼 상권과 그 이유를 보여주고, 오른쪽은 추천에 사용한 세 가지 기준과 한계를 설명합니다. 스크롤을 내리는 동안에도 필터에 접근할 수 있도록 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처음 사용하는 사람도 후보를 찾을 수 있도록 검색과 도움말을 함께 보완했습니다.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준비자료</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스크린샷</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초기화면_시작.png</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pages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explore</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ExplorePage.tsx</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shared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ui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Header.tsx</a:t>
            </a:r>
            <a:endParaRPr lang="ko-K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상권 검색창에 글자를 입력하면, 그 글자가 들어간 상권 목록이 나타납니다. 이름과 자치구를 함께 보고 후보를 고른 뒤, 검색 버튼이나 엔터 키로 추천 결과를 확인합니다.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목록은 처음부터 모두 펼치지 않고 스무 개씩 보여줍니다. 더 내려 보거나 더 보기 버튼을 누르면 다음 후보를 확인할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오른쪽은 헤더의 도움말 버튼을 눌렀을 때의 화면입니다. 탐색, 상세, 비교 화면별로 궁금할 만한 질문을 정리했고, 필요한 항목에는 실제 화면 예시도 넣었습니다.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이 도움말은 첫 방문에 자동으로 뜨는 방식은 아닙니다. 사용자가 막히는 순간 필요한 설명을 직접 열어 보는 방식입니다.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후보를 찾았다면, 추천 목록에서 어떤 정보를 읽을 수 있는지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준비자료/스크린샷/초기화면_검색.png, 초기화면_사용법.png / frontend/src/pages/explore/ExplorePage.tsx:TradeAreaResults / frontend/src/shared/ui/PageGuideModal.tsx / https://github.com/team-ttobagi/seoul-data-analysis/wiki/0921</a:t>
            </a:r>
            <a:endParaRPr lang="ko-K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추천 목록 한 줄에는 상권명과 순위, 탐색 점수, 성장과 거래, 경쟁 여건에 대한 신호가 들어 있습니다. 짧은 요약을 읽고 더 알아볼 상권인지 판단할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상권 이름이나 화살표를 누르면 상세 분석으로 이동합니다. 비교 버튼을 누른 상권은 색으로 강조되고, 비교 트레이에 담깁니다.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오른쪽에는 성장 사십 퍼센트, 거래 삼십오 퍼센트, 경쟁 여건 이십오 퍼센트라는 가중치를 공개했습니다. 경쟁 여건은 좋을수록 유리한 방향으로 읽으며, 불리한 상태는 빨간색으로 주의를 줍니다.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여기서 보이는 한 줄 요약은 지표의 등급을 조합한 규칙 기반 설명입니다. 추천 목록 전체를 생성형 AI가 판단한 것으로 설명하지는 않습니다.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여러 후보를 함께 살펴보기 위해 비교 트레이에 담아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준비자료/스크린샷/초기화면_시작.png, 초기화면_선택.png / frontend/src/shared/ui/Signals.tsx / frontend/src/pages/explore/ExplorePage.tsx / backend/app/domain/analytics/service.py</a:t>
            </a:r>
            <a:endParaRPr lang="ko-K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비교 트레이는 관심 있는 후보를 잠시 모아 두는 공간입니다. 화면에서는 다섯 개를 담았고, 최대 일곱 개까지 선택할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상권 이름 옆의 엑스 버튼으로 하나씩 빼거나, 선택 초기화로 모두 지울 수 있습니다. 후보가 생기면 나란히 비교하는 버튼이 활성화됩니다.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같은 기준으로 비교하는 것도 중요합니다. 후보를 담은 상태에서 업종이나 분기를 바꾸면, 기존 목록을 초기화할지 먼저 확인하도록 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이 선택은 탐색, 상세, 비교 화면에서 함께 사용합니다. 계정에 영구 저장하는 기능은 아니므로, 새로고침 후에도 계속 보관되는 즐겨찾기와는 다릅니다.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이제 담아 둔 후보 중 하나를 열어 상세 정보를 살펴보겠습니다.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준비자료/스크린샷/초기화면_선택.png / frontend/src/pages/explore/ExplorePage.tsx:424,885 / frontend/src/shared/lib/store.ts / https://github.com/team-ttobagi/seoul-data-analysis/wiki/0921</a:t>
            </a:r>
            <a:endParaRPr lang="ko-K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상세 화면은 무엇을 보고 있는지 확인하는 데서 시작합니다. 이 예시는 </a:t>
            </a:r>
            <a:r>
              <a:rPr lang="ko-KR" sz="1350" b="0" dirty="0" err="1">
                <a:solidFill>
                  <a:srgbClr val="101511"/>
                </a:solidFill>
                <a:latin typeface="Malgun Gothic"/>
                <a:ea typeface="Malgun Gothic"/>
                <a:cs typeface="Malgun Gothic"/>
              </a:rPr>
              <a:t>구산역의</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커피·음료</a:t>
            </a:r>
            <a:r>
              <a:rPr lang="ko-KR" sz="1350" b="0" dirty="0">
                <a:solidFill>
                  <a:srgbClr val="101511"/>
                </a:solidFill>
                <a:latin typeface="Malgun Gothic"/>
                <a:ea typeface="Malgun Gothic"/>
                <a:cs typeface="Malgun Gothic"/>
              </a:rPr>
              <a:t> 업종이고, 기준은 </a:t>
            </a:r>
            <a:r>
              <a:rPr lang="ko-KR" sz="1350" b="0" dirty="0" err="1">
                <a:solidFill>
                  <a:srgbClr val="101511"/>
                </a:solidFill>
                <a:latin typeface="Malgun Gothic"/>
                <a:ea typeface="Malgun Gothic"/>
                <a:cs typeface="Malgun Gothic"/>
              </a:rPr>
              <a:t>이천이십육</a:t>
            </a:r>
            <a:r>
              <a:rPr lang="ko-KR" sz="1350" b="0" dirty="0">
                <a:solidFill>
                  <a:srgbClr val="101511"/>
                </a:solidFill>
                <a:latin typeface="Malgun Gothic"/>
                <a:ea typeface="Malgun Gothic"/>
                <a:cs typeface="Malgun Gothic"/>
              </a:rPr>
              <a:t> 년 이 분기입니다.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왼쪽은 종합 탐색 점수와 주요 근거를 모은 영역입니다. 예시 점수는 </a:t>
            </a:r>
            <a:r>
              <a:rPr lang="ko-KR" sz="1350" b="0" dirty="0" err="1">
                <a:solidFill>
                  <a:srgbClr val="101511"/>
                </a:solidFill>
                <a:latin typeface="Malgun Gothic"/>
                <a:ea typeface="Malgun Gothic"/>
                <a:cs typeface="Malgun Gothic"/>
              </a:rPr>
              <a:t>팔십칠</a:t>
            </a:r>
            <a:r>
              <a:rPr lang="ko-KR" sz="1350" b="0" dirty="0">
                <a:solidFill>
                  <a:srgbClr val="101511"/>
                </a:solidFill>
                <a:latin typeface="Malgun Gothic"/>
                <a:ea typeface="Malgun Gothic"/>
                <a:cs typeface="Malgun Gothic"/>
              </a:rPr>
              <a:t> 점이며, 성장과 거래, 경쟁 여건을 함께 읽을 수 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오른쪽 경쟁 요약에서는 매출 수준과 거래량, 경쟁 여건을 나누어 보여줍니다. 경쟁 여건은 좋음, 보통, 나쁨을 색과 글자로 구분합니다.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이 점수는 매장을 열었을 때의 성공 확률이 아닙니다. 같은 조건의 다른 상권과 비교해서 어디부터 더 조사할지 정하는 참고 지표입니다.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종합 점수를 확인했다면, 그 아래의 개별 수치와 순위를 함께 살펴보겠습니다.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[발표 진행]</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캡처에 “AI </a:t>
            </a:r>
            <a:r>
              <a:rPr lang="ko-KR" sz="1350" b="0" dirty="0" err="1">
                <a:solidFill>
                  <a:srgbClr val="101511"/>
                </a:solidFill>
                <a:latin typeface="Malgun Gothic"/>
                <a:ea typeface="Malgun Gothic"/>
                <a:cs typeface="Malgun Gothic"/>
              </a:rPr>
              <a:t>인사이트</a:t>
            </a:r>
            <a:r>
              <a:rPr lang="ko-KR" sz="1350" b="0" dirty="0">
                <a:solidFill>
                  <a:srgbClr val="101511"/>
                </a:solidFill>
                <a:latin typeface="Malgun Gothic"/>
                <a:ea typeface="Malgun Gothic"/>
                <a:cs typeface="Malgun Gothic"/>
              </a:rPr>
              <a:t> 생성 </a:t>
            </a:r>
            <a:r>
              <a:rPr lang="ko-KR" sz="1350" b="0" dirty="0" err="1">
                <a:solidFill>
                  <a:srgbClr val="101511"/>
                </a:solidFill>
                <a:latin typeface="Malgun Gothic"/>
                <a:ea typeface="Malgun Gothic"/>
                <a:cs typeface="Malgun Gothic"/>
              </a:rPr>
              <a:t>중입니다.”가</a:t>
            </a:r>
            <a:r>
              <a:rPr lang="ko-KR" sz="1350" b="0" dirty="0">
                <a:solidFill>
                  <a:srgbClr val="101511"/>
                </a:solidFill>
                <a:latin typeface="Malgun Gothic"/>
                <a:ea typeface="Malgun Gothic"/>
                <a:cs typeface="Malgun Gothic"/>
              </a:rPr>
              <a:t> 남아 있다면 생성 완료 예시로 소개하지 않는다. </a:t>
            </a:r>
            <a:r>
              <a:rPr lang="ko-KR" sz="1350" b="0" dirty="0" err="1">
                <a:solidFill>
                  <a:srgbClr val="101511"/>
                </a:solidFill>
                <a:latin typeface="Malgun Gothic"/>
                <a:ea typeface="Malgun Gothic"/>
                <a:cs typeface="Malgun Gothic"/>
              </a:rPr>
              <a:t>AI의</a:t>
            </a:r>
            <a:r>
              <a:rPr lang="ko-KR" sz="1350" b="0" dirty="0">
                <a:solidFill>
                  <a:srgbClr val="101511"/>
                </a:solidFill>
                <a:latin typeface="Malgun Gothic"/>
                <a:ea typeface="Malgun Gothic"/>
                <a:cs typeface="Malgun Gothic"/>
              </a:rPr>
              <a:t> 동작은 뒤 </a:t>
            </a:r>
            <a:r>
              <a:rPr lang="ko-KR" sz="1350" b="0" dirty="0" err="1">
                <a:solidFill>
                  <a:srgbClr val="101511"/>
                </a:solidFill>
                <a:latin typeface="Malgun Gothic"/>
                <a:ea typeface="Malgun Gothic"/>
                <a:cs typeface="Malgun Gothic"/>
              </a:rPr>
              <a:t>인사이트</a:t>
            </a:r>
            <a:r>
              <a:rPr lang="ko-KR" sz="1350" b="0" dirty="0">
                <a:solidFill>
                  <a:srgbClr val="101511"/>
                </a:solidFill>
                <a:latin typeface="Malgun Gothic"/>
                <a:ea typeface="Malgun Gothic"/>
                <a:cs typeface="Malgun Gothic"/>
              </a:rPr>
              <a:t> 페이지에서 설명한다.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준비자료</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스크린샷</a:t>
            </a:r>
            <a:r>
              <a:rPr lang="ko-KR" sz="1350" b="0" dirty="0">
                <a:solidFill>
                  <a:srgbClr val="101511"/>
                </a:solidFill>
                <a:latin typeface="Malgun Gothic"/>
                <a:ea typeface="Malgun Gothic"/>
                <a:cs typeface="Malgun Gothic"/>
              </a:rPr>
              <a:t>/상세1.png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pages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district</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DistrictDetailPage.tsx</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domain</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analytics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schemas.py</a:t>
            </a:r>
            <a:endParaRPr lang="ko-K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핵심 지표는 추정 매출, 거래 건수, 서울 상권 순위, 전분기 대비 변화의 네 칸입니다. 이 예시의 매출은 약 팔억 원이고, 거래는 약 </a:t>
            </a:r>
            <a:r>
              <a:rPr lang="ko-KR" sz="1350" b="0" dirty="0" err="1">
                <a:solidFill>
                  <a:srgbClr val="101511"/>
                </a:solidFill>
                <a:latin typeface="Malgun Gothic"/>
                <a:ea typeface="Malgun Gothic"/>
                <a:cs typeface="Malgun Gothic"/>
              </a:rPr>
              <a:t>십팔만</a:t>
            </a:r>
            <a:r>
              <a:rPr lang="ko-KR" sz="1350" b="0" dirty="0">
                <a:solidFill>
                  <a:srgbClr val="101511"/>
                </a:solidFill>
                <a:latin typeface="Malgun Gothic"/>
                <a:ea typeface="Malgun Gothic"/>
                <a:cs typeface="Malgun Gothic"/>
              </a:rPr>
              <a:t> 건입니다.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이 숫자는 </a:t>
            </a:r>
            <a:r>
              <a:rPr lang="ko-KR" sz="1350" b="0" dirty="0" err="1">
                <a:solidFill>
                  <a:srgbClr val="101511"/>
                </a:solidFill>
                <a:latin typeface="Malgun Gothic"/>
                <a:ea typeface="Malgun Gothic"/>
                <a:cs typeface="Malgun Gothic"/>
              </a:rPr>
              <a:t>구산역</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커피·음료</a:t>
            </a:r>
            <a:r>
              <a:rPr lang="ko-KR" sz="1350" b="0" dirty="0">
                <a:solidFill>
                  <a:srgbClr val="101511"/>
                </a:solidFill>
                <a:latin typeface="Malgun Gothic"/>
                <a:ea typeface="Malgun Gothic"/>
                <a:cs typeface="Malgun Gothic"/>
              </a:rPr>
              <a:t> 업종 전체의 분기 집계입니다. 그곳에 새로 여는 개인 매장의 예상 매출이라는 뜻은 아닙니다.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아래에서는 매출, </a:t>
            </a:r>
            <a:r>
              <a:rPr lang="ko-KR" sz="1350" b="0" dirty="0" err="1">
                <a:solidFill>
                  <a:srgbClr val="101511"/>
                </a:solidFill>
                <a:latin typeface="Malgun Gothic"/>
                <a:ea typeface="Malgun Gothic"/>
                <a:cs typeface="Malgun Gothic"/>
              </a:rPr>
              <a:t>거래건수</a:t>
            </a:r>
            <a:r>
              <a:rPr lang="ko-KR" sz="1350" b="0" dirty="0">
                <a:solidFill>
                  <a:srgbClr val="101511"/>
                </a:solidFill>
                <a:latin typeface="Malgun Gothic"/>
                <a:ea typeface="Malgun Gothic"/>
                <a:cs typeface="Malgun Gothic"/>
              </a:rPr>
              <a:t>, 성장률, </a:t>
            </a:r>
            <a:r>
              <a:rPr lang="ko-KR" sz="1350" b="0" dirty="0" err="1">
                <a:solidFill>
                  <a:srgbClr val="101511"/>
                </a:solidFill>
                <a:latin typeface="Malgun Gothic"/>
                <a:ea typeface="Malgun Gothic"/>
                <a:cs typeface="Malgun Gothic"/>
              </a:rPr>
              <a:t>탐색점수</a:t>
            </a:r>
            <a:r>
              <a:rPr lang="ko-KR" sz="1350" b="0" dirty="0">
                <a:solidFill>
                  <a:srgbClr val="101511"/>
                </a:solidFill>
                <a:latin typeface="Malgun Gothic"/>
                <a:ea typeface="Malgun Gothic"/>
                <a:cs typeface="Malgun Gothic"/>
              </a:rPr>
              <a:t> 중 무엇으로 비교할지 탭을 바꿀 수 있습니다. 다른 상권을 누르면 같은 업종과 분기를 유지한 채 그 상권의 상세 화면으로 이동합니다.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순위와 상위 비율은 기준을 확인해서 읽어야 합니다. 서울 종합 순위</a:t>
            </a:r>
            <a:r>
              <a:rPr lang="en-US" altLang="ko-KR" sz="1350" b="0" dirty="0">
                <a:solidFill>
                  <a:srgbClr val="101511"/>
                </a:solidFill>
                <a:latin typeface="Malgun Gothic"/>
                <a:ea typeface="Malgun Gothic"/>
                <a:cs typeface="Malgun Gothic"/>
              </a:rPr>
              <a:t>(</a:t>
            </a:r>
            <a:r>
              <a:rPr lang="ko-KR" altLang="en-US" sz="1100" b="0" i="0" u="none" strike="noStrike" cap="none" spc="0" dirty="0">
                <a:solidFill>
                  <a:srgbClr val="000000"/>
                </a:solidFill>
                <a:effectLst/>
                <a:latin typeface="Arial"/>
                <a:ea typeface="Arial"/>
                <a:cs typeface="Arial"/>
                <a:sym typeface="Arial"/>
              </a:rPr>
              <a:t>서울 </a:t>
            </a:r>
            <a:r>
              <a:rPr lang="ko-KR" altLang="en-US" sz="1100" b="0" i="0" u="none" strike="noStrike" cap="none" spc="0" dirty="0" err="1">
                <a:solidFill>
                  <a:srgbClr val="000000"/>
                </a:solidFill>
                <a:effectLst/>
                <a:latin typeface="Arial"/>
                <a:ea typeface="Arial"/>
                <a:cs typeface="Arial"/>
                <a:sym typeface="Arial"/>
              </a:rPr>
              <a:t>전체라</a:t>
            </a:r>
            <a:r>
              <a:rPr lang="ko-KR" altLang="en-US" sz="1100" b="0" i="0" u="none" strike="noStrike" cap="none" spc="0" dirty="0">
                <a:solidFill>
                  <a:srgbClr val="000000"/>
                </a:solidFill>
                <a:effectLst/>
                <a:latin typeface="Arial"/>
                <a:ea typeface="Arial"/>
                <a:cs typeface="Arial"/>
                <a:sym typeface="Arial"/>
              </a:rPr>
              <a:t> 써있는</a:t>
            </a:r>
            <a:r>
              <a:rPr lang="en-US" altLang="ko-KR" sz="1100" b="0" i="0" u="none" strike="noStrike" cap="none" spc="0" dirty="0">
                <a:solidFill>
                  <a:srgbClr val="000000"/>
                </a:solidFill>
                <a:effectLst/>
                <a:latin typeface="Arial"/>
                <a:ea typeface="Arial"/>
                <a:cs typeface="Arial"/>
                <a:sym typeface="Arial"/>
              </a:rPr>
              <a:t>_</a:t>
            </a:r>
            <a:r>
              <a:rPr lang="ko-KR" altLang="ko-KR" sz="1100" b="0" dirty="0">
                <a:solidFill>
                  <a:srgbClr val="101511"/>
                </a:solidFill>
                <a:latin typeface="Malgun Gothic"/>
                <a:ea typeface="Malgun Gothic"/>
                <a:cs typeface="Malgun Gothic"/>
              </a:rPr>
              <a:t>서울 종합 순위</a:t>
            </a:r>
            <a:r>
              <a:rPr lang="en-US" altLang="ko-KR" sz="1100" b="0" dirty="0">
                <a:solidFill>
                  <a:srgbClr val="101511"/>
                </a:solidFill>
                <a:latin typeface="Malgun Gothic"/>
                <a:ea typeface="Malgun Gothic"/>
                <a:cs typeface="Malgun Gothic"/>
              </a:rPr>
              <a:t>_</a:t>
            </a:r>
            <a:r>
              <a:rPr lang="ko-KR" altLang="en-US" sz="1100" b="0" i="0" u="none" strike="noStrike" cap="none" spc="0" dirty="0">
                <a:solidFill>
                  <a:srgbClr val="000000"/>
                </a:solidFill>
                <a:effectLst/>
                <a:latin typeface="Arial"/>
                <a:ea typeface="Arial"/>
                <a:cs typeface="Arial"/>
                <a:sym typeface="Arial"/>
              </a:rPr>
              <a:t>는 </a:t>
            </a:r>
            <a:r>
              <a:rPr lang="ko-KR" altLang="en-US" sz="1100" b="1" i="0" u="none" strike="noStrike" cap="none" spc="0" dirty="0">
                <a:solidFill>
                  <a:srgbClr val="000000"/>
                </a:solidFill>
                <a:effectLst/>
                <a:latin typeface="Arial"/>
                <a:ea typeface="Arial"/>
                <a:cs typeface="Arial"/>
                <a:sym typeface="Arial"/>
              </a:rPr>
              <a:t>매출</a:t>
            </a:r>
            <a:r>
              <a:rPr lang="en-US" altLang="ko-KR" sz="1100" b="1" i="0" u="none" strike="noStrike" cap="none" spc="0" dirty="0">
                <a:solidFill>
                  <a:srgbClr val="000000"/>
                </a:solidFill>
                <a:effectLst/>
                <a:latin typeface="Arial"/>
                <a:ea typeface="Arial"/>
                <a:cs typeface="Arial"/>
                <a:sym typeface="Arial"/>
              </a:rPr>
              <a:t>/</a:t>
            </a:r>
            <a:r>
              <a:rPr lang="ko-KR" altLang="en-US" sz="1100" b="1" i="0" u="none" strike="noStrike" cap="none" spc="0" dirty="0" err="1">
                <a:solidFill>
                  <a:srgbClr val="000000"/>
                </a:solidFill>
                <a:effectLst/>
                <a:latin typeface="Arial"/>
                <a:ea typeface="Arial"/>
                <a:cs typeface="Arial"/>
                <a:sym typeface="Arial"/>
              </a:rPr>
              <a:t>거래건수</a:t>
            </a:r>
            <a:r>
              <a:rPr lang="en-US" altLang="ko-KR" sz="1100" b="1" i="0" u="none" strike="noStrike" cap="none" spc="0" dirty="0">
                <a:solidFill>
                  <a:srgbClr val="000000"/>
                </a:solidFill>
                <a:effectLst/>
                <a:latin typeface="Arial"/>
                <a:ea typeface="Arial"/>
                <a:cs typeface="Arial"/>
                <a:sym typeface="Arial"/>
              </a:rPr>
              <a:t>/</a:t>
            </a:r>
            <a:r>
              <a:rPr lang="ko-KR" altLang="en-US" sz="1100" b="1" i="0" u="none" strike="noStrike" cap="none" spc="0" dirty="0">
                <a:solidFill>
                  <a:srgbClr val="000000"/>
                </a:solidFill>
                <a:effectLst/>
                <a:latin typeface="Arial"/>
                <a:ea typeface="Arial"/>
                <a:cs typeface="Arial"/>
                <a:sym typeface="Arial"/>
              </a:rPr>
              <a:t>성장률</a:t>
            </a:r>
            <a:r>
              <a:rPr lang="en-US" altLang="ko-KR" sz="1100" b="1" i="0" u="none" strike="noStrike" cap="none" spc="0" dirty="0">
                <a:solidFill>
                  <a:srgbClr val="000000"/>
                </a:solidFill>
                <a:effectLst/>
                <a:latin typeface="Arial"/>
                <a:ea typeface="Arial"/>
                <a:cs typeface="Arial"/>
                <a:sym typeface="Arial"/>
              </a:rPr>
              <a:t>/</a:t>
            </a:r>
            <a:r>
              <a:rPr lang="ko-KR" altLang="en-US" sz="1100" b="1" i="0" u="none" strike="noStrike" cap="none" spc="0" dirty="0">
                <a:solidFill>
                  <a:srgbClr val="000000"/>
                </a:solidFill>
                <a:effectLst/>
                <a:latin typeface="Arial"/>
                <a:ea typeface="Arial"/>
                <a:cs typeface="Arial"/>
                <a:sym typeface="Arial"/>
              </a:rPr>
              <a:t>경쟁 점수</a:t>
            </a:r>
            <a:r>
              <a:rPr lang="ko-KR" altLang="en-US" sz="1100" b="0" i="0" u="none" strike="noStrike" cap="none" spc="0" dirty="0">
                <a:solidFill>
                  <a:srgbClr val="000000"/>
                </a:solidFill>
                <a:effectLst/>
                <a:latin typeface="Arial"/>
                <a:ea typeface="Arial"/>
                <a:cs typeface="Arial"/>
                <a:sym typeface="Arial"/>
              </a:rPr>
              <a:t>를 동일 비율로 계산해서 넣은 순위</a:t>
            </a:r>
            <a:r>
              <a:rPr lang="en-US" altLang="ko-KR" sz="1100" b="0" i="0" u="none" strike="noStrike" cap="none" spc="0" dirty="0">
                <a:solidFill>
                  <a:srgbClr val="000000"/>
                </a:solidFill>
                <a:effectLst/>
                <a:latin typeface="Arial"/>
                <a:ea typeface="Arial"/>
                <a:cs typeface="Arial"/>
                <a:sym typeface="Arial"/>
              </a:rPr>
              <a:t>)</a:t>
            </a:r>
            <a:r>
              <a:rPr lang="ko-KR" sz="1350" b="0" dirty="0">
                <a:solidFill>
                  <a:srgbClr val="101511"/>
                </a:solidFill>
                <a:latin typeface="Malgun Gothic"/>
                <a:ea typeface="Malgun Gothic"/>
                <a:cs typeface="Malgun Gothic"/>
              </a:rPr>
              <a:t>와 각 탭의 상위 비율을 같은 순위의 다른 표현으로 섞어 해석하지 않도록 주의합니다.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상권의 규모를 봤다면, 다음은 언제, 어떤 연령대가 많이 소비하는지 보겠습니다.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[발표 진행]</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구산역</a:t>
            </a:r>
            <a:r>
              <a:rPr lang="ko-KR" sz="1350" b="0" dirty="0">
                <a:solidFill>
                  <a:srgbClr val="101511"/>
                </a:solidFill>
                <a:latin typeface="Malgun Gothic"/>
                <a:ea typeface="Malgun Gothic"/>
                <a:cs typeface="Malgun Gothic"/>
              </a:rPr>
              <a:t> 2026 Q2 캡처의 값은 점수 87, </a:t>
            </a:r>
            <a:r>
              <a:rPr lang="ko-KR" sz="1350" b="0" dirty="0" err="1">
                <a:solidFill>
                  <a:srgbClr val="101511"/>
                </a:solidFill>
                <a:latin typeface="Malgun Gothic"/>
                <a:ea typeface="Malgun Gothic"/>
                <a:cs typeface="Malgun Gothic"/>
              </a:rPr>
              <a:t>추정매출</a:t>
            </a:r>
            <a:r>
              <a:rPr lang="ko-KR" sz="1350" b="0" dirty="0">
                <a:solidFill>
                  <a:srgbClr val="101511"/>
                </a:solidFill>
                <a:latin typeface="Malgun Gothic"/>
                <a:ea typeface="Malgun Gothic"/>
                <a:cs typeface="Malgun Gothic"/>
              </a:rPr>
              <a:t> 8.0억, 거래 18만, 성장률 +80.9%다. 코드에서 </a:t>
            </a:r>
            <a:r>
              <a:rPr lang="ko-KR" sz="1350" b="0" dirty="0" err="1">
                <a:solidFill>
                  <a:srgbClr val="101511"/>
                </a:solidFill>
                <a:latin typeface="Malgun Gothic"/>
                <a:ea typeface="Malgun Gothic"/>
                <a:cs typeface="Malgun Gothic"/>
              </a:rPr>
              <a:t>seoul_rank는</a:t>
            </a:r>
            <a:r>
              <a:rPr lang="ko-KR" sz="1350" b="0" dirty="0">
                <a:solidFill>
                  <a:srgbClr val="101511"/>
                </a:solidFill>
                <a:latin typeface="Malgun Gothic"/>
                <a:ea typeface="Malgun Gothic"/>
                <a:cs typeface="Malgun Gothic"/>
              </a:rPr>
              <a:t> 종합 순위이며 하단 상위 비율은 </a:t>
            </a:r>
            <a:r>
              <a:rPr lang="ko-KR" sz="1350" b="0" dirty="0" err="1">
                <a:solidFill>
                  <a:srgbClr val="101511"/>
                </a:solidFill>
                <a:latin typeface="Malgun Gothic"/>
                <a:ea typeface="Malgun Gothic"/>
                <a:cs typeface="Malgun Gothic"/>
              </a:rPr>
              <a:t>탭별</a:t>
            </a:r>
            <a:r>
              <a:rPr lang="ko-KR" sz="1350" b="0" dirty="0">
                <a:solidFill>
                  <a:srgbClr val="101511"/>
                </a:solidFill>
                <a:latin typeface="Malgun Gothic"/>
                <a:ea typeface="Malgun Gothic"/>
                <a:cs typeface="Malgun Gothic"/>
              </a:rPr>
              <a:t> 지표다. 캡처의 3위와 상위19%를 하나의 매출 순위로 묶어 설명하지 않는다.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준비자료</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스크린샷</a:t>
            </a:r>
            <a:r>
              <a:rPr lang="ko-KR" sz="1350" b="0" dirty="0">
                <a:solidFill>
                  <a:srgbClr val="101511"/>
                </a:solidFill>
                <a:latin typeface="Malgun Gothic"/>
                <a:ea typeface="Malgun Gothic"/>
                <a:cs typeface="Malgun Gothic"/>
              </a:rPr>
              <a:t>/상세1.png, 상세2.png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pages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district</a:t>
            </a:r>
            <a:r>
              <a:rPr lang="ko-KR" sz="1350" b="0" dirty="0">
                <a:solidFill>
                  <a:srgbClr val="101511"/>
                </a:solidFill>
                <a:latin typeface="Malgun Gothic"/>
                <a:ea typeface="Malgun Gothic"/>
                <a:cs typeface="Malgun Gothic"/>
              </a:rPr>
              <a:t>/DistrictDetailPage.tsx:629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shared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ui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Charts.tsx</a:t>
            </a:r>
            <a:endParaRPr lang="ko-K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시간대 차트는 하루를 여섯 구간으로 나누고, 어느 시간에 매출이 많이 발생했는지 보여줍니다. 구산역 예시에서는 오후 두 시부터 다섯 시 구간이 가장 큽니다.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연령대 차트는 전체 매출에서 각 연령대가 차지하는 비중입니다. 이 화면에서는 오십 대가 이십오 퍼센트로 가장 높게 나타납니다.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이 비중은 방문자 수나 동네 주민의 나이 분포와는 다릅니다. 어느 시간에 어떤 고객을 대상으로 운영할지 가설을 세우고, 실제 현장에서 확인할 단서로 활용할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요일별 차이와 종합 설명도 이어서 확인해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준비자료/스크린샷/상세2.png / frontend/src/shared/ui/Charts.tsx:TimeBarChart,AgeBarChart / backend/app/domain/analytics/schemas.py</a:t>
            </a:r>
            <a:endParaRPr lang="ko-K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요일 차트는 월요일부터 일요일까지의 매출 비중을 나란히 보여줍니다. 점선은 한 주의 평균이며, 가장 큰 요일을 강조해서 어느 날 소비가 몰리는지 쉽게 읽도록 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여기서 퍼센트 배지는 그 요일이 한 주 평균보다 얼마나 높은지를 나타냅니다. 요일의 이름보다, 실제로 월요일부터 일요일까지의 평균과 비교한 수치라는 점을 기억하면 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상세 화면의 종합 문장은 별도 요청으로 가져옵니다. Gemini가 만든 결과일 때만 AI INSIGHT라는 표시가 나오고, 서버에서 생성이나 검증에 실패하면 지표 등급으로 만든 대체 문장을 반환합니다.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차트 밑의 짧은 설명과 비교표 요약은 규칙 기반입니다. 계산한 숫자와 AI가 만든 설명을 구분해, AI가 점수 자체를 결정하는 것처럼 보이지 않도록 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한 상권의 특징을 확인했으니, 이제 후보들을 같은 화면에 놓고 비교하겠습니다.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[발표 진행]</a:t>
            </a:r>
            <a:endParaRPr lang="ko-KR"/>
          </a:p>
          <a:p>
            <a:pPr algn="l">
              <a:lnSpc>
                <a:spcPct val="120000"/>
              </a:lnSpc>
              <a:spcAft>
                <a:spcPts val="0"/>
              </a:spcAft>
            </a:pPr>
            <a:r>
              <a:rPr lang="ko-KR" sz="1350" b="0">
                <a:solidFill>
                  <a:srgbClr val="101511"/>
                </a:solidFill>
                <a:latin typeface="Malgun Gothic"/>
                <a:ea typeface="Malgun Gothic"/>
                <a:cs typeface="Malgun Gothic"/>
              </a:rPr>
              <a:t>오른쪽 캡처는 기본 지표를 먼저 읽고 AI 문장을 기다리는 상태다. 생성 완료 사례로 소개하지 않는다. 요일 차트의 “주중 평균” 문구는 실제 월~일 평균과 맞춰 정리할 부분이다. API 자체가 실패할 경우 프론트의 생성 중 안내가 남을 수 있으므로 모든 장애를 자동 복구한다고 말하지 않는다.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준비자료/스크린샷/상세2.png / 준비자료/스크린샷/상세1.png / frontend/src/pages/district/DistrictDetailPage.tsx:87,375 / frontend/src/shared/ui/Charts.tsx:DayBarChart / backend/app/domain/analytics/service.py</a:t>
            </a:r>
            <a:endParaRPr lang="ko-K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비교 화면에서는 저장한 후보 중 세 개를 한 번에 봅니다. 이 예시는 같은 업종과 분기의 구산역, 봉은사역, 마포역을 나란히 놓은 모습입니다.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상단에는 아직 표에 보이지 않는 후보가 남아 있습니다. 표의 휴지통으로 한 열을 숨기면 다른 후보를 불러와 비교 대상을 바꿀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여기서 휴지통과 선택 초기화는 표에 보이는 열을 비우는 기능입니다. 탐색 화면의 트레이에서 후보 자체를 지우는 동작과는 구분됩니다.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데이터를 기다리는 동안에는 표의 자리를 유지하면서 회색 막대를 보여줍니다. 응답은 왔지만 해당 상권의 데이터가 없으면, 로딩 상태와 구분해 안내합니다.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먼저 표의 위쪽에서 규모와 변화, 점포 수를 비교해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준비자료/스크린샷/비교.png / frontend/src/pages/compare/ComparePage.tsx:44,101,117 / frontend/src/shared/lib/store.ts / https://github.com/team-ttobagi/seoul-data-analysis/wiki/기능-리스트</a:t>
            </a:r>
            <a:endParaRPr lang="ko-K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표의 위쪽에는 탐색 점수와 매출, 거래건수, 성장률이 있습니다. 점수 하나로 끝내지 않고 어떤 수치가 서로 다른지 확인하는 구성입니다.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예를 들어 봉은사역은 이 세 후보 중 매출 규모가 가장 크지만, 종합 탐색 점수는 구산역이 더 높습니다. 성장과 거래, 경쟁 여건을 함께 반영하기 때문에 두 결과가 같을 필요는 없습니다.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동일 업종 점포 수에서는 현재 몇 개의 점포가 있는지, 전분기보다 늘거나 줄었는지를 함께 봅니다. 경쟁 여건 등급도 참고하되, 점포 수만으로 실제 현장 경쟁을 단정하지는 않습니다.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모든 후보는 같은 업종과 분기로 비교합니다. 서로 다른 시점의 수치를 섞지 않는 것이 비교의 기본 조건입니다.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다음은 매출의 크기보다 소비 특성이 어떻게 다른지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[발표 진행]</a:t>
            </a:r>
            <a:endParaRPr lang="ko-KR"/>
          </a:p>
          <a:p>
            <a:pPr algn="l">
              <a:lnSpc>
                <a:spcPct val="120000"/>
              </a:lnSpc>
              <a:spcAft>
                <a:spcPts val="0"/>
              </a:spcAft>
            </a:pPr>
            <a:r>
              <a:rPr lang="ko-KR" sz="1350" b="0">
                <a:solidFill>
                  <a:srgbClr val="101511"/>
                </a:solidFill>
                <a:latin typeface="Malgun Gothic"/>
                <a:ea typeface="Malgun Gothic"/>
                <a:cs typeface="Malgun Gothic"/>
              </a:rPr>
              <a:t>캡처는 2026 Q2. 구산역/봉은사역/마포역 점수87/84/83, 매출8.0억/10.7억/8.8억, 점포11/29/31개. 수치를 모두 읽지 말고 크기와 점수가 달라지는 예 하나만 짚는다. 현재 비교표 경쟁 배지색은 상세3색체계와 완전히 통일되어 있지 않으므로 색상통일완료라고 말하지 않는다.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준비자료/스크린샷/비교.png / frontend/src/pages/compare/ComparePage.tsx / backend/app/domain/analytics/schemas.py</a:t>
            </a:r>
            <a:endParaRPr lang="ko-K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표의 아래쪽은 주요 소비 연령, 소비가 몰리는 시간대, 매출이 강한 요일을 비교합니다. 후보의 규모뿐 아니라 운영 방식과 맞는지도 살펴볼 수 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이 예시에서 </a:t>
            </a:r>
            <a:r>
              <a:rPr lang="ko-KR" sz="1350" b="0" dirty="0" err="1">
                <a:solidFill>
                  <a:srgbClr val="101511"/>
                </a:solidFill>
                <a:latin typeface="Malgun Gothic"/>
                <a:ea typeface="Malgun Gothic"/>
                <a:cs typeface="Malgun Gothic"/>
              </a:rPr>
              <a:t>구산역은</a:t>
            </a:r>
            <a:r>
              <a:rPr lang="ko-KR" sz="1350" b="0" dirty="0">
                <a:solidFill>
                  <a:srgbClr val="101511"/>
                </a:solidFill>
                <a:latin typeface="Malgun Gothic"/>
                <a:ea typeface="Malgun Gothic"/>
                <a:cs typeface="Malgun Gothic"/>
              </a:rPr>
              <a:t> 오십 대와 오후 시간대의 비중이 큽니다. </a:t>
            </a:r>
            <a:r>
              <a:rPr lang="ko-KR" sz="1350" b="0" dirty="0" err="1">
                <a:solidFill>
                  <a:srgbClr val="101511"/>
                </a:solidFill>
                <a:latin typeface="Malgun Gothic"/>
                <a:ea typeface="Malgun Gothic"/>
                <a:cs typeface="Malgun Gothic"/>
              </a:rPr>
              <a:t>봉은사역과</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마포역은</a:t>
            </a:r>
            <a:r>
              <a:rPr lang="ko-KR" sz="1350" b="0" dirty="0">
                <a:solidFill>
                  <a:srgbClr val="101511"/>
                </a:solidFill>
                <a:latin typeface="Malgun Gothic"/>
                <a:ea typeface="Malgun Gothic"/>
                <a:cs typeface="Malgun Gothic"/>
              </a:rPr>
              <a:t> 삼십 대와 점심 시간대가 두드러져, 같은 </a:t>
            </a:r>
            <a:r>
              <a:rPr lang="ko-KR" sz="1350" b="0" dirty="0" err="1">
                <a:solidFill>
                  <a:srgbClr val="101511"/>
                </a:solidFill>
                <a:latin typeface="Malgun Gothic"/>
                <a:ea typeface="Malgun Gothic"/>
                <a:cs typeface="Malgun Gothic"/>
              </a:rPr>
              <a:t>커피·음료</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업종이어도</a:t>
            </a:r>
            <a:r>
              <a:rPr lang="ko-KR" sz="1350" b="0" dirty="0">
                <a:solidFill>
                  <a:srgbClr val="101511"/>
                </a:solidFill>
                <a:latin typeface="Malgun Gothic"/>
                <a:ea typeface="Malgun Gothic"/>
                <a:cs typeface="Malgun Gothic"/>
              </a:rPr>
              <a:t> 소비 모습이 다릅니다.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요약을 읽다가 근거를 더 확인하고 싶으면 각 열의 심층 보기로 상세 화면을 다시 열 수 있습니다. 이렇게 탐색과 상세, 비교를 오가며 현장에 갈 후보를 줄입니다.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임대료와 실제 동선, 매장 상태까지 이 화면이 대신 확인해 주지는 않습니다. 최종 선택 전에 직접 확인할 일을 정리하는 데에 활용하는 것이 저희 서비스의 목적입니다.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br>
              <a:rPr lang="en-US" altLang="ko-KR" sz="1350" b="0" dirty="0">
                <a:solidFill>
                  <a:srgbClr val="101511"/>
                </a:solidFill>
                <a:latin typeface="Malgun Gothic"/>
                <a:ea typeface="Malgun Gothic"/>
                <a:cs typeface="Malgun Gothic"/>
              </a:rPr>
            </a:br>
            <a:r>
              <a:rPr lang="ko-KR" altLang="en-US" sz="1350" b="0" dirty="0">
                <a:solidFill>
                  <a:srgbClr val="101511"/>
                </a:solidFill>
                <a:latin typeface="Malgun Gothic"/>
                <a:ea typeface="Malgun Gothic"/>
                <a:cs typeface="Malgun Gothic"/>
              </a:rPr>
              <a:t>설계와 구현</a:t>
            </a:r>
            <a:endParaRPr lang="ko-K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18000"/>
              </a:lnSpc>
              <a:spcAft>
                <a:spcPts val="0"/>
              </a:spcAft>
            </a:pPr>
            <a:r>
              <a:rPr lang="ko-KR" sz="1350" b="0" dirty="0">
                <a:solidFill>
                  <a:srgbClr val="000000"/>
                </a:solidFill>
                <a:latin typeface="Malgun Gothic"/>
                <a:ea typeface="Malgun Gothic"/>
                <a:cs typeface="Malgun Gothic"/>
              </a:rPr>
              <a:t>[발표]</a:t>
            </a:r>
            <a:endParaRPr lang="ko-KR" dirty="0"/>
          </a:p>
          <a:p>
            <a:pPr algn="l">
              <a:lnSpc>
                <a:spcPct val="118000"/>
              </a:lnSpc>
              <a:spcAft>
                <a:spcPts val="0"/>
              </a:spcAft>
            </a:pPr>
            <a:r>
              <a:rPr lang="ko-KR" altLang="en-US" sz="1350" b="0" dirty="0">
                <a:solidFill>
                  <a:srgbClr val="000000"/>
                </a:solidFill>
                <a:latin typeface="Malgun Gothic"/>
                <a:ea typeface="Malgun Gothic"/>
              </a:rPr>
              <a:t>이번 장에서는 설계와 구현 내용을 설명하겠습니다</a:t>
            </a:r>
            <a:r>
              <a:rPr lang="en-US" altLang="ko-KR" sz="1350" b="0" dirty="0">
                <a:solidFill>
                  <a:srgbClr val="000000"/>
                </a:solidFill>
                <a:latin typeface="Malgun Gothic"/>
                <a:ea typeface="Malgun Gothic"/>
              </a:rPr>
              <a:t>.</a:t>
            </a:r>
            <a:endParaRPr lang="ko-KR" dirty="0"/>
          </a:p>
          <a:p>
            <a:pPr algn="l">
              <a:lnSpc>
                <a:spcPct val="118000"/>
              </a:lnSpc>
              <a:spcAft>
                <a:spcPts val="0"/>
              </a:spcAft>
            </a:pPr>
            <a:endParaRPr lang="ko-KR" dirty="0"/>
          </a:p>
          <a:p>
            <a:pPr algn="l">
              <a:lnSpc>
                <a:spcPct val="118000"/>
              </a:lnSpc>
              <a:spcAft>
                <a:spcPts val="0"/>
              </a:spcAft>
            </a:pPr>
            <a:r>
              <a:rPr lang="ko-KR" sz="1350" b="0" dirty="0">
                <a:solidFill>
                  <a:srgbClr val="000000"/>
                </a:solidFill>
                <a:latin typeface="Malgun Gothic"/>
                <a:ea typeface="Malgun Gothic"/>
                <a:cs typeface="Malgun Gothic"/>
              </a:rPr>
              <a:t>[참고 자료]</a:t>
            </a:r>
            <a:endParaRPr lang="ko-KR" dirty="0"/>
          </a:p>
          <a:p>
            <a:pPr algn="l">
              <a:lnSpc>
                <a:spcPct val="118000"/>
              </a:lnSpc>
              <a:spcAft>
                <a:spcPts val="0"/>
              </a:spcAft>
            </a:pPr>
            <a:r>
              <a:rPr lang="ko-KR" sz="1350" b="0" dirty="0" err="1">
                <a:solidFill>
                  <a:srgbClr val="000000"/>
                </a:solidFill>
                <a:latin typeface="Malgun Gothic"/>
                <a:ea typeface="Malgun Gothic"/>
                <a:cs typeface="Malgun Gothic"/>
              </a:rPr>
              <a:t>https</a:t>
            </a:r>
            <a:r>
              <a:rPr lang="ko-KR" sz="1350" b="0" dirty="0">
                <a:solidFill>
                  <a:srgbClr val="000000"/>
                </a:solidFill>
                <a:latin typeface="Malgun Gothic"/>
                <a:ea typeface="Malgun Gothic"/>
                <a:cs typeface="Malgun Gothic"/>
              </a:rPr>
              <a:t>://</a:t>
            </a:r>
            <a:r>
              <a:rPr lang="ko-KR" sz="1350" b="0" dirty="0" err="1">
                <a:solidFill>
                  <a:srgbClr val="000000"/>
                </a:solidFill>
                <a:latin typeface="Malgun Gothic"/>
                <a:ea typeface="Malgun Gothic"/>
                <a:cs typeface="Malgun Gothic"/>
              </a:rPr>
              <a:t>github.com</a:t>
            </a:r>
            <a:r>
              <a:rPr lang="ko-KR" sz="1350" b="0" dirty="0">
                <a:solidFill>
                  <a:srgbClr val="000000"/>
                </a:solidFill>
                <a:latin typeface="Malgun Gothic"/>
                <a:ea typeface="Malgun Gothic"/>
                <a:cs typeface="Malgun Gothic"/>
              </a:rPr>
              <a:t>/</a:t>
            </a:r>
            <a:r>
              <a:rPr lang="ko-KR" sz="1350" b="0" dirty="0" err="1">
                <a:solidFill>
                  <a:srgbClr val="000000"/>
                </a:solidFill>
                <a:latin typeface="Malgun Gothic"/>
                <a:ea typeface="Malgun Gothic"/>
                <a:cs typeface="Malgun Gothic"/>
              </a:rPr>
              <a:t>team-ttobagi</a:t>
            </a:r>
            <a:r>
              <a:rPr lang="ko-KR" sz="1350" b="0" dirty="0">
                <a:solidFill>
                  <a:srgbClr val="000000"/>
                </a:solidFill>
                <a:latin typeface="Malgun Gothic"/>
                <a:ea typeface="Malgun Gothic"/>
                <a:cs typeface="Malgun Gothic"/>
              </a:rPr>
              <a:t>/</a:t>
            </a:r>
            <a:r>
              <a:rPr lang="ko-KR" sz="1350" b="0" dirty="0" err="1">
                <a:solidFill>
                  <a:srgbClr val="000000"/>
                </a:solidFill>
                <a:latin typeface="Malgun Gothic"/>
                <a:ea typeface="Malgun Gothic"/>
                <a:cs typeface="Malgun Gothic"/>
              </a:rPr>
              <a:t>seoul-data-analysis</a:t>
            </a:r>
            <a:r>
              <a:rPr lang="ko-KR" sz="1350" b="0" dirty="0">
                <a:solidFill>
                  <a:srgbClr val="000000"/>
                </a:solidFill>
                <a:latin typeface="Malgun Gothic"/>
                <a:ea typeface="Malgun Gothic"/>
                <a:cs typeface="Malgun Gothic"/>
              </a:rPr>
              <a:t>/</a:t>
            </a:r>
            <a:r>
              <a:rPr lang="ko-KR" sz="1350" b="0" dirty="0" err="1">
                <a:solidFill>
                  <a:srgbClr val="000000"/>
                </a:solidFill>
                <a:latin typeface="Malgun Gothic"/>
                <a:ea typeface="Malgun Gothic"/>
                <a:cs typeface="Malgun Gothic"/>
              </a:rPr>
              <a:t>wiki</a:t>
            </a:r>
            <a:r>
              <a:rPr lang="ko-KR" sz="1350" b="0" dirty="0">
                <a:solidFill>
                  <a:srgbClr val="000000"/>
                </a:solidFill>
                <a:latin typeface="Malgun Gothic"/>
                <a:ea typeface="Malgun Gothic"/>
                <a:cs typeface="Malgun Gothic"/>
              </a:rPr>
              <a:t>/ARCHITECTURE</a:t>
            </a:r>
            <a:endParaRPr lang="ko-K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rPr>
              <a:t>먼저 시스템 아키텍처를 살펴보겠습니다</a:t>
            </a:r>
            <a:r>
              <a:rPr lang="en-US" altLang="ko-KR" sz="1350" b="0" dirty="0">
                <a:solidFill>
                  <a:srgbClr val="101511"/>
                </a:solidFill>
                <a:latin typeface="Malgun Gothic"/>
                <a:ea typeface="Malgun Gothic"/>
              </a:rPr>
              <a:t>.</a:t>
            </a:r>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가운데의 </a:t>
            </a:r>
            <a:r>
              <a:rPr lang="ko-KR" sz="1350" b="0" dirty="0" err="1">
                <a:solidFill>
                  <a:srgbClr val="101511"/>
                </a:solidFill>
                <a:latin typeface="Malgun Gothic"/>
                <a:ea typeface="Malgun Gothic"/>
                <a:cs typeface="Malgun Gothic"/>
              </a:rPr>
              <a:t>백엔드를</a:t>
            </a:r>
            <a:r>
              <a:rPr lang="ko-KR" sz="1350" b="0" dirty="0">
                <a:solidFill>
                  <a:srgbClr val="101511"/>
                </a:solidFill>
                <a:latin typeface="Malgun Gothic"/>
                <a:ea typeface="Malgun Gothic"/>
                <a:cs typeface="Malgun Gothic"/>
              </a:rPr>
              <a:t> 중심으로 보시면 이해하기 쉽습니다. 사용자는 </a:t>
            </a:r>
            <a:r>
              <a:rPr lang="ko-KR" altLang="en-US" sz="1350" b="0" dirty="0">
                <a:solidFill>
                  <a:srgbClr val="101511"/>
                </a:solidFill>
                <a:latin typeface="Malgun Gothic"/>
                <a:ea typeface="Malgun Gothic"/>
                <a:cs typeface="Malgun Gothic"/>
              </a:rPr>
              <a:t>웹</a:t>
            </a:r>
            <a:r>
              <a:rPr lang="ko-KR" sz="1350" b="0" dirty="0">
                <a:solidFill>
                  <a:srgbClr val="101511"/>
                </a:solidFill>
                <a:latin typeface="Malgun Gothic"/>
                <a:ea typeface="Malgun Gothic"/>
                <a:cs typeface="Malgun Gothic"/>
              </a:rPr>
              <a:t>브라우저에서 </a:t>
            </a:r>
            <a:r>
              <a:rPr lang="ko-KR" sz="1350" b="0" dirty="0" err="1">
                <a:solidFill>
                  <a:srgbClr val="101511"/>
                </a:solidFill>
                <a:latin typeface="Malgun Gothic"/>
                <a:ea typeface="Malgun Gothic"/>
                <a:cs typeface="Malgun Gothic"/>
              </a:rPr>
              <a:t>백엔드에</a:t>
            </a:r>
            <a:r>
              <a:rPr lang="en-US" altLang="ko-KR" sz="1350" b="0" dirty="0">
                <a:solidFill>
                  <a:srgbClr val="101511"/>
                </a:solidFill>
                <a:latin typeface="Malgun Gothic"/>
                <a:ea typeface="Malgun Gothic"/>
                <a:cs typeface="Malgun Gothic"/>
              </a:rPr>
              <a:t>,,,,</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필요한 </a:t>
            </a:r>
            <a:r>
              <a:rPr lang="en-US" altLang="ko-KR" sz="1350" b="0" dirty="0">
                <a:solidFill>
                  <a:srgbClr val="101511"/>
                </a:solidFill>
                <a:latin typeface="Malgun Gothic"/>
                <a:ea typeface="Malgun Gothic"/>
                <a:cs typeface="Malgun Gothic"/>
              </a:rPr>
              <a:t>API</a:t>
            </a:r>
            <a:r>
              <a:rPr lang="ko-KR" altLang="en-US" sz="1350" b="0" dirty="0" err="1">
                <a:solidFill>
                  <a:srgbClr val="101511"/>
                </a:solidFill>
                <a:latin typeface="Malgun Gothic"/>
                <a:ea typeface="Malgun Gothic"/>
                <a:cs typeface="Malgun Gothic"/>
              </a:rPr>
              <a:t>를</a:t>
            </a:r>
            <a:r>
              <a:rPr lang="ko-KR" altLang="en-US" sz="1350" b="0" dirty="0">
                <a:solidFill>
                  <a:srgbClr val="101511"/>
                </a:solidFill>
                <a:latin typeface="Malgun Gothic"/>
                <a:ea typeface="Malgun Gothic"/>
                <a:cs typeface="Malgun Gothic"/>
              </a:rPr>
              <a:t> 호출</a:t>
            </a:r>
            <a:r>
              <a:rPr lang="ko-KR" sz="1350" b="0" dirty="0">
                <a:solidFill>
                  <a:srgbClr val="101511"/>
                </a:solidFill>
                <a:latin typeface="Malgun Gothic"/>
                <a:ea typeface="Malgun Gothic"/>
                <a:cs typeface="Malgun Gothic"/>
              </a:rPr>
              <a:t>합니다. </a:t>
            </a:r>
            <a:r>
              <a:rPr lang="ko-KR" sz="1350" b="0" dirty="0" err="1">
                <a:solidFill>
                  <a:srgbClr val="101511"/>
                </a:solidFill>
                <a:latin typeface="Malgun Gothic"/>
                <a:ea typeface="Malgun Gothic"/>
                <a:cs typeface="Malgun Gothic"/>
              </a:rPr>
              <a:t>백엔드는</a:t>
            </a:r>
            <a:r>
              <a:rPr lang="ko-KR" sz="1350" b="0" dirty="0">
                <a:solidFill>
                  <a:srgbClr val="101511"/>
                </a:solidFill>
                <a:latin typeface="Malgun Gothic"/>
                <a:ea typeface="Malgun Gothic"/>
                <a:cs typeface="Malgun Gothic"/>
              </a:rPr>
              <a:t> 데이터베이스에 저장</a:t>
            </a:r>
            <a:r>
              <a:rPr lang="ko-KR" altLang="en-US" sz="1350" b="0" dirty="0">
                <a:solidFill>
                  <a:srgbClr val="101511"/>
                </a:solidFill>
                <a:latin typeface="Malgun Gothic"/>
                <a:ea typeface="Malgun Gothic"/>
                <a:cs typeface="Malgun Gothic"/>
              </a:rPr>
              <a:t>된</a:t>
            </a:r>
            <a:r>
              <a:rPr lang="ko-KR" sz="1350" b="0" dirty="0">
                <a:solidFill>
                  <a:srgbClr val="101511"/>
                </a:solidFill>
                <a:latin typeface="Malgun Gothic"/>
                <a:ea typeface="Malgun Gothic"/>
                <a:cs typeface="Malgun Gothic"/>
              </a:rPr>
              <a:t> 매출과 점포 정보를 읽고 점수를 계산합니다.</a:t>
            </a:r>
            <a:endParaRPr lang="ko-KR" dirty="0"/>
          </a:p>
          <a:p>
            <a:pPr algn="l">
              <a:lnSpc>
                <a:spcPct val="120000"/>
              </a:lnSpc>
              <a:spcAft>
                <a:spcPts val="0"/>
              </a:spcAft>
            </a:pP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프론트엔드는</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렌더의</a:t>
            </a:r>
            <a:r>
              <a:rPr lang="ko-KR" sz="1350" b="0" dirty="0">
                <a:solidFill>
                  <a:srgbClr val="101511"/>
                </a:solidFill>
                <a:latin typeface="Malgun Gothic"/>
                <a:ea typeface="Malgun Gothic"/>
                <a:cs typeface="Malgun Gothic"/>
              </a:rPr>
              <a:t> 정적 사이트로 배포했습니다. 미리 만들어 둔 화면 파일을 전달하면 사용자의 브라우저가 실행합니다. </a:t>
            </a:r>
            <a:r>
              <a:rPr lang="ko-KR" sz="1350" b="0" dirty="0" err="1">
                <a:solidFill>
                  <a:srgbClr val="101511"/>
                </a:solidFill>
                <a:latin typeface="Malgun Gothic"/>
                <a:ea typeface="Malgun Gothic"/>
                <a:cs typeface="Malgun Gothic"/>
              </a:rPr>
              <a:t>파이썬</a:t>
            </a:r>
            <a:r>
              <a:rPr lang="ko-KR" altLang="en-US" sz="1350" b="0" dirty="0" err="1">
                <a:solidFill>
                  <a:srgbClr val="101511"/>
                </a:solidFill>
                <a:latin typeface="Malgun Gothic"/>
                <a:ea typeface="Malgun Gothic"/>
                <a:cs typeface="Malgun Gothic"/>
              </a:rPr>
              <a:t>기반의</a:t>
            </a:r>
            <a:r>
              <a:rPr lang="ko-KR" altLang="en-US" sz="1350" b="0" dirty="0">
                <a:solidFill>
                  <a:srgbClr val="101511"/>
                </a:solidFill>
                <a:latin typeface="Malgun Gothic"/>
                <a:ea typeface="Malgun Gothic"/>
                <a:cs typeface="Malgun Gothic"/>
              </a:rPr>
              <a:t> </a:t>
            </a:r>
            <a:r>
              <a:rPr lang="en-US" altLang="ko-KR" sz="1350" b="0" dirty="0" err="1">
                <a:solidFill>
                  <a:srgbClr val="101511"/>
                </a:solidFill>
                <a:latin typeface="Malgun Gothic"/>
                <a:ea typeface="Malgun Gothic"/>
                <a:cs typeface="Malgun Gothic"/>
              </a:rPr>
              <a:t>FastAPI</a:t>
            </a:r>
            <a:r>
              <a:rPr lang="ko-KR" sz="1350" b="0" dirty="0">
                <a:solidFill>
                  <a:srgbClr val="101511"/>
                </a:solidFill>
                <a:latin typeface="Malgun Gothic"/>
                <a:ea typeface="Malgun Gothic"/>
                <a:cs typeface="Malgun Gothic"/>
              </a:rPr>
              <a:t>로 만든 </a:t>
            </a:r>
            <a:r>
              <a:rPr lang="ko-KR" sz="1350" b="0" dirty="0" err="1">
                <a:solidFill>
                  <a:srgbClr val="101511"/>
                </a:solidFill>
                <a:latin typeface="Malgun Gothic"/>
                <a:ea typeface="Malgun Gothic"/>
                <a:cs typeface="Malgun Gothic"/>
              </a:rPr>
              <a:t>백엔드는</a:t>
            </a:r>
            <a:r>
              <a:rPr lang="ko-KR" sz="1350" b="0" dirty="0">
                <a:solidFill>
                  <a:srgbClr val="101511"/>
                </a:solidFill>
                <a:latin typeface="Malgun Gothic"/>
                <a:ea typeface="Malgun Gothic"/>
                <a:cs typeface="Malgun Gothic"/>
              </a:rPr>
              <a:t> </a:t>
            </a:r>
            <a:r>
              <a:rPr lang="ko-KR" altLang="en-US" sz="1350" b="0" dirty="0">
                <a:solidFill>
                  <a:srgbClr val="101511"/>
                </a:solidFill>
                <a:latin typeface="Malgun Gothic"/>
                <a:ea typeface="Malgun Gothic"/>
                <a:cs typeface="Malgun Gothic"/>
              </a:rPr>
              <a:t>클라이언트로부터 오는 </a:t>
            </a:r>
            <a:r>
              <a:rPr lang="ko-KR" sz="1350" b="0" dirty="0">
                <a:solidFill>
                  <a:srgbClr val="101511"/>
                </a:solidFill>
                <a:latin typeface="Malgun Gothic"/>
                <a:ea typeface="Malgun Gothic"/>
                <a:cs typeface="Malgun Gothic"/>
              </a:rPr>
              <a:t>웹 서비스 요청을 처리합니다.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위쪽 </a:t>
            </a:r>
            <a:r>
              <a:rPr lang="ko-KR" sz="1350" b="0" dirty="0" err="1">
                <a:solidFill>
                  <a:srgbClr val="101511"/>
                </a:solidFill>
                <a:latin typeface="Malgun Gothic"/>
                <a:ea typeface="Malgun Gothic"/>
                <a:cs typeface="Malgun Gothic"/>
              </a:rPr>
              <a:t>제미나이는</a:t>
            </a:r>
            <a:r>
              <a:rPr lang="ko-KR" sz="1350" b="0" dirty="0">
                <a:solidFill>
                  <a:srgbClr val="101511"/>
                </a:solidFill>
                <a:latin typeface="Malgun Gothic"/>
                <a:ea typeface="Malgun Gothic"/>
                <a:cs typeface="Malgun Gothic"/>
              </a:rPr>
              <a:t> 계산 결과</a:t>
            </a:r>
            <a:r>
              <a:rPr lang="ko-KR" altLang="en-US" sz="1350" b="0" dirty="0">
                <a:solidFill>
                  <a:srgbClr val="101511"/>
                </a:solidFill>
                <a:latin typeface="Malgun Gothic"/>
                <a:ea typeface="Malgun Gothic"/>
                <a:cs typeface="Malgun Gothic"/>
              </a:rPr>
              <a:t>를 분석하여 </a:t>
            </a:r>
            <a:r>
              <a:rPr lang="en-US" altLang="ko-KR" sz="1350" b="0" dirty="0" err="1">
                <a:solidFill>
                  <a:srgbClr val="101511"/>
                </a:solidFill>
                <a:latin typeface="Malgun Gothic"/>
                <a:ea typeface="Malgun Gothic"/>
                <a:cs typeface="Malgun Gothic"/>
              </a:rPr>
              <a:t>ai</a:t>
            </a:r>
            <a:r>
              <a:rPr lang="en-US" altLang="ko-KR" sz="1350" b="0" dirty="0">
                <a:solidFill>
                  <a:srgbClr val="101511"/>
                </a:solidFill>
                <a:latin typeface="Malgun Gothic"/>
                <a:ea typeface="Malgun Gothic"/>
                <a:cs typeface="Malgun Gothic"/>
              </a:rPr>
              <a:t> insight</a:t>
            </a:r>
            <a:r>
              <a:rPr lang="ko-KR" altLang="en-US" sz="1350" b="0" dirty="0" err="1">
                <a:solidFill>
                  <a:srgbClr val="101511"/>
                </a:solidFill>
                <a:latin typeface="Malgun Gothic"/>
                <a:ea typeface="Malgun Gothic"/>
                <a:cs typeface="Malgun Gothic"/>
              </a:rPr>
              <a:t>를</a:t>
            </a:r>
            <a:r>
              <a:rPr lang="ko-KR" altLang="en-US" sz="1350" b="0" dirty="0">
                <a:solidFill>
                  <a:srgbClr val="101511"/>
                </a:solidFill>
                <a:latin typeface="Malgun Gothic"/>
                <a:ea typeface="Malgun Gothic"/>
                <a:cs typeface="Malgun Gothic"/>
              </a:rPr>
              <a:t> 제공</a:t>
            </a:r>
            <a:r>
              <a:rPr lang="ko-KR" sz="1350" b="0" dirty="0">
                <a:solidFill>
                  <a:srgbClr val="101511"/>
                </a:solidFill>
                <a:latin typeface="Malgun Gothic"/>
                <a:ea typeface="Malgun Gothic"/>
                <a:cs typeface="Malgun Gothic"/>
              </a:rPr>
              <a:t>하는 역할입니다. 점수나 순위 자체를 만드는 일은 </a:t>
            </a:r>
            <a:r>
              <a:rPr lang="ko-KR" sz="1350" b="0" dirty="0" err="1">
                <a:solidFill>
                  <a:srgbClr val="101511"/>
                </a:solidFill>
                <a:latin typeface="Malgun Gothic"/>
                <a:ea typeface="Malgun Gothic"/>
                <a:cs typeface="Malgun Gothic"/>
              </a:rPr>
              <a:t>백엔드가</a:t>
            </a:r>
            <a:r>
              <a:rPr lang="ko-KR" sz="1350" b="0" dirty="0">
                <a:solidFill>
                  <a:srgbClr val="101511"/>
                </a:solidFill>
                <a:latin typeface="Malgun Gothic"/>
                <a:ea typeface="Malgun Gothic"/>
                <a:cs typeface="Malgun Gothic"/>
              </a:rPr>
              <a:t> 담당합니다. AI 설명을 </a:t>
            </a:r>
            <a:r>
              <a:rPr lang="ko-KR" altLang="en-US" sz="1350" b="0" dirty="0">
                <a:solidFill>
                  <a:srgbClr val="101511"/>
                </a:solidFill>
                <a:latin typeface="Malgun Gothic"/>
                <a:ea typeface="Malgun Gothic"/>
                <a:cs typeface="Malgun Gothic"/>
              </a:rPr>
              <a:t>별도로</a:t>
            </a:r>
            <a:r>
              <a:rPr lang="ko-KR" sz="1350" b="0" dirty="0">
                <a:solidFill>
                  <a:srgbClr val="101511"/>
                </a:solidFill>
                <a:latin typeface="Malgun Gothic"/>
                <a:ea typeface="Malgun Gothic"/>
                <a:cs typeface="Malgun Gothic"/>
              </a:rPr>
              <a:t> 요청하기 때문에</a:t>
            </a:r>
            <a:r>
              <a:rPr lang="ko-KR" altLang="en-US" sz="1350" b="0" dirty="0">
                <a:solidFill>
                  <a:srgbClr val="101511"/>
                </a:solidFill>
                <a:latin typeface="Malgun Gothic"/>
                <a:ea typeface="Malgun Gothic"/>
                <a:cs typeface="Malgun Gothic"/>
              </a:rPr>
              <a:t> </a:t>
            </a:r>
            <a:r>
              <a:rPr lang="en-US" altLang="ko-KR" sz="1350" b="0" dirty="0">
                <a:solidFill>
                  <a:srgbClr val="101511"/>
                </a:solidFill>
                <a:latin typeface="Malgun Gothic"/>
                <a:ea typeface="Malgun Gothic"/>
                <a:cs typeface="Malgun Gothic"/>
              </a:rPr>
              <a:t>Ai</a:t>
            </a:r>
            <a:r>
              <a:rPr lang="ko-KR" altLang="en-US" sz="1350" b="0" dirty="0">
                <a:solidFill>
                  <a:srgbClr val="101511"/>
                </a:solidFill>
                <a:latin typeface="Malgun Gothic"/>
                <a:ea typeface="Malgun Gothic"/>
                <a:cs typeface="Malgun Gothic"/>
              </a:rPr>
              <a:t>응답을 기다리지 않고</a:t>
            </a:r>
            <a:r>
              <a:rPr lang="ko-KR" sz="1350" b="0" dirty="0">
                <a:solidFill>
                  <a:srgbClr val="101511"/>
                </a:solidFill>
                <a:latin typeface="Malgun Gothic"/>
                <a:ea typeface="Malgun Gothic"/>
                <a:cs typeface="Malgun Gothic"/>
              </a:rPr>
              <a:t> 기본 지표</a:t>
            </a:r>
            <a:r>
              <a:rPr lang="ko-KR" altLang="en-US" sz="1350" b="0" dirty="0">
                <a:solidFill>
                  <a:srgbClr val="101511"/>
                </a:solidFill>
                <a:latin typeface="Malgun Gothic"/>
                <a:ea typeface="Malgun Gothic"/>
                <a:cs typeface="Malgun Gothic"/>
              </a:rPr>
              <a:t>를</a:t>
            </a:r>
            <a:r>
              <a:rPr lang="ko-KR" sz="1350" b="0" dirty="0">
                <a:solidFill>
                  <a:srgbClr val="101511"/>
                </a:solidFill>
                <a:latin typeface="Malgun Gothic"/>
                <a:ea typeface="Malgun Gothic"/>
                <a:cs typeface="Malgun Gothic"/>
              </a:rPr>
              <a:t> 먼저 확인할 수 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아래쪽 데이터 </a:t>
            </a:r>
            <a:r>
              <a:rPr lang="ko-KR" altLang="en-US" sz="1350" b="0" dirty="0">
                <a:solidFill>
                  <a:srgbClr val="101511"/>
                </a:solidFill>
                <a:latin typeface="Malgun Gothic"/>
                <a:ea typeface="Malgun Gothic"/>
                <a:cs typeface="Malgun Gothic"/>
              </a:rPr>
              <a:t>수집 과정은 뒷부분에서 자세히 </a:t>
            </a:r>
            <a:r>
              <a:rPr lang="ko-KR" altLang="en-US" sz="1350" b="0" dirty="0" err="1">
                <a:solidFill>
                  <a:srgbClr val="101511"/>
                </a:solidFill>
                <a:latin typeface="Malgun Gothic"/>
                <a:ea typeface="Malgun Gothic"/>
                <a:cs typeface="Malgun Gothic"/>
              </a:rPr>
              <a:t>설명드리겠</a:t>
            </a:r>
            <a:r>
              <a:rPr lang="ko-KR" sz="1350" b="0" dirty="0" err="1">
                <a:solidFill>
                  <a:srgbClr val="101511"/>
                </a:solidFill>
                <a:latin typeface="Malgun Gothic"/>
                <a:ea typeface="Malgun Gothic"/>
                <a:cs typeface="Malgun Gothic"/>
              </a:rPr>
              <a:t>니다</a:t>
            </a:r>
            <a:r>
              <a:rPr lang="ko-KR" sz="1350" b="0" dirty="0">
                <a:solidFill>
                  <a:srgbClr val="101511"/>
                </a:solidFill>
                <a:latin typeface="Malgun Gothic"/>
                <a:ea typeface="Malgun Gothic"/>
                <a:cs typeface="Malgun Gothic"/>
              </a:rPr>
              <a:t>. </a:t>
            </a:r>
            <a:endParaRPr lang="en-US" altLang="ko-KR" sz="1350" b="0" dirty="0">
              <a:solidFill>
                <a:srgbClr val="101511"/>
              </a:solidFill>
              <a:latin typeface="Malgun Gothic"/>
              <a:ea typeface="Malgun Gothic"/>
              <a:cs typeface="Malgun Gothic"/>
            </a:endParaRPr>
          </a:p>
          <a:p>
            <a:endParaRPr lang="en-US" altLang="ko-KR" sz="1100" b="1" i="0" u="none" strike="noStrike" cap="none" spc="0" dirty="0">
              <a:solidFill>
                <a:srgbClr val="000000"/>
              </a:solidFill>
              <a:effectLst/>
              <a:latin typeface="Arial"/>
              <a:ea typeface="Arial"/>
              <a:cs typeface="Arial"/>
              <a:sym typeface="Arial"/>
            </a:endParaRPr>
          </a:p>
          <a:p>
            <a:r>
              <a:rPr lang="en-US" altLang="ko-KR" sz="1100" b="1" i="0" u="none" strike="noStrike" cap="none" spc="0" dirty="0">
                <a:solidFill>
                  <a:srgbClr val="000000"/>
                </a:solidFill>
                <a:effectLst/>
                <a:latin typeface="Arial"/>
                <a:ea typeface="Arial"/>
                <a:cs typeface="Arial"/>
                <a:sym typeface="Arial"/>
              </a:rPr>
              <a:t>&lt;</a:t>
            </a:r>
            <a:r>
              <a:rPr lang="ko-KR" altLang="en-US" sz="1100" b="1" i="0" u="none" strike="noStrike" cap="none" spc="0" dirty="0" err="1">
                <a:solidFill>
                  <a:srgbClr val="000000"/>
                </a:solidFill>
                <a:effectLst/>
                <a:latin typeface="Arial"/>
                <a:ea typeface="Arial"/>
                <a:cs typeface="Arial"/>
                <a:sym typeface="Arial"/>
              </a:rPr>
              <a:t>스케쥴</a:t>
            </a:r>
            <a:r>
              <a:rPr lang="ko-KR" altLang="en-US" sz="1100" b="1" i="0" u="none" strike="noStrike" cap="none" spc="0" dirty="0">
                <a:solidFill>
                  <a:srgbClr val="000000"/>
                </a:solidFill>
                <a:effectLst/>
                <a:latin typeface="Arial"/>
                <a:ea typeface="Arial"/>
                <a:cs typeface="Arial"/>
                <a:sym typeface="Arial"/>
              </a:rPr>
              <a:t> 분기 데이터 </a:t>
            </a:r>
            <a:r>
              <a:rPr lang="ko-KR" altLang="en-US" sz="1100" b="1" i="0" u="none" strike="noStrike" cap="none" spc="0" dirty="0" err="1">
                <a:solidFill>
                  <a:srgbClr val="000000"/>
                </a:solidFill>
                <a:effectLst/>
                <a:latin typeface="Arial"/>
                <a:ea typeface="Arial"/>
                <a:cs typeface="Arial"/>
                <a:sym typeface="Arial"/>
              </a:rPr>
              <a:t>입력일정을</a:t>
            </a:r>
            <a:r>
              <a:rPr lang="ko-KR" altLang="en-US" sz="1100" b="1" i="0" u="none" strike="noStrike" cap="none" spc="0" dirty="0">
                <a:solidFill>
                  <a:srgbClr val="000000"/>
                </a:solidFill>
                <a:effectLst/>
                <a:latin typeface="Arial"/>
                <a:ea typeface="Arial"/>
                <a:cs typeface="Arial"/>
                <a:sym typeface="Arial"/>
              </a:rPr>
              <a:t> 고려</a:t>
            </a:r>
            <a:r>
              <a:rPr lang="en-US" altLang="ko-KR" sz="1100" b="1" i="0" u="none" strike="noStrike" cap="none" spc="0" dirty="0">
                <a:solidFill>
                  <a:srgbClr val="000000"/>
                </a:solidFill>
                <a:effectLst/>
                <a:latin typeface="Arial"/>
                <a:ea typeface="Arial"/>
                <a:cs typeface="Arial"/>
                <a:sym typeface="Arial"/>
              </a:rPr>
              <a:t>&gt;</a:t>
            </a:r>
          </a:p>
          <a:p>
            <a:r>
              <a:rPr lang="ko-KR" altLang="en-US" sz="1100" b="1" i="0" u="none" strike="noStrike" cap="none" spc="0" dirty="0">
                <a:solidFill>
                  <a:srgbClr val="000000"/>
                </a:solidFill>
                <a:effectLst/>
                <a:latin typeface="Arial"/>
                <a:ea typeface="Arial"/>
                <a:cs typeface="Arial"/>
                <a:sym typeface="Arial"/>
              </a:rPr>
              <a:t>매년 </a:t>
            </a:r>
            <a:r>
              <a:rPr lang="en-US" altLang="ko-KR" sz="1100" b="1" i="0" u="none" strike="noStrike" cap="none" spc="0" dirty="0">
                <a:solidFill>
                  <a:srgbClr val="000000"/>
                </a:solidFill>
                <a:effectLst/>
                <a:latin typeface="Arial"/>
                <a:ea typeface="Arial"/>
                <a:cs typeface="Arial"/>
                <a:sym typeface="Arial"/>
              </a:rPr>
              <a:t>3</a:t>
            </a:r>
            <a:r>
              <a:rPr lang="ko-KR" altLang="en-US" sz="1100" b="1" i="0" u="none" strike="noStrike" cap="none" spc="0" dirty="0">
                <a:solidFill>
                  <a:srgbClr val="000000"/>
                </a:solidFill>
                <a:effectLst/>
                <a:latin typeface="Arial"/>
                <a:ea typeface="Arial"/>
                <a:cs typeface="Arial"/>
                <a:sym typeface="Arial"/>
              </a:rPr>
              <a:t>월</a:t>
            </a:r>
            <a:r>
              <a:rPr lang="en-US" altLang="ko-KR" sz="1100" b="1" i="0" u="none" strike="noStrike" cap="none" spc="0" dirty="0">
                <a:solidFill>
                  <a:srgbClr val="000000"/>
                </a:solidFill>
                <a:effectLst/>
                <a:latin typeface="Arial"/>
                <a:ea typeface="Arial"/>
                <a:cs typeface="Arial"/>
                <a:sym typeface="Arial"/>
              </a:rPr>
              <a:t>, 6</a:t>
            </a:r>
            <a:r>
              <a:rPr lang="ko-KR" altLang="en-US" sz="1100" b="1" i="0" u="none" strike="noStrike" cap="none" spc="0" dirty="0">
                <a:solidFill>
                  <a:srgbClr val="000000"/>
                </a:solidFill>
                <a:effectLst/>
                <a:latin typeface="Arial"/>
                <a:ea typeface="Arial"/>
                <a:cs typeface="Arial"/>
                <a:sym typeface="Arial"/>
              </a:rPr>
              <a:t>월</a:t>
            </a:r>
            <a:r>
              <a:rPr lang="en-US" altLang="ko-KR" sz="1100" b="1" i="0" u="none" strike="noStrike" cap="none" spc="0" dirty="0">
                <a:solidFill>
                  <a:srgbClr val="000000"/>
                </a:solidFill>
                <a:effectLst/>
                <a:latin typeface="Arial"/>
                <a:ea typeface="Arial"/>
                <a:cs typeface="Arial"/>
                <a:sym typeface="Arial"/>
              </a:rPr>
              <a:t>, 9</a:t>
            </a:r>
            <a:r>
              <a:rPr lang="ko-KR" altLang="en-US" sz="1100" b="1" i="0" u="none" strike="noStrike" cap="none" spc="0" dirty="0">
                <a:solidFill>
                  <a:srgbClr val="000000"/>
                </a:solidFill>
                <a:effectLst/>
                <a:latin typeface="Arial"/>
                <a:ea typeface="Arial"/>
                <a:cs typeface="Arial"/>
                <a:sym typeface="Arial"/>
              </a:rPr>
              <a:t>월</a:t>
            </a:r>
            <a:r>
              <a:rPr lang="en-US" altLang="ko-KR" sz="1100" b="1" i="0" u="none" strike="noStrike" cap="none" spc="0" dirty="0">
                <a:solidFill>
                  <a:srgbClr val="000000"/>
                </a:solidFill>
                <a:effectLst/>
                <a:latin typeface="Arial"/>
                <a:ea typeface="Arial"/>
                <a:cs typeface="Arial"/>
                <a:sym typeface="Arial"/>
              </a:rPr>
              <a:t>, 12</a:t>
            </a:r>
            <a:r>
              <a:rPr lang="ko-KR" altLang="en-US" sz="1100" b="1" i="0" u="none" strike="noStrike" cap="none" spc="0" dirty="0">
                <a:solidFill>
                  <a:srgbClr val="000000"/>
                </a:solidFill>
                <a:effectLst/>
                <a:latin typeface="Arial"/>
                <a:ea typeface="Arial"/>
                <a:cs typeface="Arial"/>
                <a:sym typeface="Arial"/>
              </a:rPr>
              <a:t>월</a:t>
            </a:r>
            <a:r>
              <a:rPr lang="ko-KR" altLang="en-US" sz="1100" b="0" i="0" u="none" strike="noStrike" cap="none" spc="0" dirty="0">
                <a:solidFill>
                  <a:srgbClr val="000000"/>
                </a:solidFill>
                <a:effectLst/>
                <a:latin typeface="Arial"/>
                <a:ea typeface="Arial"/>
                <a:cs typeface="Arial"/>
                <a:sym typeface="Arial"/>
              </a:rPr>
              <a:t>의</a:t>
            </a:r>
          </a:p>
          <a:p>
            <a:r>
              <a:rPr lang="en-US" altLang="ko-KR" sz="1100" b="1" i="0" u="none" strike="noStrike" cap="none" spc="0" dirty="0">
                <a:solidFill>
                  <a:srgbClr val="000000"/>
                </a:solidFill>
                <a:effectLst/>
                <a:latin typeface="Arial"/>
                <a:ea typeface="Arial"/>
                <a:cs typeface="Arial"/>
                <a:sym typeface="Arial"/>
              </a:rPr>
              <a:t>11</a:t>
            </a:r>
            <a:r>
              <a:rPr lang="ko-KR" altLang="en-US" sz="1100" b="1" i="0" u="none" strike="noStrike" cap="none" spc="0" dirty="0">
                <a:solidFill>
                  <a:srgbClr val="000000"/>
                </a:solidFill>
                <a:effectLst/>
                <a:latin typeface="Arial"/>
                <a:ea typeface="Arial"/>
                <a:cs typeface="Arial"/>
                <a:sym typeface="Arial"/>
              </a:rPr>
              <a:t>일</a:t>
            </a:r>
            <a:r>
              <a:rPr lang="en-US" altLang="ko-KR" sz="1100" b="1" i="0" u="none" strike="noStrike" cap="none" spc="0" dirty="0">
                <a:solidFill>
                  <a:srgbClr val="000000"/>
                </a:solidFill>
                <a:effectLst/>
                <a:latin typeface="Arial"/>
                <a:ea typeface="Arial"/>
                <a:cs typeface="Arial"/>
                <a:sym typeface="Arial"/>
              </a:rPr>
              <a:t>~16</a:t>
            </a:r>
            <a:r>
              <a:rPr lang="ko-KR" altLang="en-US" sz="1100" b="1" i="0" u="none" strike="noStrike" cap="none" spc="0" dirty="0">
                <a:solidFill>
                  <a:srgbClr val="000000"/>
                </a:solidFill>
                <a:effectLst/>
                <a:latin typeface="Arial"/>
                <a:ea typeface="Arial"/>
                <a:cs typeface="Arial"/>
                <a:sym typeface="Arial"/>
              </a:rPr>
              <a:t>일 사이 매일</a:t>
            </a:r>
            <a:endParaRPr lang="ko-KR" altLang="en-US" sz="1100" b="0" i="0" u="none" strike="noStrike" cap="none" spc="0" dirty="0">
              <a:solidFill>
                <a:srgbClr val="000000"/>
              </a:solidFill>
              <a:effectLst/>
              <a:latin typeface="Arial"/>
              <a:ea typeface="Arial"/>
              <a:cs typeface="Arial"/>
              <a:sym typeface="Arial"/>
            </a:endParaRPr>
          </a:p>
          <a:p>
            <a:r>
              <a:rPr lang="ko-KR" altLang="en-US" sz="1100" b="0" i="0" u="none" strike="noStrike" cap="none" spc="0" dirty="0">
                <a:solidFill>
                  <a:srgbClr val="000000"/>
                </a:solidFill>
                <a:effectLst/>
                <a:latin typeface="Arial"/>
                <a:ea typeface="Arial"/>
                <a:cs typeface="Arial"/>
                <a:sym typeface="Arial"/>
              </a:rPr>
              <a:t>**오전 </a:t>
            </a:r>
            <a:r>
              <a:rPr lang="en-US" altLang="ko-KR" sz="1100" b="0" i="0" u="none" strike="noStrike" cap="none" spc="0" dirty="0">
                <a:solidFill>
                  <a:srgbClr val="000000"/>
                </a:solidFill>
                <a:effectLst/>
                <a:latin typeface="Arial"/>
                <a:ea typeface="Arial"/>
                <a:cs typeface="Arial"/>
                <a:sym typeface="Arial"/>
              </a:rPr>
              <a:t>2</a:t>
            </a:r>
            <a:r>
              <a:rPr lang="ko-KR" altLang="en-US" sz="1100" b="0" i="0" u="none" strike="noStrike" cap="none" spc="0" dirty="0">
                <a:solidFill>
                  <a:srgbClr val="000000"/>
                </a:solidFill>
                <a:effectLst/>
                <a:latin typeface="Arial"/>
                <a:ea typeface="Arial"/>
                <a:cs typeface="Arial"/>
                <a:sym typeface="Arial"/>
              </a:rPr>
              <a:t>시 </a:t>
            </a:r>
            <a:r>
              <a:rPr lang="en-US" altLang="ko-KR" sz="1100" b="0" i="0" u="none" strike="noStrike" cap="none" spc="0" dirty="0">
                <a:solidFill>
                  <a:srgbClr val="000000"/>
                </a:solidFill>
                <a:effectLst/>
                <a:latin typeface="Arial"/>
                <a:ea typeface="Arial"/>
                <a:cs typeface="Arial"/>
                <a:sym typeface="Arial"/>
              </a:rPr>
              <a:t>13</a:t>
            </a:r>
            <a:r>
              <a:rPr lang="ko-KR" altLang="en-US" sz="1100" b="0" i="0" u="none" strike="noStrike" cap="none" spc="0" dirty="0">
                <a:solidFill>
                  <a:srgbClr val="000000"/>
                </a:solidFill>
                <a:effectLst/>
                <a:latin typeface="Arial"/>
                <a:ea typeface="Arial"/>
                <a:cs typeface="Arial"/>
                <a:sym typeface="Arial"/>
              </a:rPr>
              <a:t>분</a:t>
            </a:r>
            <a:r>
              <a:rPr lang="en-US" altLang="ko-KR" sz="1100" b="0" i="0" u="none" strike="noStrike" cap="none" spc="0" dirty="0">
                <a:solidFill>
                  <a:srgbClr val="000000"/>
                </a:solidFill>
                <a:effectLst/>
                <a:latin typeface="Arial"/>
                <a:ea typeface="Arial"/>
                <a:cs typeface="Arial"/>
                <a:sym typeface="Arial"/>
              </a:rPr>
              <a:t>(KST)**</a:t>
            </a:r>
            <a:r>
              <a:rPr lang="ko-KR" altLang="en-US" sz="1100" b="0" i="0" u="none" strike="noStrike" cap="none" spc="0" dirty="0">
                <a:solidFill>
                  <a:srgbClr val="000000"/>
                </a:solidFill>
                <a:effectLst/>
                <a:latin typeface="Arial"/>
                <a:ea typeface="Arial"/>
                <a:cs typeface="Arial"/>
                <a:sym typeface="Arial"/>
              </a:rPr>
              <a:t>에 실행</a:t>
            </a:r>
          </a:p>
          <a:p>
            <a:br>
              <a:rPr lang="ko-KR" altLang="en-US" dirty="0"/>
            </a:br>
            <a:endParaRPr lang="ko-K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r>
              <a:rPr lang="ko-KR" altLang="en-US" sz="1350" b="0" dirty="0">
                <a:solidFill>
                  <a:srgbClr val="101511"/>
                </a:solidFill>
                <a:latin typeface="Malgun Gothic"/>
                <a:ea typeface="Malgun Gothic"/>
                <a:cs typeface="Malgun Gothic"/>
              </a:rPr>
              <a:t> </a:t>
            </a: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무조건 읽는다</a:t>
            </a:r>
            <a:r>
              <a:rPr lang="en-US" altLang="ko-KR" sz="1350" b="0" dirty="0">
                <a:solidFill>
                  <a:srgbClr val="101511"/>
                </a:solidFill>
                <a:latin typeface="Malgun Gothic"/>
                <a:ea typeface="Malgun Gothic"/>
                <a:cs typeface="Malgun Gothic"/>
              </a:rPr>
              <a:t>&gt;</a:t>
            </a: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우리 프로젝트의 프론트와 </a:t>
            </a:r>
            <a:r>
              <a:rPr lang="ko-KR" altLang="en-US" sz="1350" b="0" dirty="0" err="1">
                <a:solidFill>
                  <a:srgbClr val="101511"/>
                </a:solidFill>
                <a:latin typeface="Malgun Gothic"/>
                <a:ea typeface="Malgun Gothic"/>
                <a:cs typeface="Malgun Gothic"/>
              </a:rPr>
              <a:t>백엔드의</a:t>
            </a:r>
            <a:r>
              <a:rPr lang="ko-KR" altLang="en-US" sz="1350" b="0" dirty="0">
                <a:solidFill>
                  <a:srgbClr val="101511"/>
                </a:solidFill>
                <a:latin typeface="Malgun Gothic"/>
                <a:ea typeface="Malgun Gothic"/>
                <a:cs typeface="Malgun Gothic"/>
              </a:rPr>
              <a:t> 주요 기술 스택</a:t>
            </a:r>
            <a:r>
              <a:rPr lang="ko-KR" sz="1350" b="0" dirty="0">
                <a:solidFill>
                  <a:srgbClr val="101511"/>
                </a:solidFill>
                <a:latin typeface="Malgun Gothic"/>
                <a:ea typeface="Malgun Gothic"/>
                <a:cs typeface="Malgun Gothic"/>
              </a:rPr>
              <a:t>입니다. </a:t>
            </a: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0" dirty="0">
                <a:solidFill>
                  <a:srgbClr val="101511"/>
                </a:solidFill>
                <a:latin typeface="Malgun Gothic"/>
                <a:ea typeface="Malgun Gothic"/>
                <a:cs typeface="Malgun Gothic"/>
              </a:rPr>
              <a:t>&lt;2</a:t>
            </a:r>
            <a:r>
              <a:rPr lang="ko-KR" altLang="en-US" sz="1350" b="0" dirty="0">
                <a:solidFill>
                  <a:srgbClr val="101511"/>
                </a:solidFill>
                <a:latin typeface="Malgun Gothic"/>
                <a:ea typeface="Malgun Gothic"/>
                <a:cs typeface="Malgun Gothic"/>
              </a:rPr>
              <a:t>초 후 다음 페이지</a:t>
            </a:r>
            <a:r>
              <a:rPr lang="en-US" altLang="ko-KR" sz="1350" b="0" dirty="0">
                <a:solidFill>
                  <a:srgbClr val="101511"/>
                </a:solidFill>
                <a:latin typeface="Malgun Gothic"/>
                <a:ea typeface="Malgun Gothic"/>
                <a:cs typeface="Malgun Gothic"/>
              </a:rPr>
              <a:t>&gt;</a:t>
            </a: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이하 생략</a:t>
            </a:r>
            <a:r>
              <a:rPr lang="en-US" altLang="ko-KR" sz="1350" b="0" dirty="0">
                <a:solidFill>
                  <a:srgbClr val="101511"/>
                </a:solidFill>
                <a:latin typeface="Malgun Gothic"/>
                <a:ea typeface="Malgun Gothic"/>
                <a:cs typeface="Malgun Gothic"/>
              </a:rPr>
              <a:t>&gt;</a:t>
            </a:r>
            <a:br>
              <a:rPr lang="en-US" altLang="ko-KR" sz="1350" b="0" dirty="0">
                <a:solidFill>
                  <a:srgbClr val="101511"/>
                </a:solidFill>
                <a:latin typeface="Malgun Gothic"/>
                <a:ea typeface="Malgun Gothic"/>
                <a:cs typeface="Malgun Gothic"/>
              </a:rPr>
            </a:br>
            <a:r>
              <a:rPr lang="ko-KR" altLang="en-US" sz="1350" b="0" dirty="0">
                <a:solidFill>
                  <a:srgbClr val="101511"/>
                </a:solidFill>
                <a:latin typeface="Malgun Gothic"/>
                <a:ea typeface="Malgun Gothic"/>
                <a:cs typeface="Malgun Gothic"/>
              </a:rPr>
              <a:t>다음</a:t>
            </a:r>
            <a:br>
              <a:rPr lang="en-US" altLang="ko-KR" sz="1350" b="0" dirty="0">
                <a:solidFill>
                  <a:srgbClr val="101511"/>
                </a:solidFill>
                <a:latin typeface="Malgun Gothic"/>
                <a:ea typeface="Malgun Gothic"/>
                <a:cs typeface="Malgun Gothic"/>
              </a:rPr>
            </a:br>
            <a:br>
              <a:rPr lang="en-US" altLang="ko-KR" sz="1350" b="0" dirty="0">
                <a:solidFill>
                  <a:srgbClr val="101511"/>
                </a:solidFill>
                <a:latin typeface="Malgun Gothic"/>
                <a:ea typeface="Malgun Gothic"/>
                <a:cs typeface="Malgun Gothic"/>
              </a:rPr>
            </a:br>
            <a:r>
              <a:rPr lang="ko-KR" sz="1350" b="0" dirty="0">
                <a:solidFill>
                  <a:srgbClr val="101511"/>
                </a:solidFill>
                <a:latin typeface="Malgun Gothic"/>
                <a:ea typeface="Malgun Gothic"/>
                <a:cs typeface="Malgun Gothic"/>
              </a:rPr>
              <a:t>사용자가 보는 화면은 </a:t>
            </a:r>
            <a:r>
              <a:rPr lang="ko-KR" sz="1350" b="0" dirty="0" err="1">
                <a:solidFill>
                  <a:srgbClr val="101511"/>
                </a:solidFill>
                <a:latin typeface="Malgun Gothic"/>
                <a:ea typeface="Malgun Gothic"/>
                <a:cs typeface="Malgun Gothic"/>
              </a:rPr>
              <a:t>리액트로</a:t>
            </a:r>
            <a:r>
              <a:rPr lang="ko-KR" sz="1350" b="0" dirty="0">
                <a:solidFill>
                  <a:srgbClr val="101511"/>
                </a:solidFill>
                <a:latin typeface="Malgun Gothic"/>
                <a:ea typeface="Malgun Gothic"/>
                <a:cs typeface="Malgun Gothic"/>
              </a:rPr>
              <a:t> 만들고, 타입스크립트로 화면에 전달되는 데이터의 형태를 확인합니다.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서버에서 받은 결과는 </a:t>
            </a:r>
            <a:r>
              <a:rPr lang="ko-KR" sz="1350" b="0" dirty="0" err="1">
                <a:solidFill>
                  <a:srgbClr val="101511"/>
                </a:solidFill>
                <a:latin typeface="Malgun Gothic"/>
                <a:ea typeface="Malgun Gothic"/>
                <a:cs typeface="Malgun Gothic"/>
              </a:rPr>
              <a:t>탠스택</a:t>
            </a:r>
            <a:r>
              <a:rPr lang="ko-KR" sz="1350" b="0" dirty="0">
                <a:solidFill>
                  <a:srgbClr val="101511"/>
                </a:solidFill>
                <a:latin typeface="Malgun Gothic"/>
                <a:ea typeface="Malgun Gothic"/>
                <a:cs typeface="Malgun Gothic"/>
              </a:rPr>
              <a:t> 쿼리로 조회하고 잠시</a:t>
            </a:r>
            <a:r>
              <a:rPr lang="en-US" altLang="ko-KR" sz="1350" b="0" dirty="0">
                <a:solidFill>
                  <a:srgbClr val="101511"/>
                </a:solidFill>
                <a:latin typeface="Malgun Gothic"/>
                <a:ea typeface="Malgun Gothic"/>
                <a:cs typeface="Malgun Gothic"/>
              </a:rPr>
              <a:t>(5</a:t>
            </a:r>
            <a:r>
              <a:rPr lang="ko-KR" altLang="en-US" sz="1350" b="0" dirty="0">
                <a:solidFill>
                  <a:srgbClr val="101511"/>
                </a:solidFill>
                <a:latin typeface="Malgun Gothic"/>
                <a:ea typeface="Malgun Gothic"/>
                <a:cs typeface="Malgun Gothic"/>
              </a:rPr>
              <a:t>분</a:t>
            </a:r>
            <a:r>
              <a:rPr lang="en-US" altLang="ko-KR" sz="1350" b="0" dirty="0">
                <a:solidFill>
                  <a:srgbClr val="101511"/>
                </a:solidFill>
                <a:latin typeface="Malgun Gothic"/>
                <a:ea typeface="Malgun Gothic"/>
                <a:cs typeface="Malgun Gothic"/>
              </a:rPr>
              <a:t>)</a:t>
            </a:r>
            <a:r>
              <a:rPr lang="ko-KR" sz="1350" b="0" dirty="0">
                <a:solidFill>
                  <a:srgbClr val="101511"/>
                </a:solidFill>
                <a:latin typeface="Malgun Gothic"/>
                <a:ea typeface="Malgun Gothic"/>
                <a:cs typeface="Malgun Gothic"/>
              </a:rPr>
              <a:t> 재사용하며, 여러 화면에서 함께 쓰는 비교 후보와 선택 조건은 </a:t>
            </a:r>
            <a:r>
              <a:rPr lang="ko-KR" sz="1350" b="0" dirty="0" err="1">
                <a:solidFill>
                  <a:srgbClr val="101511"/>
                </a:solidFill>
                <a:latin typeface="Malgun Gothic"/>
                <a:ea typeface="Malgun Gothic"/>
                <a:cs typeface="Malgun Gothic"/>
              </a:rPr>
              <a:t>주스탠드로</a:t>
            </a:r>
            <a:r>
              <a:rPr lang="ko-KR" sz="1350" b="0" dirty="0">
                <a:solidFill>
                  <a:srgbClr val="101511"/>
                </a:solidFill>
                <a:latin typeface="Malgun Gothic"/>
                <a:ea typeface="Malgun Gothic"/>
                <a:cs typeface="Malgun Gothic"/>
              </a:rPr>
              <a:t> 관리합니다. </a:t>
            </a:r>
            <a:r>
              <a:rPr lang="ko-KR" sz="1350" b="0" dirty="0" err="1">
                <a:solidFill>
                  <a:srgbClr val="101511"/>
                </a:solidFill>
                <a:latin typeface="Malgun Gothic"/>
                <a:ea typeface="Malgun Gothic"/>
                <a:cs typeface="Malgun Gothic"/>
              </a:rPr>
              <a:t>백엔드는</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패스트API로</a:t>
            </a:r>
            <a:r>
              <a:rPr lang="ko-KR" sz="1350" b="0" dirty="0">
                <a:solidFill>
                  <a:srgbClr val="101511"/>
                </a:solidFill>
                <a:latin typeface="Malgun Gothic"/>
                <a:ea typeface="Malgun Gothic"/>
                <a:cs typeface="Malgun Gothic"/>
              </a:rPr>
              <a:t> 요청을 받고, 데이터를 확인한 뒤 분석 결과를 돌려줍니다.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매출과 점포 자료는 수파베이스의 </a:t>
            </a:r>
            <a:r>
              <a:rPr lang="ko-KR" sz="1350" b="0" dirty="0" err="1">
                <a:solidFill>
                  <a:srgbClr val="101511"/>
                </a:solidFill>
                <a:latin typeface="Malgun Gothic"/>
                <a:ea typeface="Malgun Gothic"/>
                <a:cs typeface="Malgun Gothic"/>
              </a:rPr>
              <a:t>포스트그레SQL</a:t>
            </a:r>
            <a:r>
              <a:rPr lang="ko-KR" sz="1350" b="0" dirty="0">
                <a:solidFill>
                  <a:srgbClr val="101511"/>
                </a:solidFill>
                <a:latin typeface="Malgun Gothic"/>
                <a:ea typeface="Malgun Gothic"/>
                <a:cs typeface="Malgun Gothic"/>
              </a:rPr>
              <a:t> 데이터베이스에 저장하고, </a:t>
            </a:r>
            <a:r>
              <a:rPr lang="ko-KR" sz="1350" b="0" dirty="0" err="1">
                <a:solidFill>
                  <a:srgbClr val="101511"/>
                </a:solidFill>
                <a:latin typeface="Malgun Gothic"/>
                <a:ea typeface="Malgun Gothic"/>
                <a:cs typeface="Malgun Gothic"/>
              </a:rPr>
              <a:t>SQL알케미가</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파이썬</a:t>
            </a:r>
            <a:r>
              <a:rPr lang="ko-KR" sz="1350" b="0" dirty="0">
                <a:solidFill>
                  <a:srgbClr val="101511"/>
                </a:solidFill>
                <a:latin typeface="Malgun Gothic"/>
                <a:ea typeface="Malgun Gothic"/>
                <a:cs typeface="Malgun Gothic"/>
              </a:rPr>
              <a:t> 코드와 데이터베이스를 연결합니다. </a:t>
            </a:r>
            <a:r>
              <a:rPr lang="ko-KR" sz="1350" b="0" dirty="0" err="1">
                <a:solidFill>
                  <a:srgbClr val="101511"/>
                </a:solidFill>
                <a:latin typeface="Malgun Gothic"/>
                <a:ea typeface="Malgun Gothic"/>
                <a:cs typeface="Malgun Gothic"/>
              </a:rPr>
              <a:t>제미나이를</a:t>
            </a:r>
            <a:r>
              <a:rPr lang="ko-KR" sz="1350" b="0" dirty="0">
                <a:solidFill>
                  <a:srgbClr val="101511"/>
                </a:solidFill>
                <a:latin typeface="Malgun Gothic"/>
                <a:ea typeface="Malgun Gothic"/>
                <a:cs typeface="Malgun Gothic"/>
              </a:rPr>
              <a:t> 부르는 역할도 </a:t>
            </a:r>
            <a:r>
              <a:rPr lang="ko-KR" sz="1350" b="0" dirty="0" err="1">
                <a:solidFill>
                  <a:srgbClr val="101511"/>
                </a:solidFill>
                <a:latin typeface="Malgun Gothic"/>
                <a:ea typeface="Malgun Gothic"/>
                <a:cs typeface="Malgun Gothic"/>
              </a:rPr>
              <a:t>백엔드에</a:t>
            </a:r>
            <a:r>
              <a:rPr lang="ko-KR" sz="1350" b="0" dirty="0">
                <a:solidFill>
                  <a:srgbClr val="101511"/>
                </a:solidFill>
                <a:latin typeface="Malgun Gothic"/>
                <a:ea typeface="Malgun Gothic"/>
                <a:cs typeface="Malgun Gothic"/>
              </a:rPr>
              <a:t> 두어, 화면은 완성된 결과를 받아 보여주도록 나누었습니다.</a:t>
            </a:r>
            <a:endParaRPr lang="ko-KR" dirty="0"/>
          </a:p>
          <a:p>
            <a:pPr algn="l">
              <a:lnSpc>
                <a:spcPct val="120000"/>
              </a:lnSpc>
              <a:spcAft>
                <a:spcPts val="0"/>
              </a:spcAft>
            </a:pPr>
            <a:endParaRPr lang="en-US" altLang="ko-KR" dirty="0"/>
          </a:p>
          <a:p>
            <a:pPr algn="l">
              <a:lnSpc>
                <a:spcPct val="120000"/>
              </a:lnSpc>
              <a:spcAft>
                <a:spcPts val="0"/>
              </a:spcAft>
            </a:pPr>
            <a:r>
              <a:rPr lang="en-US" altLang="ko-KR" dirty="0"/>
              <a:t>&lt;</a:t>
            </a:r>
            <a:r>
              <a:rPr lang="ko-KR" altLang="en-US" dirty="0"/>
              <a:t>이하 생략</a:t>
            </a:r>
            <a:r>
              <a:rPr lang="en-US" altLang="ko-KR" dirty="0"/>
              <a:t>&gt;</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이 역할 구분 중에서, 먼저 화면의 조회 결과와 사용자 선택을 어떻게 관리했는지 살펴보겠습니다.</a:t>
            </a:r>
            <a:endParaRPr lang="ko-K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프론트엔드에서는 화면에 보이는 값을 용도에 따라 나누어 관리했습니다. 서버에서 받은 상권 정보는 탠스택 쿼리가 맡아, 같은 조건의 결과를 다시 사용할 수 있게 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비교 후보와 업종·분기처럼 화면을 이동해도 함께 써야 하는 선택은 주스탠드에 모았습니다. 반면 현재 선택한 탭이나 비교표에서 보여줄 열처럼 한 화면 안의 값은 그 화면에서 관리합니다.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검색도 입력 중인 글자와 검색 버튼을 눌러 확정한 조건을 나누었기 때문에, 글자를 쓰는 도중과 결과를 조회하는 시점이 구분됩니다. 상세 화면으로 이동할 때는 주소에 상권·업종·분기를 함께 전달하고, 지표와 AI 설명도 따로 요청해 AI가 늦어지더라도 기본 정보를 먼저 읽을 수 있게 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이제 화면에서 보낸 조건이 백엔드에서 어떤 데이터와 연결되는지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Wiki ARCHITECTURE: https://github.com/team-ttobagi/seoul-data-analysis/wiki/ARCHITECTURE</a:t>
            </a:r>
            <a:endParaRPr lang="ko-KR"/>
          </a:p>
          <a:p>
            <a:pPr algn="l">
              <a:lnSpc>
                <a:spcPct val="120000"/>
              </a:lnSpc>
              <a:spcAft>
                <a:spcPts val="0"/>
              </a:spcAft>
            </a:pPr>
            <a:r>
              <a:rPr lang="ko-KR" sz="1350" b="0">
                <a:solidFill>
                  <a:srgbClr val="101511"/>
                </a:solidFill>
                <a:latin typeface="Malgun Gothic"/>
                <a:ea typeface="Malgun Gothic"/>
                <a:cs typeface="Malgun Gothic"/>
              </a:rPr>
              <a:t>Wiki API 명세: https://github.com/team-ttobagi/seoul-data-analysis/wiki/API-명세</a:t>
            </a:r>
            <a:endParaRPr lang="ko-KR"/>
          </a:p>
          <a:p>
            <a:pPr algn="l">
              <a:lnSpc>
                <a:spcPct val="120000"/>
              </a:lnSpc>
              <a:spcAft>
                <a:spcPts val="0"/>
              </a:spcAft>
            </a:pPr>
            <a:r>
              <a:rPr lang="ko-KR" sz="1350" b="0">
                <a:solidFill>
                  <a:srgbClr val="101511"/>
                </a:solidFill>
                <a:latin typeface="Malgun Gothic"/>
                <a:ea typeface="Malgun Gothic"/>
                <a:cs typeface="Malgun Gothic"/>
              </a:rPr>
              <a:t>frontend/src/pages/explore/ExplorePage.tsx / frontend/src/pages/compare/ComparePage.tsx / frontend/src/pages/district/DistrictDetailPage.tsx / frontend/src/shared/lib/store.ts / frontend/src/shared/api/client.ts</a:t>
            </a:r>
            <a:endParaRPr lang="ko-KR"/>
          </a:p>
          <a:p>
            <a:pPr algn="l">
              <a:lnSpc>
                <a:spcPct val="120000"/>
              </a:lnSpc>
              <a:spcAft>
                <a:spcPts val="0"/>
              </a:spcAft>
            </a:pPr>
            <a:r>
              <a:rPr lang="ko-KR" sz="1350" b="0">
                <a:solidFill>
                  <a:srgbClr val="101511"/>
                </a:solidFill>
                <a:latin typeface="Malgun Gothic"/>
                <a:ea typeface="Malgun Gothic"/>
                <a:cs typeface="Malgun Gothic"/>
              </a:rPr>
              <a:t>비교 선택은 브라우저 메모리 상태이며 새로고침 뒤에도 저장되는 방식은 아닙니다.</a:t>
            </a:r>
            <a:endParaRPr lang="ko-K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백엔드 데이터는 상권의 기본 정보와 분기마다 달라지는 분석 자료로 나눴습니다. 자치구 하나에는 여러 상권이 연결되고, 매출과 점포 자료는 같은 상권·업종·분기라는 기준으로 이어집니다.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예를 들어 한 상권의 카페 업종을 분석한다면, 이번 분기 매출과 지난 분기 매출, 이번 분기 점포 자료를 함께 읽습니다. 이때 지난 분기 자료가 없다고 성장률을 0으로 채우지 않고, 계산할 자료가 없다는 뜻의 빈 값으로 남깁니다.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코드의 역할도 요청 조건을 받는 라우터, 자료를 조합하고 분석하는 서비스, 데이터베이스를 조회하는 저장소로 구분했습니다. 응답 데이터의 형태와 설명은 파이단틱 스키마에 정리해, 프론트 개발자도 API 문서에서 확인할 수 있습니다.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이렇게 연결한 데이터로 탐색 점수를 어떻게 만드는지 설명드리겠습니다.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Wiki 서비스 기획 및 아키텍처 설계서: https://github.com/team-ttobagi/seoul-data-analysis/wiki/서비스-기획-및-아키텍처-설계서</a:t>
            </a:r>
            <a:endParaRPr lang="ko-KR"/>
          </a:p>
          <a:p>
            <a:pPr algn="l">
              <a:lnSpc>
                <a:spcPct val="120000"/>
              </a:lnSpc>
              <a:spcAft>
                <a:spcPts val="0"/>
              </a:spcAft>
            </a:pPr>
            <a:r>
              <a:rPr lang="ko-KR" sz="1350" b="0">
                <a:solidFill>
                  <a:srgbClr val="101511"/>
                </a:solidFill>
                <a:latin typeface="Malgun Gothic"/>
                <a:ea typeface="Malgun Gothic"/>
                <a:cs typeface="Malgun Gothic"/>
              </a:rPr>
              <a:t>Wiki API 명세: https://github.com/team-ttobagi/seoul-data-analysis/wiki/API-명세</a:t>
            </a:r>
            <a:endParaRPr lang="ko-KR"/>
          </a:p>
          <a:p>
            <a:pPr algn="l">
              <a:lnSpc>
                <a:spcPct val="120000"/>
              </a:lnSpc>
              <a:spcAft>
                <a:spcPts val="0"/>
              </a:spcAft>
            </a:pPr>
            <a:r>
              <a:rPr lang="ko-KR" sz="1350" b="0">
                <a:solidFill>
                  <a:srgbClr val="101511"/>
                </a:solidFill>
                <a:latin typeface="Malgun Gothic"/>
                <a:ea typeface="Malgun Gothic"/>
                <a:cs typeface="Malgun Gothic"/>
              </a:rPr>
              <a:t>backend/app/domain/district/models.py / backend/app/domain/trade_area/models.py / backend/app/domain/sales/models.py / backend/app/domain/store/models.py / backend/app/domain/sales/repository.py / backend/app/domain/analytics/service.py / backend/app/domain/analytics/schemas.py</a:t>
            </a:r>
            <a:endParaRPr lang="ko-K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a:solidFill>
                  <a:srgbClr val="101511"/>
                </a:solidFill>
                <a:latin typeface="Malgun Gothic"/>
                <a:ea typeface="Malgun Gothic"/>
                <a:cs typeface="Malgun Gothic"/>
              </a:rPr>
              <a:t>[발표]</a:t>
            </a:r>
            <a:endParaRPr lang="ko-KR"/>
          </a:p>
          <a:p>
            <a:pPr algn="l">
              <a:lnSpc>
                <a:spcPct val="120000"/>
              </a:lnSpc>
              <a:spcAft>
                <a:spcPts val="0"/>
              </a:spcAft>
            </a:pPr>
            <a:r>
              <a:rPr lang="ko-KR" sz="1350" b="0">
                <a:solidFill>
                  <a:srgbClr val="101511"/>
                </a:solidFill>
                <a:latin typeface="Malgun Gothic"/>
                <a:ea typeface="Malgun Gothic"/>
                <a:cs typeface="Malgun Gothic"/>
              </a:rPr>
              <a:t>탐색 점수는 같은 업종과 같은 분기의 서울 상권을 비교해, 어디부터 살펴볼지 정하는 기준입니다. 성장성 40퍼센트, 거래 활성도 35퍼센트, 경쟁 여건 25퍼센트를 합해 계산합니다.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성장률은 지나치게 큰 값의 영향을 줄이고, 거래건수는 큰 상권에만 점수가 쏠리지 않도록 크기를 조정합니다. 경쟁 여건은 점포 수와 점포당 거래건수, 폐업률을 함께 보며, 이 점수는 높을수록 상대적으로 유리하다는 뜻입니다.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계산은 공통 파이썬 코드가 맡기 때문에 AI가 임의로 순위나 점수를 정하지 않습니다. 이 가중치는 팀이 정한 탐색 기준으로, 실제 창업 성공을 예측한다고 검증된 수치는 아니므로 후보를 좁힌 뒤 현장에서 확인하는 데 사용합니다.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[전환]</a:t>
            </a:r>
            <a:endParaRPr lang="ko-KR"/>
          </a:p>
          <a:p>
            <a:pPr algn="l">
              <a:lnSpc>
                <a:spcPct val="120000"/>
              </a:lnSpc>
              <a:spcAft>
                <a:spcPts val="0"/>
              </a:spcAft>
            </a:pPr>
            <a:r>
              <a:rPr lang="ko-KR" sz="1350" b="0">
                <a:solidFill>
                  <a:srgbClr val="101511"/>
                </a:solidFill>
                <a:latin typeface="Malgun Gothic"/>
                <a:ea typeface="Malgun Gothic"/>
                <a:cs typeface="Malgun Gothic"/>
              </a:rPr>
              <a:t>그렇다면 AI는 어떤 역할을 맡는지, 계산 결과를 설명하는 과정을 보겠습니다.</a:t>
            </a:r>
            <a:endParaRPr lang="ko-KR"/>
          </a:p>
          <a:p>
            <a:pPr algn="l">
              <a:lnSpc>
                <a:spcPct val="120000"/>
              </a:lnSpc>
              <a:spcAft>
                <a:spcPts val="0"/>
              </a:spcAft>
            </a:pPr>
            <a:endParaRPr lang="ko-KR"/>
          </a:p>
          <a:p>
            <a:pPr algn="l">
              <a:lnSpc>
                <a:spcPct val="120000"/>
              </a:lnSpc>
              <a:spcAft>
                <a:spcPts val="0"/>
              </a:spcAft>
            </a:pPr>
            <a:r>
              <a:rPr lang="ko-KR" sz="1350" b="0">
                <a:solidFill>
                  <a:srgbClr val="101511"/>
                </a:solidFill>
                <a:latin typeface="Malgun Gothic"/>
                <a:ea typeface="Malgun Gothic"/>
                <a:cs typeface="Malgun Gothic"/>
              </a:rPr>
              <a:t>[참고 자료]</a:t>
            </a:r>
            <a:endParaRPr lang="ko-KR"/>
          </a:p>
          <a:p>
            <a:pPr algn="l">
              <a:lnSpc>
                <a:spcPct val="120000"/>
              </a:lnSpc>
              <a:spcAft>
                <a:spcPts val="0"/>
              </a:spcAft>
            </a:pPr>
            <a:r>
              <a:rPr lang="ko-KR" sz="1350" b="0">
                <a:solidFill>
                  <a:srgbClr val="101511"/>
                </a:solidFill>
                <a:latin typeface="Malgun Gothic"/>
                <a:ea typeface="Malgun Gothic"/>
                <a:cs typeface="Malgun Gothic"/>
              </a:rPr>
              <a:t>Wiki 상권 분석 지표 산출 정의서: https://github.com/team-ttobagi/seoul-data-analysis/wiki/상권-분석-지표-산출-정의서</a:t>
            </a:r>
            <a:endParaRPr lang="ko-KR"/>
          </a:p>
          <a:p>
            <a:pPr algn="l">
              <a:lnSpc>
                <a:spcPct val="120000"/>
              </a:lnSpc>
              <a:spcAft>
                <a:spcPts val="0"/>
              </a:spcAft>
            </a:pPr>
            <a:r>
              <a:rPr lang="ko-KR" sz="1350" b="0">
                <a:solidFill>
                  <a:srgbClr val="101511"/>
                </a:solidFill>
                <a:latin typeface="Malgun Gothic"/>
                <a:ea typeface="Malgun Gothic"/>
                <a:cs typeface="Malgun Gothic"/>
              </a:rPr>
              <a:t>Wiki 서비스 기획 및 아키텍처 설계서: https://github.com/team-ttobagi/seoul-data-analysis/wiki/서비스-기획-및-아키텍처-설계서</a:t>
            </a:r>
            <a:endParaRPr lang="ko-KR"/>
          </a:p>
          <a:p>
            <a:pPr algn="l">
              <a:lnSpc>
                <a:spcPct val="120000"/>
              </a:lnSpc>
              <a:spcAft>
                <a:spcPts val="0"/>
              </a:spcAft>
            </a:pPr>
            <a:r>
              <a:rPr lang="ko-KR" sz="1350" b="0">
                <a:solidFill>
                  <a:srgbClr val="101511"/>
                </a:solidFill>
                <a:latin typeface="Malgun Gothic"/>
                <a:ea typeface="Malgun Gothic"/>
                <a:cs typeface="Malgun Gothic"/>
              </a:rPr>
              <a:t>backend/app/domain/sales/scoring.py / backend/app/domain/sales/repository.py / backend/app/domain/analytics/service.py</a:t>
            </a:r>
            <a:endParaRPr lang="ko-KR"/>
          </a:p>
          <a:p>
            <a:pPr algn="l">
              <a:lnSpc>
                <a:spcPct val="120000"/>
              </a:lnSpc>
              <a:spcAft>
                <a:spcPts val="0"/>
              </a:spcAft>
            </a:pPr>
            <a:r>
              <a:rPr lang="ko-KR" sz="1350" b="0">
                <a:solidFill>
                  <a:srgbClr val="101511"/>
                </a:solidFill>
                <a:latin typeface="Malgun Gothic"/>
                <a:ea typeface="Malgun Gothic"/>
                <a:cs typeface="Malgun Gothic"/>
              </a:rPr>
              <a:t>성장성은 P5~P95 제한 후 정규화, 거래 활성도는 log1p 후 정규화입니다. 경쟁 여건은 점포 수 점수 50% + 점포당 거래 점수 30% + 폐업률 점수 20%입니다.</a:t>
            </a:r>
            <a:endParaRPr lang="ko-K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1" dirty="0">
                <a:solidFill>
                  <a:srgbClr val="101511"/>
                </a:solidFill>
                <a:latin typeface="Malgun Gothic"/>
                <a:ea typeface="Malgun Gothic"/>
              </a:rPr>
              <a:t>AI </a:t>
            </a:r>
            <a:r>
              <a:rPr lang="ko-KR" altLang="en-US" sz="1350" b="1" dirty="0" err="1">
                <a:solidFill>
                  <a:srgbClr val="101511"/>
                </a:solidFill>
                <a:latin typeface="Malgun Gothic"/>
                <a:ea typeface="Malgun Gothic"/>
              </a:rPr>
              <a:t>인사이트</a:t>
            </a:r>
            <a:r>
              <a:rPr lang="ko-KR" altLang="en-US" sz="1350" b="1" dirty="0">
                <a:solidFill>
                  <a:srgbClr val="101511"/>
                </a:solidFill>
                <a:latin typeface="Malgun Gothic"/>
                <a:ea typeface="Malgun Gothic"/>
              </a:rPr>
              <a:t> 관련 내용을 설명하겠습니다</a:t>
            </a:r>
            <a:r>
              <a:rPr lang="en-US" altLang="ko-KR" sz="1350" b="1" dirty="0">
                <a:solidFill>
                  <a:srgbClr val="101511"/>
                </a:solidFill>
                <a:latin typeface="Malgun Gothic"/>
                <a:ea typeface="Malgun Gothic"/>
              </a:rPr>
              <a:t>.</a:t>
            </a:r>
            <a:br>
              <a:rPr lang="en-US" altLang="ko-KR" sz="1350" b="1" dirty="0">
                <a:solidFill>
                  <a:srgbClr val="101511"/>
                </a:solidFill>
                <a:latin typeface="Malgun Gothic"/>
                <a:ea typeface="Malgun Gothic"/>
              </a:rPr>
            </a:br>
            <a:endParaRPr lang="ko-KR" b="1" dirty="0"/>
          </a:p>
          <a:p>
            <a:pPr algn="l">
              <a:lnSpc>
                <a:spcPct val="120000"/>
              </a:lnSpc>
              <a:spcAft>
                <a:spcPts val="0"/>
              </a:spcAft>
            </a:pPr>
            <a:r>
              <a:rPr lang="ko-KR" sz="1350" b="1" dirty="0" err="1">
                <a:solidFill>
                  <a:srgbClr val="101511"/>
                </a:solidFill>
                <a:latin typeface="Malgun Gothic"/>
                <a:ea typeface="Malgun Gothic"/>
                <a:cs typeface="Malgun Gothic"/>
              </a:rPr>
              <a:t>AI의</a:t>
            </a:r>
            <a:r>
              <a:rPr lang="ko-KR" sz="1350" b="1" dirty="0">
                <a:solidFill>
                  <a:srgbClr val="101511"/>
                </a:solidFill>
                <a:latin typeface="Malgun Gothic"/>
                <a:ea typeface="Malgun Gothic"/>
                <a:cs typeface="Malgun Gothic"/>
              </a:rPr>
              <a:t> 역할은 계산된 자료를 사용자가 읽기 쉬운 말로 설명하는 것입니다. 지난 발표 이후에 등급을 나열하는 방식에서 벗어나, 매출과 </a:t>
            </a:r>
            <a:r>
              <a:rPr lang="ko-KR" sz="1350" b="1" dirty="0" err="1">
                <a:solidFill>
                  <a:srgbClr val="101511"/>
                </a:solidFill>
                <a:latin typeface="Malgun Gothic"/>
                <a:ea typeface="Malgun Gothic"/>
                <a:cs typeface="Malgun Gothic"/>
              </a:rPr>
              <a:t>거래건수</a:t>
            </a:r>
            <a:r>
              <a:rPr lang="ko-KR" sz="1350" b="1" dirty="0">
                <a:solidFill>
                  <a:srgbClr val="101511"/>
                </a:solidFill>
                <a:latin typeface="Malgun Gothic"/>
                <a:ea typeface="Malgun Gothic"/>
                <a:cs typeface="Malgun Gothic"/>
              </a:rPr>
              <a:t>, 점포 수가 어떻게 바뀌었는지 설명하도록 </a:t>
            </a:r>
            <a:r>
              <a:rPr lang="en-US" altLang="ko-KR" sz="1350" b="1" dirty="0">
                <a:solidFill>
                  <a:srgbClr val="101511"/>
                </a:solidFill>
                <a:latin typeface="Malgun Gothic"/>
                <a:ea typeface="Malgun Gothic"/>
                <a:cs typeface="Malgun Gothic"/>
              </a:rPr>
              <a:t>Ai insight</a:t>
            </a:r>
            <a:r>
              <a:rPr lang="ko-KR" altLang="en-US" sz="1350" b="1" dirty="0" err="1">
                <a:solidFill>
                  <a:srgbClr val="101511"/>
                </a:solidFill>
                <a:latin typeface="Malgun Gothic"/>
                <a:ea typeface="Malgun Gothic"/>
                <a:cs typeface="Malgun Gothic"/>
              </a:rPr>
              <a:t>를</a:t>
            </a:r>
            <a:r>
              <a:rPr lang="ko-KR" altLang="en-US" sz="1350" b="1" dirty="0">
                <a:solidFill>
                  <a:srgbClr val="101511"/>
                </a:solidFill>
                <a:latin typeface="Malgun Gothic"/>
                <a:ea typeface="Malgun Gothic"/>
                <a:cs typeface="Malgun Gothic"/>
              </a:rPr>
              <a:t> </a:t>
            </a:r>
            <a:r>
              <a:rPr lang="ko-KR" sz="1350" b="1" dirty="0">
                <a:solidFill>
                  <a:srgbClr val="101511"/>
                </a:solidFill>
                <a:latin typeface="Malgun Gothic"/>
                <a:ea typeface="Malgun Gothic"/>
                <a:cs typeface="Malgun Gothic"/>
              </a:rPr>
              <a:t>개선했습니다.</a:t>
            </a:r>
            <a:endParaRPr lang="en-US" altLang="ko-KR" sz="1350" b="1" dirty="0">
              <a:solidFill>
                <a:srgbClr val="101511"/>
              </a:solidFill>
              <a:latin typeface="Malgun Gothic"/>
              <a:ea typeface="Malgun Gothic"/>
              <a:cs typeface="Malgun Gothic"/>
            </a:endParaRPr>
          </a:p>
          <a:p>
            <a:pPr algn="l">
              <a:lnSpc>
                <a:spcPct val="120000"/>
              </a:lnSpc>
              <a:spcAft>
                <a:spcPts val="0"/>
              </a:spcAft>
            </a:pPr>
            <a:r>
              <a:rPr lang="en-US" altLang="ko-KR" sz="1350" b="1" dirty="0">
                <a:solidFill>
                  <a:srgbClr val="101511"/>
                </a:solidFill>
                <a:latin typeface="Malgun Gothic"/>
                <a:ea typeface="Malgun Gothic"/>
              </a:rPr>
              <a:t>AI</a:t>
            </a:r>
            <a:r>
              <a:rPr lang="ko-KR" altLang="en-US" sz="1350" b="1" dirty="0">
                <a:solidFill>
                  <a:srgbClr val="101511"/>
                </a:solidFill>
                <a:latin typeface="Malgun Gothic"/>
                <a:ea typeface="Malgun Gothic"/>
              </a:rPr>
              <a:t> 응답은 바로 사용하지 않고 유효성에 대한</a:t>
            </a:r>
            <a:r>
              <a:rPr lang="en-US" altLang="ko-KR" sz="1350" b="1" dirty="0">
                <a:solidFill>
                  <a:srgbClr val="101511"/>
                </a:solidFill>
                <a:latin typeface="Malgun Gothic"/>
                <a:ea typeface="Malgun Gothic"/>
              </a:rPr>
              <a:t> </a:t>
            </a:r>
            <a:r>
              <a:rPr lang="ko-KR" altLang="en-US" sz="1350" b="1" dirty="0">
                <a:solidFill>
                  <a:srgbClr val="101511"/>
                </a:solidFill>
                <a:latin typeface="Malgun Gothic"/>
                <a:ea typeface="Malgun Gothic"/>
              </a:rPr>
              <a:t>검증을 하여 실패 시에 규칙 문장으로 대체하도록 하였습니다</a:t>
            </a:r>
            <a:r>
              <a:rPr lang="en-US" altLang="ko-KR" sz="1350" b="1" dirty="0">
                <a:solidFill>
                  <a:srgbClr val="101511"/>
                </a:solidFill>
                <a:latin typeface="Malgun Gothic"/>
                <a:ea typeface="Malgun Gothic"/>
              </a:rPr>
              <a:t>.</a:t>
            </a:r>
          </a:p>
          <a:p>
            <a:pPr algn="l">
              <a:lnSpc>
                <a:spcPct val="120000"/>
              </a:lnSpc>
              <a:spcAft>
                <a:spcPts val="0"/>
              </a:spcAft>
            </a:pPr>
            <a:endParaRPr lang="en-US" altLang="ko-KR" sz="1350" b="0" dirty="0">
              <a:solidFill>
                <a:srgbClr val="101511"/>
              </a:solidFill>
              <a:latin typeface="Malgun Gothic"/>
              <a:ea typeface="Malgun Gothic"/>
            </a:endParaRPr>
          </a:p>
          <a:p>
            <a:pPr algn="l">
              <a:lnSpc>
                <a:spcPct val="120000"/>
              </a:lnSpc>
              <a:spcAft>
                <a:spcPts val="0"/>
              </a:spcAft>
            </a:pPr>
            <a:r>
              <a:rPr lang="en-US" altLang="ko-KR" sz="1350" b="0" dirty="0">
                <a:solidFill>
                  <a:srgbClr val="101511"/>
                </a:solidFill>
                <a:latin typeface="Malgun Gothic"/>
                <a:ea typeface="Malgun Gothic"/>
              </a:rPr>
              <a:t>&lt;</a:t>
            </a:r>
            <a:r>
              <a:rPr lang="ko-KR" altLang="en-US" sz="1350" b="0" dirty="0">
                <a:solidFill>
                  <a:srgbClr val="101511"/>
                </a:solidFill>
                <a:latin typeface="Malgun Gothic"/>
                <a:ea typeface="Malgun Gothic"/>
              </a:rPr>
              <a:t>이하 생략</a:t>
            </a:r>
            <a:r>
              <a:rPr lang="en-US" altLang="ko-KR" sz="1350" b="0" dirty="0">
                <a:solidFill>
                  <a:srgbClr val="101511"/>
                </a:solidFill>
                <a:latin typeface="Malgun Gothic"/>
                <a:ea typeface="Malgun Gothic"/>
              </a:rPr>
              <a:t>&gt;</a:t>
            </a:r>
            <a:r>
              <a:rPr lang="ko-KR" altLang="en-US" sz="1350" b="0" dirty="0">
                <a:solidFill>
                  <a:srgbClr val="101511"/>
                </a:solidFill>
                <a:latin typeface="Malgun Gothic"/>
                <a:ea typeface="Malgun Gothic"/>
              </a:rPr>
              <a:t> </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고객층이나 시간대 태그도 </a:t>
            </a:r>
            <a:r>
              <a:rPr lang="ko-KR" sz="1350" b="0" dirty="0" err="1">
                <a:solidFill>
                  <a:srgbClr val="101511"/>
                </a:solidFill>
                <a:latin typeface="Malgun Gothic"/>
                <a:ea typeface="Malgun Gothic"/>
                <a:cs typeface="Malgun Gothic"/>
              </a:rPr>
              <a:t>AI가</a:t>
            </a:r>
            <a:r>
              <a:rPr lang="ko-KR" sz="1350" b="0" dirty="0">
                <a:solidFill>
                  <a:srgbClr val="101511"/>
                </a:solidFill>
                <a:latin typeface="Malgun Gothic"/>
                <a:ea typeface="Malgun Gothic"/>
                <a:cs typeface="Malgun Gothic"/>
              </a:rPr>
              <a:t> 자유롭게 붙이지 않고, </a:t>
            </a:r>
            <a:r>
              <a:rPr lang="ko-KR" sz="1350" b="0" dirty="0" err="1">
                <a:solidFill>
                  <a:srgbClr val="101511"/>
                </a:solidFill>
                <a:latin typeface="Malgun Gothic"/>
                <a:ea typeface="Malgun Gothic"/>
                <a:cs typeface="Malgun Gothic"/>
              </a:rPr>
              <a:t>백엔드가</a:t>
            </a:r>
            <a:r>
              <a:rPr lang="ko-KR" sz="1350" b="0" dirty="0">
                <a:solidFill>
                  <a:srgbClr val="101511"/>
                </a:solidFill>
                <a:latin typeface="Malgun Gothic"/>
                <a:ea typeface="Malgun Gothic"/>
                <a:cs typeface="Malgun Gothic"/>
              </a:rPr>
              <a:t> 데이터의 양과 비중을 확인해 허용한 후보만 전달합니다. 생성된 문장은 숫자와 단위를 실제 값과 비교하고, 등급이나 태그가 근거에 맞는지도 검사합니다.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예를 들어 ‘5만 8천 </a:t>
            </a:r>
            <a:r>
              <a:rPr lang="ko-KR" sz="1350" b="0" dirty="0" err="1">
                <a:solidFill>
                  <a:srgbClr val="101511"/>
                </a:solidFill>
                <a:latin typeface="Malgun Gothic"/>
                <a:ea typeface="Malgun Gothic"/>
                <a:cs typeface="Malgun Gothic"/>
              </a:rPr>
              <a:t>원’처럼</a:t>
            </a:r>
            <a:r>
              <a:rPr lang="ko-KR" sz="1350" b="0" dirty="0">
                <a:solidFill>
                  <a:srgbClr val="101511"/>
                </a:solidFill>
                <a:latin typeface="Malgun Gothic"/>
                <a:ea typeface="Malgun Gothic"/>
                <a:cs typeface="Malgun Gothic"/>
              </a:rPr>
              <a:t> 표현이 달라도 같은 금액이면 통과시키고, 실제 근거와 다른 숫자는 걸러내도록 했습니다. 시간이 초과되거나 검사를 통과하지 못하면 정해진 규칙의 문장을 반환하고, </a:t>
            </a:r>
            <a:r>
              <a:rPr lang="ko-KR" sz="1350" b="0" dirty="0" err="1">
                <a:solidFill>
                  <a:srgbClr val="101511"/>
                </a:solidFill>
                <a:latin typeface="Malgun Gothic"/>
                <a:ea typeface="Malgun Gothic"/>
                <a:cs typeface="Malgun Gothic"/>
              </a:rPr>
              <a:t>AI를</a:t>
            </a:r>
            <a:r>
              <a:rPr lang="ko-KR" sz="1350" b="0" dirty="0">
                <a:solidFill>
                  <a:srgbClr val="101511"/>
                </a:solidFill>
                <a:latin typeface="Malgun Gothic"/>
                <a:ea typeface="Malgun Gothic"/>
                <a:cs typeface="Malgun Gothic"/>
              </a:rPr>
              <a:t> 기다리는 동안에는 데이터베이스 연결을 돌려줘 다른 조회가 사용할 수 있도록 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이 분석의 바탕이 되는 공공데이터는 어떻게 반복해서 갱신하는지 이어서 보겠습니다.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인사이트</a:t>
            </a:r>
            <a:r>
              <a:rPr lang="ko-KR" sz="1350" b="0" dirty="0">
                <a:solidFill>
                  <a:srgbClr val="101511"/>
                </a:solidFill>
                <a:latin typeface="Malgun Gothic"/>
                <a:ea typeface="Malgun Gothic"/>
                <a:cs typeface="Malgun Gothic"/>
              </a:rPr>
              <a:t> 개선안: </a:t>
            </a: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github.com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team-ttobagi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seoul-data-analysis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인사이트</a:t>
            </a:r>
            <a:r>
              <a:rPr lang="ko-KR" sz="1350" b="0" dirty="0">
                <a:solidFill>
                  <a:srgbClr val="101511"/>
                </a:solidFill>
                <a:latin typeface="Malgun Gothic"/>
                <a:ea typeface="Malgun Gothic"/>
                <a:cs typeface="Malgun Gothic"/>
              </a:rPr>
              <a:t>-개선안</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트러블슈팅</a:t>
            </a:r>
            <a:r>
              <a:rPr lang="ko-KR" sz="1350" b="0" dirty="0">
                <a:solidFill>
                  <a:srgbClr val="101511"/>
                </a:solidFill>
                <a:latin typeface="Malgun Gothic"/>
                <a:ea typeface="Malgun Gothic"/>
                <a:cs typeface="Malgun Gothic"/>
              </a:rPr>
              <a:t> 보고서: </a:t>
            </a: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github.com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team-ttobagi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seoul-data-analysis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트러블슈팅</a:t>
            </a:r>
            <a:r>
              <a:rPr lang="ko-KR" sz="1350" b="0" dirty="0">
                <a:solidFill>
                  <a:srgbClr val="101511"/>
                </a:solidFill>
                <a:latin typeface="Malgun Gothic"/>
                <a:ea typeface="Malgun Gothic"/>
                <a:cs typeface="Malgun Gothic"/>
              </a:rPr>
              <a:t>-보고서</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domain</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analytics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insight_policy.py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domain</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analytics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service.py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external</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gemini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client.py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external</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gemini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prompts.py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frontend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src</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pages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district</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DistrictDetailPage.tsx</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AI 적용은 상세 /</a:t>
            </a:r>
            <a:r>
              <a:rPr lang="ko-KR" sz="1350" b="0" dirty="0" err="1">
                <a:solidFill>
                  <a:srgbClr val="101511"/>
                </a:solidFill>
                <a:latin typeface="Malgun Gothic"/>
                <a:ea typeface="Malgun Gothic"/>
                <a:cs typeface="Malgun Gothic"/>
              </a:rPr>
              <a:t>overview</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insight입니다</a:t>
            </a:r>
            <a:r>
              <a:rPr lang="ko-KR" sz="1350" b="0" dirty="0">
                <a:solidFill>
                  <a:srgbClr val="101511"/>
                </a:solidFill>
                <a:latin typeface="Malgun Gothic"/>
                <a:ea typeface="Malgun Gothic"/>
                <a:cs typeface="Malgun Gothic"/>
              </a:rPr>
              <a:t>. </a:t>
            </a:r>
            <a:r>
              <a:rPr lang="ko-KR" sz="1350" b="0" dirty="0" err="1">
                <a:solidFill>
                  <a:srgbClr val="101511"/>
                </a:solidFill>
                <a:latin typeface="Malgun Gothic"/>
                <a:ea typeface="Malgun Gothic"/>
                <a:cs typeface="Malgun Gothic"/>
              </a:rPr>
              <a:t>탐색·비교</a:t>
            </a:r>
            <a:r>
              <a:rPr lang="ko-KR" sz="1350" b="0" dirty="0">
                <a:solidFill>
                  <a:srgbClr val="101511"/>
                </a:solidFill>
                <a:latin typeface="Malgun Gothic"/>
                <a:ea typeface="Malgun Gothic"/>
                <a:cs typeface="Malgun Gothic"/>
              </a:rPr>
              <a:t> 요약은 규칙 기반입니다. 검증은 모든 문장 오류를 완전히 차단한다는 뜻이 아닙니다. </a:t>
            </a:r>
            <a:r>
              <a:rPr lang="ko-KR" sz="1350" b="0" dirty="0" err="1">
                <a:solidFill>
                  <a:srgbClr val="101511"/>
                </a:solidFill>
                <a:latin typeface="Malgun Gothic"/>
                <a:ea typeface="Malgun Gothic"/>
                <a:cs typeface="Malgun Gothic"/>
              </a:rPr>
              <a:t>source</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gemini일</a:t>
            </a:r>
            <a:r>
              <a:rPr lang="ko-KR" sz="1350" b="0" dirty="0">
                <a:solidFill>
                  <a:srgbClr val="101511"/>
                </a:solidFill>
                <a:latin typeface="Malgun Gothic"/>
                <a:ea typeface="Malgun Gothic"/>
                <a:cs typeface="Malgun Gothic"/>
              </a:rPr>
              <a:t> 때만 AI INSIGHT 라벨을 표시합니다. 프롬프트 목표는 100자, API 상한은 태그 포함 120자입니다.</a:t>
            </a:r>
            <a:endParaRPr lang="ko-K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sz="1350" b="0" dirty="0">
                <a:solidFill>
                  <a:srgbClr val="101511"/>
                </a:solidFill>
                <a:latin typeface="Malgun Gothic"/>
                <a:ea typeface="Malgun Gothic"/>
                <a:cs typeface="Malgun Gothic"/>
              </a:rPr>
              <a:t>[발표]</a:t>
            </a: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짧은 버전</a:t>
            </a:r>
            <a:r>
              <a:rPr lang="en-US" altLang="ko-KR" sz="1350" b="0" dirty="0">
                <a:solidFill>
                  <a:srgbClr val="101511"/>
                </a:solidFill>
                <a:latin typeface="Malgun Gothic"/>
                <a:ea typeface="Malgun Gothic"/>
                <a:cs typeface="Malgun Gothic"/>
              </a:rPr>
              <a:t>&gt;</a:t>
            </a:r>
            <a:r>
              <a:rPr lang="ko-KR" altLang="ko-KR" sz="1400" b="1" dirty="0">
                <a:solidFill>
                  <a:srgbClr val="66716B"/>
                </a:solidFill>
                <a:latin typeface="Malgun Gothic"/>
                <a:ea typeface="Malgun Gothic"/>
                <a:cs typeface="Malgun Gothic"/>
              </a:rPr>
              <a:t>서울 </a:t>
            </a:r>
            <a:r>
              <a:rPr lang="ko-KR" altLang="ko-KR" sz="1400" b="1" dirty="0" err="1">
                <a:solidFill>
                  <a:srgbClr val="66716B"/>
                </a:solidFill>
                <a:latin typeface="Malgun Gothic"/>
                <a:ea typeface="Malgun Gothic"/>
                <a:cs typeface="Malgun Gothic"/>
              </a:rPr>
              <a:t>Open</a:t>
            </a:r>
            <a:r>
              <a:rPr lang="ko-KR" altLang="ko-KR" sz="1400" b="1" dirty="0">
                <a:solidFill>
                  <a:srgbClr val="66716B"/>
                </a:solidFill>
                <a:latin typeface="Malgun Gothic"/>
                <a:ea typeface="Malgun Gothic"/>
                <a:cs typeface="Malgun Gothic"/>
              </a:rPr>
              <a:t> API 수집과 DB 적재를 GitHub </a:t>
            </a:r>
            <a:r>
              <a:rPr lang="ko-KR" altLang="ko-KR" sz="1400" b="1" dirty="0" err="1">
                <a:solidFill>
                  <a:srgbClr val="66716B"/>
                </a:solidFill>
                <a:latin typeface="Malgun Gothic"/>
                <a:ea typeface="Malgun Gothic"/>
                <a:cs typeface="Malgun Gothic"/>
              </a:rPr>
              <a:t>Actions에서</a:t>
            </a:r>
            <a:r>
              <a:rPr lang="ko-KR" altLang="ko-KR" sz="1400" b="1" dirty="0">
                <a:solidFill>
                  <a:srgbClr val="66716B"/>
                </a:solidFill>
                <a:latin typeface="Malgun Gothic"/>
                <a:ea typeface="Malgun Gothic"/>
                <a:cs typeface="Malgun Gothic"/>
              </a:rPr>
              <a:t> 반복 실행할 수 있도록 </a:t>
            </a:r>
            <a:r>
              <a:rPr lang="ko-KR" altLang="en-US" sz="1400" b="1" dirty="0" err="1">
                <a:solidFill>
                  <a:srgbClr val="66716B"/>
                </a:solidFill>
                <a:latin typeface="Malgun Gothic"/>
                <a:ea typeface="Malgun Gothic"/>
                <a:cs typeface="Malgun Gothic"/>
              </a:rPr>
              <a:t>다음와</a:t>
            </a:r>
            <a:r>
              <a:rPr lang="ko-KR" altLang="en-US" sz="1400" b="1" dirty="0">
                <a:solidFill>
                  <a:srgbClr val="66716B"/>
                </a:solidFill>
                <a:latin typeface="Malgun Gothic"/>
                <a:ea typeface="Malgun Gothic"/>
                <a:cs typeface="Malgun Gothic"/>
              </a:rPr>
              <a:t> 같이 </a:t>
            </a:r>
            <a:r>
              <a:rPr lang="ko-KR" altLang="ko-KR" sz="1400" b="1" dirty="0">
                <a:solidFill>
                  <a:srgbClr val="66716B"/>
                </a:solidFill>
                <a:latin typeface="Malgun Gothic"/>
                <a:ea typeface="Malgun Gothic"/>
                <a:cs typeface="Malgun Gothic"/>
              </a:rPr>
              <a:t>구성했습니다.</a:t>
            </a:r>
            <a:endParaRPr lang="en-US" altLang="ko-KR" sz="1400" b="1" dirty="0">
              <a:solidFill>
                <a:srgbClr val="66716B"/>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endParaRPr lang="en-US" altLang="ko-KR" sz="1400" b="1" dirty="0">
              <a:solidFill>
                <a:srgbClr val="66716B"/>
              </a:solidFill>
              <a:latin typeface="Malgun Gothic"/>
              <a:ea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en-US" altLang="ko-KR" sz="1400" b="1" dirty="0">
                <a:solidFill>
                  <a:srgbClr val="66716B"/>
                </a:solidFill>
                <a:latin typeface="Malgun Gothic"/>
                <a:ea typeface="Malgun Gothic"/>
              </a:rPr>
              <a:t>&lt;</a:t>
            </a:r>
            <a:r>
              <a:rPr lang="ko-KR" altLang="en-US" sz="1400" b="1" dirty="0">
                <a:solidFill>
                  <a:srgbClr val="66716B"/>
                </a:solidFill>
                <a:latin typeface="Malgun Gothic"/>
                <a:ea typeface="Malgun Gothic"/>
              </a:rPr>
              <a:t>표의 단계와 </a:t>
            </a:r>
            <a:r>
              <a:rPr lang="ko-KR" altLang="en-US" sz="1400" b="1" dirty="0" err="1">
                <a:solidFill>
                  <a:srgbClr val="66716B"/>
                </a:solidFill>
                <a:latin typeface="Malgun Gothic"/>
                <a:ea typeface="Malgun Gothic"/>
              </a:rPr>
              <a:t>구현방식만</a:t>
            </a:r>
            <a:r>
              <a:rPr lang="ko-KR" altLang="en-US" sz="1400" b="1" dirty="0">
                <a:solidFill>
                  <a:srgbClr val="66716B"/>
                </a:solidFill>
                <a:latin typeface="Malgun Gothic"/>
                <a:ea typeface="Malgun Gothic"/>
              </a:rPr>
              <a:t> 읽는다</a:t>
            </a:r>
            <a:r>
              <a:rPr lang="en-US" altLang="ko-KR" sz="1400" b="1" dirty="0">
                <a:solidFill>
                  <a:srgbClr val="66716B"/>
                </a:solidFill>
                <a:latin typeface="Malgun Gothic"/>
                <a:ea typeface="Malgun Gothic"/>
              </a:rPr>
              <a:t>&gt;</a:t>
            </a:r>
            <a:endParaRPr lang="ko-KR" altLang="ko-KR" sz="1400" b="1" dirty="0"/>
          </a:p>
          <a:p>
            <a:r>
              <a:rPr lang="ko-KR" altLang="en-US" sz="1350" b="0" dirty="0" err="1">
                <a:solidFill>
                  <a:srgbClr val="101511"/>
                </a:solidFill>
                <a:latin typeface="Malgun Gothic"/>
                <a:ea typeface="Malgun Gothic"/>
                <a:cs typeface="Malgun Gothic"/>
              </a:rPr>
              <a:t>조회단계는</a:t>
            </a:r>
            <a:r>
              <a:rPr lang="en-US" altLang="ko-KR" sz="1350" b="0" dirty="0">
                <a:solidFill>
                  <a:srgbClr val="101511"/>
                </a:solidFill>
                <a:latin typeface="Malgun Gothic"/>
                <a:ea typeface="Malgun Gothic"/>
                <a:cs typeface="Malgun Gothic"/>
              </a:rPr>
              <a:t>…</a:t>
            </a:r>
          </a:p>
          <a:p>
            <a:r>
              <a:rPr lang="ko-KR" altLang="en-US" sz="1350" b="0" dirty="0" err="1">
                <a:solidFill>
                  <a:srgbClr val="101511"/>
                </a:solidFill>
                <a:latin typeface="Malgun Gothic"/>
                <a:ea typeface="Malgun Gothic"/>
                <a:cs typeface="Malgun Gothic"/>
              </a:rPr>
              <a:t>저장단계는</a:t>
            </a:r>
            <a:r>
              <a:rPr lang="en-US" altLang="ko-KR" sz="1350" b="0" dirty="0">
                <a:solidFill>
                  <a:srgbClr val="101511"/>
                </a:solidFill>
                <a:latin typeface="Malgun Gothic"/>
                <a:ea typeface="Malgun Gothic"/>
                <a:cs typeface="Malgun Gothic"/>
              </a:rPr>
              <a:t>…</a:t>
            </a:r>
          </a:p>
          <a:p>
            <a:r>
              <a:rPr lang="ko-KR" altLang="en-US" sz="1350" b="0" dirty="0" err="1">
                <a:solidFill>
                  <a:srgbClr val="101511"/>
                </a:solidFill>
                <a:latin typeface="Malgun Gothic"/>
                <a:ea typeface="Malgun Gothic"/>
                <a:cs typeface="Malgun Gothic"/>
              </a:rPr>
              <a:t>실행단계는</a:t>
            </a:r>
            <a:r>
              <a:rPr lang="en-US" altLang="ko-KR" sz="1350" b="0" dirty="0">
                <a:solidFill>
                  <a:srgbClr val="101511"/>
                </a:solidFill>
                <a:latin typeface="Malgun Gothic"/>
                <a:ea typeface="Malgun Gothic"/>
                <a:cs typeface="Malgun Gothic"/>
              </a:rPr>
              <a:t>…</a:t>
            </a:r>
          </a:p>
          <a:p>
            <a:r>
              <a:rPr lang="ko-KR" altLang="en-US" sz="1350" b="0" dirty="0">
                <a:solidFill>
                  <a:srgbClr val="101511"/>
                </a:solidFill>
                <a:latin typeface="Malgun Gothic"/>
                <a:ea typeface="Malgun Gothic"/>
                <a:cs typeface="Malgun Gothic"/>
              </a:rPr>
              <a:t>실패 처리는</a:t>
            </a:r>
            <a:r>
              <a:rPr lang="en-US" altLang="ko-KR" sz="1350" b="0" dirty="0">
                <a:solidFill>
                  <a:srgbClr val="101511"/>
                </a:solidFill>
                <a:latin typeface="Malgun Gothic"/>
                <a:ea typeface="Malgun Gothic"/>
                <a:cs typeface="Malgun Gothic"/>
              </a:rPr>
              <a:t>…</a:t>
            </a:r>
            <a:br>
              <a:rPr lang="en-US" altLang="ko-KR" sz="1350" b="0" dirty="0">
                <a:solidFill>
                  <a:srgbClr val="101511"/>
                </a:solidFill>
                <a:latin typeface="Malgun Gothic"/>
                <a:ea typeface="Malgun Gothic"/>
                <a:cs typeface="Malgun Gothic"/>
              </a:rPr>
            </a:br>
            <a:r>
              <a:rPr lang="en-US" altLang="ko-KR" sz="1350" b="0" dirty="0">
                <a:solidFill>
                  <a:srgbClr val="101511"/>
                </a:solidFill>
                <a:latin typeface="Malgun Gothic"/>
                <a:ea typeface="Malgun Gothic"/>
                <a:cs typeface="Malgun Gothic"/>
              </a:rPr>
              <a:t>++++</a:t>
            </a:r>
          </a:p>
          <a:p>
            <a:r>
              <a:rPr lang="ko-KR" altLang="en-US" sz="1350" b="0" dirty="0">
                <a:solidFill>
                  <a:srgbClr val="101511"/>
                </a:solidFill>
                <a:latin typeface="Malgun Gothic"/>
                <a:ea typeface="Malgun Gothic"/>
                <a:cs typeface="Malgun Gothic"/>
              </a:rPr>
              <a:t>혹시 이전에 일정을 소개 안했으면 소개</a:t>
            </a:r>
            <a:endParaRPr lang="en-US" altLang="ko-KR" sz="1400" b="1" i="0" u="none" strike="noStrike" cap="none" spc="0" dirty="0">
              <a:solidFill>
                <a:srgbClr val="000000"/>
              </a:solidFill>
              <a:effectLst/>
              <a:latin typeface="Arial"/>
              <a:ea typeface="Arial"/>
              <a:cs typeface="Arial"/>
              <a:sym typeface="Arial"/>
            </a:endParaRPr>
          </a:p>
          <a:p>
            <a:r>
              <a:rPr lang="en-US" altLang="ko-KR" sz="1400" b="1" i="0" u="none" strike="noStrike" cap="none" spc="0" dirty="0">
                <a:solidFill>
                  <a:srgbClr val="000000"/>
                </a:solidFill>
                <a:effectLst/>
                <a:latin typeface="Arial"/>
                <a:ea typeface="Arial"/>
                <a:cs typeface="Arial"/>
                <a:sym typeface="Arial"/>
              </a:rPr>
              <a:t>&lt;</a:t>
            </a:r>
            <a:r>
              <a:rPr lang="ko-KR" altLang="en-US" sz="1400" b="1" i="0" u="none" strike="noStrike" cap="none" spc="0" dirty="0" err="1">
                <a:solidFill>
                  <a:srgbClr val="000000"/>
                </a:solidFill>
                <a:effectLst/>
                <a:latin typeface="Arial"/>
                <a:ea typeface="Arial"/>
                <a:cs typeface="Arial"/>
                <a:sym typeface="Arial"/>
              </a:rPr>
              <a:t>스케쥴</a:t>
            </a:r>
            <a:r>
              <a:rPr lang="ko-KR" altLang="en-US" sz="1400" b="1" i="0" u="none" strike="noStrike" cap="none" spc="0" dirty="0">
                <a:solidFill>
                  <a:srgbClr val="000000"/>
                </a:solidFill>
                <a:effectLst/>
                <a:latin typeface="Arial"/>
                <a:ea typeface="Arial"/>
                <a:cs typeface="Arial"/>
                <a:sym typeface="Arial"/>
              </a:rPr>
              <a:t> 분기 데이터 </a:t>
            </a:r>
            <a:r>
              <a:rPr lang="ko-KR" altLang="en-US" sz="1400" b="1" i="0" u="none" strike="noStrike" cap="none" spc="0" dirty="0" err="1">
                <a:solidFill>
                  <a:srgbClr val="000000"/>
                </a:solidFill>
                <a:effectLst/>
                <a:latin typeface="Arial"/>
                <a:ea typeface="Arial"/>
                <a:cs typeface="Arial"/>
                <a:sym typeface="Arial"/>
              </a:rPr>
              <a:t>입력일정을</a:t>
            </a:r>
            <a:r>
              <a:rPr lang="ko-KR" altLang="en-US" sz="1400" b="1" i="0" u="none" strike="noStrike" cap="none" spc="0" dirty="0">
                <a:solidFill>
                  <a:srgbClr val="000000"/>
                </a:solidFill>
                <a:effectLst/>
                <a:latin typeface="Arial"/>
                <a:ea typeface="Arial"/>
                <a:cs typeface="Arial"/>
                <a:sym typeface="Arial"/>
              </a:rPr>
              <a:t> 고려</a:t>
            </a:r>
            <a:r>
              <a:rPr lang="en-US" altLang="ko-KR" sz="1400" b="1" i="0" u="none" strike="noStrike" cap="none" spc="0" dirty="0">
                <a:solidFill>
                  <a:srgbClr val="000000"/>
                </a:solidFill>
                <a:effectLst/>
                <a:latin typeface="Arial"/>
                <a:ea typeface="Arial"/>
                <a:cs typeface="Arial"/>
                <a:sym typeface="Arial"/>
              </a:rPr>
              <a:t>&gt;</a:t>
            </a:r>
          </a:p>
          <a:p>
            <a:r>
              <a:rPr lang="ko-KR" altLang="en-US" sz="1400" b="1" i="0" u="none" strike="noStrike" cap="none" spc="0" dirty="0">
                <a:solidFill>
                  <a:srgbClr val="000000"/>
                </a:solidFill>
                <a:effectLst/>
                <a:latin typeface="Arial"/>
                <a:ea typeface="Arial"/>
                <a:cs typeface="Arial"/>
                <a:sym typeface="Arial"/>
              </a:rPr>
              <a:t>매년 </a:t>
            </a:r>
            <a:r>
              <a:rPr lang="en-US" altLang="ko-KR" sz="1400" b="1" i="0" u="none" strike="noStrike" cap="none" spc="0" dirty="0">
                <a:solidFill>
                  <a:srgbClr val="000000"/>
                </a:solidFill>
                <a:effectLst/>
                <a:latin typeface="Arial"/>
                <a:ea typeface="Arial"/>
                <a:cs typeface="Arial"/>
                <a:sym typeface="Arial"/>
              </a:rPr>
              <a:t>3</a:t>
            </a:r>
            <a:r>
              <a:rPr lang="ko-KR" altLang="en-US" sz="1400" b="1" i="0" u="none" strike="noStrike" cap="none" spc="0" dirty="0">
                <a:solidFill>
                  <a:srgbClr val="000000"/>
                </a:solidFill>
                <a:effectLst/>
                <a:latin typeface="Arial"/>
                <a:ea typeface="Arial"/>
                <a:cs typeface="Arial"/>
                <a:sym typeface="Arial"/>
              </a:rPr>
              <a:t>월</a:t>
            </a:r>
            <a:r>
              <a:rPr lang="en-US" altLang="ko-KR" sz="1400" b="1" i="0" u="none" strike="noStrike" cap="none" spc="0" dirty="0">
                <a:solidFill>
                  <a:srgbClr val="000000"/>
                </a:solidFill>
                <a:effectLst/>
                <a:latin typeface="Arial"/>
                <a:ea typeface="Arial"/>
                <a:cs typeface="Arial"/>
                <a:sym typeface="Arial"/>
              </a:rPr>
              <a:t>, 6</a:t>
            </a:r>
            <a:r>
              <a:rPr lang="ko-KR" altLang="en-US" sz="1400" b="1" i="0" u="none" strike="noStrike" cap="none" spc="0" dirty="0">
                <a:solidFill>
                  <a:srgbClr val="000000"/>
                </a:solidFill>
                <a:effectLst/>
                <a:latin typeface="Arial"/>
                <a:ea typeface="Arial"/>
                <a:cs typeface="Arial"/>
                <a:sym typeface="Arial"/>
              </a:rPr>
              <a:t>월</a:t>
            </a:r>
            <a:r>
              <a:rPr lang="en-US" altLang="ko-KR" sz="1400" b="1" i="0" u="none" strike="noStrike" cap="none" spc="0" dirty="0">
                <a:solidFill>
                  <a:srgbClr val="000000"/>
                </a:solidFill>
                <a:effectLst/>
                <a:latin typeface="Arial"/>
                <a:ea typeface="Arial"/>
                <a:cs typeface="Arial"/>
                <a:sym typeface="Arial"/>
              </a:rPr>
              <a:t>, 9</a:t>
            </a:r>
            <a:r>
              <a:rPr lang="ko-KR" altLang="en-US" sz="1400" b="1" i="0" u="none" strike="noStrike" cap="none" spc="0" dirty="0">
                <a:solidFill>
                  <a:srgbClr val="000000"/>
                </a:solidFill>
                <a:effectLst/>
                <a:latin typeface="Arial"/>
                <a:ea typeface="Arial"/>
                <a:cs typeface="Arial"/>
                <a:sym typeface="Arial"/>
              </a:rPr>
              <a:t>월</a:t>
            </a:r>
            <a:r>
              <a:rPr lang="en-US" altLang="ko-KR" sz="1400" b="1" i="0" u="none" strike="noStrike" cap="none" spc="0" dirty="0">
                <a:solidFill>
                  <a:srgbClr val="000000"/>
                </a:solidFill>
                <a:effectLst/>
                <a:latin typeface="Arial"/>
                <a:ea typeface="Arial"/>
                <a:cs typeface="Arial"/>
                <a:sym typeface="Arial"/>
              </a:rPr>
              <a:t>, 12</a:t>
            </a:r>
            <a:r>
              <a:rPr lang="ko-KR" altLang="en-US" sz="1400" b="1" i="0" u="none" strike="noStrike" cap="none" spc="0" dirty="0">
                <a:solidFill>
                  <a:srgbClr val="000000"/>
                </a:solidFill>
                <a:effectLst/>
                <a:latin typeface="Arial"/>
                <a:ea typeface="Arial"/>
                <a:cs typeface="Arial"/>
                <a:sym typeface="Arial"/>
              </a:rPr>
              <a:t>월</a:t>
            </a:r>
            <a:r>
              <a:rPr lang="ko-KR" altLang="en-US" sz="1400" b="0" i="0" u="none" strike="noStrike" cap="none" spc="0" dirty="0">
                <a:solidFill>
                  <a:srgbClr val="000000"/>
                </a:solidFill>
                <a:effectLst/>
                <a:latin typeface="Arial"/>
                <a:ea typeface="Arial"/>
                <a:cs typeface="Arial"/>
                <a:sym typeface="Arial"/>
              </a:rPr>
              <a:t>의</a:t>
            </a:r>
          </a:p>
          <a:p>
            <a:r>
              <a:rPr lang="en-US" altLang="ko-KR" sz="1400" b="1" i="0" u="none" strike="noStrike" cap="none" spc="0" dirty="0">
                <a:solidFill>
                  <a:srgbClr val="000000"/>
                </a:solidFill>
                <a:effectLst/>
                <a:latin typeface="Arial"/>
                <a:ea typeface="Arial"/>
                <a:cs typeface="Arial"/>
                <a:sym typeface="Arial"/>
              </a:rPr>
              <a:t>11</a:t>
            </a:r>
            <a:r>
              <a:rPr lang="ko-KR" altLang="en-US" sz="1400" b="1" i="0" u="none" strike="noStrike" cap="none" spc="0" dirty="0">
                <a:solidFill>
                  <a:srgbClr val="000000"/>
                </a:solidFill>
                <a:effectLst/>
                <a:latin typeface="Arial"/>
                <a:ea typeface="Arial"/>
                <a:cs typeface="Arial"/>
                <a:sym typeface="Arial"/>
              </a:rPr>
              <a:t>일</a:t>
            </a:r>
            <a:r>
              <a:rPr lang="en-US" altLang="ko-KR" sz="1400" b="1" i="0" u="none" strike="noStrike" cap="none" spc="0" dirty="0">
                <a:solidFill>
                  <a:srgbClr val="000000"/>
                </a:solidFill>
                <a:effectLst/>
                <a:latin typeface="Arial"/>
                <a:ea typeface="Arial"/>
                <a:cs typeface="Arial"/>
                <a:sym typeface="Arial"/>
              </a:rPr>
              <a:t>~16</a:t>
            </a:r>
            <a:r>
              <a:rPr lang="ko-KR" altLang="en-US" sz="1400" b="1" i="0" u="none" strike="noStrike" cap="none" spc="0" dirty="0">
                <a:solidFill>
                  <a:srgbClr val="000000"/>
                </a:solidFill>
                <a:effectLst/>
                <a:latin typeface="Arial"/>
                <a:ea typeface="Arial"/>
                <a:cs typeface="Arial"/>
                <a:sym typeface="Arial"/>
              </a:rPr>
              <a:t>일 사이 매일</a:t>
            </a:r>
            <a:endParaRPr lang="ko-KR" altLang="en-US" sz="1400" b="0" i="0" u="none" strike="noStrike" cap="none" spc="0" dirty="0">
              <a:solidFill>
                <a:srgbClr val="000000"/>
              </a:solidFill>
              <a:effectLst/>
              <a:latin typeface="Arial"/>
              <a:ea typeface="Arial"/>
              <a:cs typeface="Arial"/>
              <a:sym typeface="Arial"/>
            </a:endParaRPr>
          </a:p>
          <a:p>
            <a:r>
              <a:rPr lang="ko-KR" altLang="en-US" sz="1400" b="0" i="0" u="none" strike="noStrike" cap="none" spc="0" dirty="0">
                <a:solidFill>
                  <a:srgbClr val="000000"/>
                </a:solidFill>
                <a:effectLst/>
                <a:latin typeface="Arial"/>
                <a:ea typeface="Arial"/>
                <a:cs typeface="Arial"/>
                <a:sym typeface="Arial"/>
              </a:rPr>
              <a:t>**오전 </a:t>
            </a:r>
            <a:r>
              <a:rPr lang="en-US" altLang="ko-KR" sz="1400" b="0" i="0" u="none" strike="noStrike" cap="none" spc="0" dirty="0">
                <a:solidFill>
                  <a:srgbClr val="000000"/>
                </a:solidFill>
                <a:effectLst/>
                <a:latin typeface="Arial"/>
                <a:ea typeface="Arial"/>
                <a:cs typeface="Arial"/>
                <a:sym typeface="Arial"/>
              </a:rPr>
              <a:t>2</a:t>
            </a:r>
            <a:r>
              <a:rPr lang="ko-KR" altLang="en-US" sz="1400" b="0" i="0" u="none" strike="noStrike" cap="none" spc="0" dirty="0">
                <a:solidFill>
                  <a:srgbClr val="000000"/>
                </a:solidFill>
                <a:effectLst/>
                <a:latin typeface="Arial"/>
                <a:ea typeface="Arial"/>
                <a:cs typeface="Arial"/>
                <a:sym typeface="Arial"/>
              </a:rPr>
              <a:t>시 </a:t>
            </a:r>
            <a:r>
              <a:rPr lang="en-US" altLang="ko-KR" sz="1400" b="0" i="0" u="none" strike="noStrike" cap="none" spc="0" dirty="0">
                <a:solidFill>
                  <a:srgbClr val="000000"/>
                </a:solidFill>
                <a:effectLst/>
                <a:latin typeface="Arial"/>
                <a:ea typeface="Arial"/>
                <a:cs typeface="Arial"/>
                <a:sym typeface="Arial"/>
              </a:rPr>
              <a:t>13</a:t>
            </a:r>
            <a:r>
              <a:rPr lang="ko-KR" altLang="en-US" sz="1400" b="0" i="0" u="none" strike="noStrike" cap="none" spc="0" dirty="0">
                <a:solidFill>
                  <a:srgbClr val="000000"/>
                </a:solidFill>
                <a:effectLst/>
                <a:latin typeface="Arial"/>
                <a:ea typeface="Arial"/>
                <a:cs typeface="Arial"/>
                <a:sym typeface="Arial"/>
              </a:rPr>
              <a:t>분</a:t>
            </a:r>
            <a:r>
              <a:rPr lang="en-US" altLang="ko-KR" sz="1400" b="0" i="0" u="none" strike="noStrike" cap="none" spc="0" dirty="0">
                <a:solidFill>
                  <a:srgbClr val="000000"/>
                </a:solidFill>
                <a:effectLst/>
                <a:latin typeface="Arial"/>
                <a:ea typeface="Arial"/>
                <a:cs typeface="Arial"/>
                <a:sym typeface="Arial"/>
              </a:rPr>
              <a:t>(KST)**</a:t>
            </a:r>
            <a:r>
              <a:rPr lang="ko-KR" altLang="en-US" sz="1400" b="0" i="0" u="none" strike="noStrike" cap="none" spc="0" dirty="0">
                <a:solidFill>
                  <a:srgbClr val="000000"/>
                </a:solidFill>
                <a:effectLst/>
                <a:latin typeface="Arial"/>
                <a:ea typeface="Arial"/>
                <a:cs typeface="Arial"/>
                <a:sym typeface="Arial"/>
              </a:rPr>
              <a:t>에 실행</a:t>
            </a:r>
            <a:br>
              <a:rPr lang="en-US" altLang="ko-KR" sz="1350" b="0" dirty="0">
                <a:solidFill>
                  <a:srgbClr val="101511"/>
                </a:solidFill>
                <a:latin typeface="Malgun Gothic"/>
                <a:ea typeface="Malgun Gothic"/>
                <a:cs typeface="Malgun Gothic"/>
              </a:rPr>
            </a:br>
            <a:endParaRPr lang="en-US" altLang="ko-KR" sz="1350" b="0" dirty="0">
              <a:solidFill>
                <a:srgbClr val="101511"/>
              </a:solidFill>
              <a:latin typeface="Malgun Gothic"/>
              <a:ea typeface="Malgun Gothic"/>
              <a:cs typeface="Malgun Gothic"/>
            </a:endParaRPr>
          </a:p>
          <a:p>
            <a:r>
              <a:rPr lang="en-US" altLang="ko-KR" sz="1350" b="0" dirty="0">
                <a:solidFill>
                  <a:srgbClr val="101511"/>
                </a:solidFill>
                <a:latin typeface="Malgun Gothic"/>
                <a:ea typeface="Malgun Gothic"/>
              </a:rPr>
              <a:t>++++++</a:t>
            </a:r>
          </a:p>
          <a:p>
            <a:r>
              <a:rPr lang="en-US" altLang="ko-KR" sz="1350" b="1" dirty="0">
                <a:solidFill>
                  <a:srgbClr val="101511"/>
                </a:solidFill>
                <a:latin typeface="Malgun Gothic"/>
                <a:ea typeface="Malgun Gothic"/>
              </a:rPr>
              <a:t>&lt;</a:t>
            </a:r>
            <a:r>
              <a:rPr lang="ko-KR" altLang="en-US" sz="1350" b="1" dirty="0">
                <a:solidFill>
                  <a:srgbClr val="101511"/>
                </a:solidFill>
                <a:latin typeface="Malgun Gothic"/>
                <a:ea typeface="Malgun Gothic"/>
              </a:rPr>
              <a:t>이하 생략</a:t>
            </a:r>
            <a:r>
              <a:rPr lang="en-US" altLang="ko-KR" sz="1350" b="1" dirty="0">
                <a:solidFill>
                  <a:srgbClr val="101511"/>
                </a:solidFill>
                <a:latin typeface="Malgun Gothic"/>
                <a:ea typeface="Malgun Gothic"/>
              </a:rPr>
              <a:t>&gt;</a:t>
            </a:r>
          </a:p>
          <a:p>
            <a:endParaRPr lang="ko-KR" dirty="0"/>
          </a:p>
          <a:p>
            <a:pPr algn="l">
              <a:lnSpc>
                <a:spcPct val="120000"/>
              </a:lnSpc>
              <a:spcAft>
                <a:spcPts val="0"/>
              </a:spcAft>
            </a:pPr>
            <a:r>
              <a:rPr lang="ko-KR" sz="1350" b="0" dirty="0">
                <a:solidFill>
                  <a:srgbClr val="101511"/>
                </a:solidFill>
                <a:latin typeface="Malgun Gothic"/>
                <a:ea typeface="Malgun Gothic"/>
                <a:cs typeface="Malgun Gothic"/>
              </a:rPr>
              <a:t>데이터 수집에서는 같은 작업을 다시 실행해도 중복이 생기지 않도록 하는 데 중점을 뒀습니다. 서울 열린데이터의 매출과 점포 자료를 천 </a:t>
            </a:r>
            <a:r>
              <a:rPr lang="ko-KR" sz="1350" b="0" dirty="0" err="1">
                <a:solidFill>
                  <a:srgbClr val="101511"/>
                </a:solidFill>
                <a:latin typeface="Malgun Gothic"/>
                <a:ea typeface="Malgun Gothic"/>
                <a:cs typeface="Malgun Gothic"/>
              </a:rPr>
              <a:t>행씩</a:t>
            </a:r>
            <a:r>
              <a:rPr lang="ko-KR" sz="1350" b="0" dirty="0">
                <a:solidFill>
                  <a:srgbClr val="101511"/>
                </a:solidFill>
                <a:latin typeface="Malgun Gothic"/>
                <a:ea typeface="Malgun Gothic"/>
                <a:cs typeface="Malgun Gothic"/>
              </a:rPr>
              <a:t> 받아오고, 상권과 업종을 연결한 뒤 오백 </a:t>
            </a:r>
            <a:r>
              <a:rPr lang="ko-KR" sz="1350" b="0" dirty="0" err="1">
                <a:solidFill>
                  <a:srgbClr val="101511"/>
                </a:solidFill>
                <a:latin typeface="Malgun Gothic"/>
                <a:ea typeface="Malgun Gothic"/>
                <a:cs typeface="Malgun Gothic"/>
              </a:rPr>
              <a:t>행씩</a:t>
            </a:r>
            <a:r>
              <a:rPr lang="ko-KR" sz="1350" b="0" dirty="0">
                <a:solidFill>
                  <a:srgbClr val="101511"/>
                </a:solidFill>
                <a:latin typeface="Malgun Gothic"/>
                <a:ea typeface="Malgun Gothic"/>
                <a:cs typeface="Malgun Gothic"/>
              </a:rPr>
              <a:t> 저장합니다.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이미 같은 </a:t>
            </a:r>
            <a:r>
              <a:rPr lang="ko-KR" sz="1350" b="0" dirty="0" err="1">
                <a:solidFill>
                  <a:srgbClr val="101511"/>
                </a:solidFill>
                <a:latin typeface="Malgun Gothic"/>
                <a:ea typeface="Malgun Gothic"/>
                <a:cs typeface="Malgun Gothic"/>
              </a:rPr>
              <a:t>상권·업종·분기</a:t>
            </a:r>
            <a:r>
              <a:rPr lang="ko-KR" sz="1350" b="0" dirty="0">
                <a:solidFill>
                  <a:srgbClr val="101511"/>
                </a:solidFill>
                <a:latin typeface="Malgun Gothic"/>
                <a:ea typeface="Malgun Gothic"/>
                <a:cs typeface="Malgun Gothic"/>
              </a:rPr>
              <a:t> 자료가 있으면 새 행을 더하지 않고 기존 값을 바꾸는데, 이 방식을 </a:t>
            </a:r>
            <a:r>
              <a:rPr lang="ko-KR" sz="1350" b="0" dirty="0" err="1">
                <a:solidFill>
                  <a:srgbClr val="101511"/>
                </a:solidFill>
                <a:latin typeface="Malgun Gothic"/>
                <a:ea typeface="Malgun Gothic"/>
                <a:cs typeface="Malgun Gothic"/>
              </a:rPr>
              <a:t>업서트라고</a:t>
            </a:r>
            <a:r>
              <a:rPr lang="ko-KR" sz="1350" b="0" dirty="0">
                <a:solidFill>
                  <a:srgbClr val="101511"/>
                </a:solidFill>
                <a:latin typeface="Malgun Gothic"/>
                <a:ea typeface="Malgun Gothic"/>
                <a:cs typeface="Malgun Gothic"/>
              </a:rPr>
              <a:t> 부릅니다. </a:t>
            </a:r>
            <a:r>
              <a:rPr lang="ko-KR" sz="1350" b="0" dirty="0" err="1">
                <a:solidFill>
                  <a:srgbClr val="101511"/>
                </a:solidFill>
                <a:latin typeface="Malgun Gothic"/>
                <a:ea typeface="Malgun Gothic"/>
                <a:cs typeface="Malgun Gothic"/>
              </a:rPr>
              <a:t>깃허브</a:t>
            </a:r>
            <a:r>
              <a:rPr lang="ko-KR" sz="1350" b="0" dirty="0">
                <a:solidFill>
                  <a:srgbClr val="101511"/>
                </a:solidFill>
                <a:latin typeface="Malgun Gothic"/>
                <a:ea typeface="Malgun Gothic"/>
                <a:cs typeface="Malgun Gothic"/>
              </a:rPr>
              <a:t> 액션에는 예약 실행과 필요한 분기를 직접 지정하는 수동 실행을 함께 준비했습니다.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매출과 점포는 따로 저장하기 때문에, 매출은 성공했지만 점포는 실패하는 상황도 있을 수 있습니다. 그래서 실패한 저장 작업은 되돌리고 실패 상태를 남겨, 두 작업의 결과를 확인한 뒤 필요한 수집을 다시 실행하도록 구성했습니다.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지금까지 서비스의 설계와 구현을 </a:t>
            </a:r>
            <a:r>
              <a:rPr lang="ko-KR" sz="1350" b="0" dirty="0" err="1">
                <a:solidFill>
                  <a:srgbClr val="101511"/>
                </a:solidFill>
                <a:latin typeface="Malgun Gothic"/>
                <a:ea typeface="Malgun Gothic"/>
                <a:cs typeface="Malgun Gothic"/>
              </a:rPr>
              <a:t>설명드렸습니다</a:t>
            </a:r>
            <a:r>
              <a:rPr lang="ko-KR" sz="1350" b="0" dirty="0">
                <a:solidFill>
                  <a:srgbClr val="101511"/>
                </a:solidFill>
                <a:latin typeface="Malgun Gothic"/>
                <a:ea typeface="Malgun Gothic"/>
                <a:cs typeface="Malgun Gothic"/>
              </a:rPr>
              <a:t>. 이어서 이런 작업을 팀에서 어떻게 나누고 함께 진행했는지 소개하겠습니다.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 구축 및 운영 가이드: </a:t>
            </a: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github.com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team-ttobagi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seoul-data-analysis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/구축-및-운영-가이드</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 서비스 기획 및 아키텍처 설계서: </a:t>
            </a: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github.com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team-ttobagi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seoul-data-analysis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/서비스-기획-및-아키텍처-설계서</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external</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seoul_openapi.py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domain</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sales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sync_service.py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domain</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store</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sync_service.py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backend</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app</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scripts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sync_quarterly.py</a:t>
            </a:r>
            <a:r>
              <a:rPr lang="ko-KR" sz="1350" b="0" dirty="0">
                <a:solidFill>
                  <a:srgbClr val="101511"/>
                </a:solidFill>
                <a:latin typeface="Malgun Gothic"/>
                <a:ea typeface="Malgun Gothic"/>
                <a:cs typeface="Malgun Gothic"/>
              </a:rPr>
              <a:t> / .</a:t>
            </a:r>
            <a:r>
              <a:rPr lang="ko-KR" sz="1350" b="0" dirty="0" err="1">
                <a:solidFill>
                  <a:srgbClr val="101511"/>
                </a:solidFill>
                <a:latin typeface="Malgun Gothic"/>
                <a:ea typeface="Malgun Gothic"/>
                <a:cs typeface="Malgun Gothic"/>
              </a:rPr>
              <a:t>github</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workflows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sync-quarterly-sales.yml</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예약 정의는 3·6·9·12월 11~16일 매일 KST 02:13입니다. 원천 공개 시점이나 모든 예약의 성공을 보장하는 것은 아니며, GitHub </a:t>
            </a:r>
            <a:r>
              <a:rPr lang="ko-KR" sz="1350" b="0" dirty="0" err="1">
                <a:solidFill>
                  <a:srgbClr val="101511"/>
                </a:solidFill>
                <a:latin typeface="Malgun Gothic"/>
                <a:ea typeface="Malgun Gothic"/>
                <a:cs typeface="Malgun Gothic"/>
              </a:rPr>
              <a:t>Actions</a:t>
            </a:r>
            <a:r>
              <a:rPr lang="ko-KR" sz="1350" b="0" dirty="0">
                <a:solidFill>
                  <a:srgbClr val="101511"/>
                </a:solidFill>
                <a:latin typeface="Malgun Gothic"/>
                <a:ea typeface="Malgun Gothic"/>
                <a:cs typeface="Malgun Gothic"/>
              </a:rPr>
              <a:t> 실행 결과를 확인해야 합니다. </a:t>
            </a:r>
            <a:r>
              <a:rPr lang="ko-KR" sz="1350" b="0" dirty="0" err="1">
                <a:solidFill>
                  <a:srgbClr val="101511"/>
                </a:solidFill>
                <a:latin typeface="Malgun Gothic"/>
                <a:ea typeface="Malgun Gothic"/>
                <a:cs typeface="Malgun Gothic"/>
              </a:rPr>
              <a:t>매출·점포는</a:t>
            </a:r>
            <a:r>
              <a:rPr lang="ko-KR" sz="1350" b="0" dirty="0">
                <a:solidFill>
                  <a:srgbClr val="101511"/>
                </a:solidFill>
                <a:latin typeface="Malgun Gothic"/>
                <a:ea typeface="Malgun Gothic"/>
                <a:cs typeface="Malgun Gothic"/>
              </a:rPr>
              <a:t> 각각 별도 트랜잭션입니다.</a:t>
            </a:r>
            <a:endParaRPr lang="ko-K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18000"/>
              </a:lnSpc>
              <a:spcAft>
                <a:spcPts val="0"/>
              </a:spcAft>
            </a:pPr>
            <a:r>
              <a:rPr lang="ko-KR" sz="1350" b="0" dirty="0">
                <a:solidFill>
                  <a:srgbClr val="000000"/>
                </a:solidFill>
                <a:latin typeface="Malgun Gothic"/>
                <a:ea typeface="Malgun Gothic"/>
                <a:cs typeface="Malgun Gothic"/>
              </a:rPr>
              <a:t>[발표]</a:t>
            </a:r>
            <a:endParaRPr lang="ko-KR" dirty="0"/>
          </a:p>
          <a:p>
            <a:pPr algn="l">
              <a:lnSpc>
                <a:spcPct val="118000"/>
              </a:lnSpc>
              <a:spcAft>
                <a:spcPts val="0"/>
              </a:spcAft>
            </a:pPr>
            <a:r>
              <a:rPr lang="ko-KR" altLang="en-US" sz="1350" b="0" dirty="0">
                <a:solidFill>
                  <a:srgbClr val="000000"/>
                </a:solidFill>
                <a:latin typeface="Malgun Gothic"/>
                <a:ea typeface="Malgun Gothic"/>
                <a:cs typeface="Malgun Gothic"/>
              </a:rPr>
              <a:t>협업과 운영입니다</a:t>
            </a:r>
            <a:r>
              <a:rPr lang="en-US" altLang="ko-KR" sz="1350" b="0" dirty="0">
                <a:solidFill>
                  <a:srgbClr val="000000"/>
                </a:solidFill>
                <a:latin typeface="Malgun Gothic"/>
                <a:ea typeface="Malgun Gothic"/>
                <a:cs typeface="Malgun Gothic"/>
              </a:rPr>
              <a:t>.</a:t>
            </a:r>
          </a:p>
          <a:p>
            <a:pPr algn="l">
              <a:lnSpc>
                <a:spcPct val="118000"/>
              </a:lnSpc>
              <a:spcAft>
                <a:spcPts val="0"/>
              </a:spcAft>
            </a:pPr>
            <a:r>
              <a:rPr lang="ko-KR" altLang="en-US" sz="1350" b="0" dirty="0">
                <a:solidFill>
                  <a:srgbClr val="000000"/>
                </a:solidFill>
                <a:latin typeface="Malgun Gothic"/>
                <a:ea typeface="Malgun Gothic"/>
              </a:rPr>
              <a:t>협업 내용은 지난번 발표한 내용이라 바뀐 부분만 간략하게 언급하도록 하겠습니다</a:t>
            </a:r>
            <a:r>
              <a:rPr lang="en-US" altLang="ko-KR" sz="1350" b="0" dirty="0">
                <a:solidFill>
                  <a:srgbClr val="000000"/>
                </a:solidFill>
                <a:latin typeface="Malgun Gothic"/>
                <a:ea typeface="Malgun Gothic"/>
              </a:rPr>
              <a:t>.</a:t>
            </a:r>
            <a:endParaRPr lang="ko-KR" dirty="0"/>
          </a:p>
          <a:p>
            <a:pPr algn="l">
              <a:lnSpc>
                <a:spcPct val="118000"/>
              </a:lnSpc>
              <a:spcAft>
                <a:spcPts val="0"/>
              </a:spcAft>
            </a:pPr>
            <a:endParaRPr lang="ko-K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en-US" sz="1350" b="1" dirty="0">
                <a:solidFill>
                  <a:srgbClr val="101511"/>
                </a:solidFill>
                <a:latin typeface="Malgun Gothic"/>
                <a:ea typeface="Malgun Gothic"/>
                <a:cs typeface="Malgun Gothic"/>
              </a:rPr>
              <a:t>저희 또바기 팀 </a:t>
            </a:r>
            <a:r>
              <a:rPr lang="ko-KR" altLang="en-US" sz="1350" b="1" dirty="0" err="1">
                <a:solidFill>
                  <a:srgbClr val="101511"/>
                </a:solidFill>
                <a:latin typeface="Malgun Gothic"/>
                <a:ea typeface="Malgun Gothic"/>
                <a:cs typeface="Malgun Gothic"/>
              </a:rPr>
              <a:t>업무분장은</a:t>
            </a:r>
            <a:r>
              <a:rPr lang="ko-KR" altLang="en-US" sz="1350" b="1" dirty="0">
                <a:solidFill>
                  <a:srgbClr val="101511"/>
                </a:solidFill>
                <a:latin typeface="Malgun Gothic"/>
                <a:ea typeface="Malgun Gothic"/>
                <a:cs typeface="Malgun Gothic"/>
              </a:rPr>
              <a:t> </a:t>
            </a:r>
            <a:r>
              <a:rPr lang="ko-KR" altLang="ko-KR" sz="1350" b="1" dirty="0">
                <a:solidFill>
                  <a:srgbClr val="101511"/>
                </a:solidFill>
                <a:latin typeface="Malgun Gothic"/>
                <a:ea typeface="Malgun Gothic"/>
                <a:cs typeface="Malgun Gothic"/>
              </a:rPr>
              <a:t>김수빈님</a:t>
            </a:r>
            <a:r>
              <a:rPr lang="ko-KR" altLang="en-US" sz="1350" b="1" dirty="0">
                <a:solidFill>
                  <a:srgbClr val="101511"/>
                </a:solidFill>
                <a:latin typeface="Malgun Gothic"/>
                <a:ea typeface="Malgun Gothic"/>
                <a:cs typeface="Malgun Gothic"/>
              </a:rPr>
              <a:t>이 </a:t>
            </a:r>
            <a:r>
              <a:rPr lang="ko-KR" altLang="ko-KR" sz="1350" b="1" dirty="0">
                <a:solidFill>
                  <a:srgbClr val="101511"/>
                </a:solidFill>
                <a:latin typeface="Malgun Gothic"/>
                <a:ea typeface="Malgun Gothic"/>
                <a:cs typeface="Malgun Gothic"/>
              </a:rPr>
              <a:t>리더</a:t>
            </a:r>
            <a:r>
              <a:rPr lang="ko-KR" altLang="en-US" sz="1350" b="1" dirty="0">
                <a:solidFill>
                  <a:srgbClr val="101511"/>
                </a:solidFill>
                <a:latin typeface="Malgun Gothic"/>
                <a:ea typeface="Malgun Gothic"/>
                <a:cs typeface="Malgun Gothic"/>
              </a:rPr>
              <a:t> 겸 </a:t>
            </a:r>
            <a:r>
              <a:rPr lang="ko-KR" altLang="en-US" sz="1350" b="1" dirty="0" err="1">
                <a:solidFill>
                  <a:srgbClr val="101511"/>
                </a:solidFill>
                <a:latin typeface="Malgun Gothic"/>
                <a:ea typeface="Malgun Gothic"/>
                <a:cs typeface="Malgun Gothic"/>
              </a:rPr>
              <a:t>백엔드를</a:t>
            </a:r>
            <a:r>
              <a:rPr lang="ko-KR" altLang="en-US" sz="1350" b="1" dirty="0">
                <a:solidFill>
                  <a:srgbClr val="101511"/>
                </a:solidFill>
                <a:latin typeface="Malgun Gothic"/>
                <a:ea typeface="Malgun Gothic"/>
                <a:cs typeface="Malgun Gothic"/>
              </a:rPr>
              <a:t> 맡았고</a:t>
            </a:r>
            <a:r>
              <a:rPr lang="ko-KR" altLang="ko-KR" sz="1350" b="1" dirty="0">
                <a:solidFill>
                  <a:srgbClr val="101511"/>
                </a:solidFill>
                <a:latin typeface="Malgun Gothic"/>
                <a:ea typeface="Malgun Gothic"/>
                <a:cs typeface="Malgun Gothic"/>
              </a:rPr>
              <a:t>, </a:t>
            </a:r>
            <a:r>
              <a:rPr lang="ko-KR" altLang="en-US" sz="1350" b="1" dirty="0">
                <a:solidFill>
                  <a:srgbClr val="101511"/>
                </a:solidFill>
                <a:latin typeface="Malgun Gothic"/>
                <a:ea typeface="Malgun Gothic"/>
                <a:cs typeface="Malgun Gothic"/>
              </a:rPr>
              <a:t>저도 </a:t>
            </a:r>
            <a:r>
              <a:rPr lang="ko-KR" altLang="ko-KR" sz="1350" b="1" dirty="0" err="1">
                <a:solidFill>
                  <a:srgbClr val="101511"/>
                </a:solidFill>
                <a:latin typeface="Malgun Gothic"/>
                <a:ea typeface="Malgun Gothic"/>
                <a:cs typeface="Malgun Gothic"/>
              </a:rPr>
              <a:t>백엔드</a:t>
            </a:r>
            <a:r>
              <a:rPr lang="ko-KR" altLang="en-US" sz="1350" b="1" dirty="0" err="1">
                <a:solidFill>
                  <a:srgbClr val="101511"/>
                </a:solidFill>
                <a:latin typeface="Malgun Gothic"/>
                <a:ea typeface="Malgun Gothic"/>
                <a:cs typeface="Malgun Gothic"/>
              </a:rPr>
              <a:t>이고</a:t>
            </a:r>
            <a:r>
              <a:rPr lang="ko-KR" altLang="ko-KR" sz="1350" b="1" dirty="0">
                <a:solidFill>
                  <a:srgbClr val="101511"/>
                </a:solidFill>
                <a:latin typeface="Malgun Gothic"/>
                <a:ea typeface="Malgun Gothic"/>
                <a:cs typeface="Malgun Gothic"/>
              </a:rPr>
              <a:t> </a:t>
            </a:r>
            <a:r>
              <a:rPr lang="ko-KR" altLang="ko-KR" sz="1350" b="1" dirty="0" err="1">
                <a:solidFill>
                  <a:srgbClr val="101511"/>
                </a:solidFill>
                <a:latin typeface="Malgun Gothic"/>
                <a:ea typeface="Malgun Gothic"/>
                <a:cs typeface="Malgun Gothic"/>
              </a:rPr>
              <a:t>프론트엔드</a:t>
            </a:r>
            <a:r>
              <a:rPr lang="ko-KR" altLang="en-US" sz="1350" b="1" dirty="0" err="1">
                <a:solidFill>
                  <a:srgbClr val="101511"/>
                </a:solidFill>
                <a:latin typeface="Malgun Gothic"/>
                <a:ea typeface="Malgun Gothic"/>
                <a:cs typeface="Malgun Gothic"/>
              </a:rPr>
              <a:t>는</a:t>
            </a:r>
            <a:r>
              <a:rPr lang="ko-KR" altLang="en-US" sz="1350" b="1" dirty="0">
                <a:solidFill>
                  <a:srgbClr val="101511"/>
                </a:solidFill>
                <a:latin typeface="Malgun Gothic"/>
                <a:ea typeface="Malgun Gothic"/>
                <a:cs typeface="Malgun Gothic"/>
              </a:rPr>
              <a:t> </a:t>
            </a:r>
            <a:r>
              <a:rPr lang="ko-KR" altLang="en-US" sz="1350" b="1" dirty="0" err="1">
                <a:solidFill>
                  <a:srgbClr val="101511"/>
                </a:solidFill>
                <a:latin typeface="Malgun Gothic"/>
                <a:ea typeface="Malgun Gothic"/>
                <a:cs typeface="Malgun Gothic"/>
              </a:rPr>
              <a:t>이정민님과</a:t>
            </a:r>
            <a:r>
              <a:rPr lang="ko-KR" altLang="en-US" sz="1350" b="1" dirty="0">
                <a:solidFill>
                  <a:srgbClr val="101511"/>
                </a:solidFill>
                <a:latin typeface="Malgun Gothic"/>
                <a:ea typeface="Malgun Gothic"/>
                <a:cs typeface="Malgun Gothic"/>
              </a:rPr>
              <a:t> </a:t>
            </a:r>
            <a:r>
              <a:rPr lang="ko-KR" altLang="en-US" sz="1350" b="1" dirty="0" err="1">
                <a:solidFill>
                  <a:srgbClr val="101511"/>
                </a:solidFill>
                <a:latin typeface="Malgun Gothic"/>
                <a:ea typeface="Malgun Gothic"/>
                <a:cs typeface="Malgun Gothic"/>
              </a:rPr>
              <a:t>이소영님이</a:t>
            </a:r>
            <a:r>
              <a:rPr lang="ko-KR" altLang="ko-KR" sz="1350" b="1" dirty="0">
                <a:solidFill>
                  <a:srgbClr val="101511"/>
                </a:solidFill>
                <a:latin typeface="Malgun Gothic"/>
                <a:ea typeface="Malgun Gothic"/>
                <a:cs typeface="Malgun Gothic"/>
              </a:rPr>
              <a:t> 맡았습니다.</a:t>
            </a:r>
            <a:endParaRPr lang="en-US" altLang="ko-KR" sz="1350" b="1" dirty="0">
              <a:solidFill>
                <a:srgbClr val="101511"/>
              </a:solidFill>
              <a:latin typeface="Malgun Gothic"/>
              <a:ea typeface="Malgun Gothic"/>
              <a:cs typeface="Malgun Gothic"/>
            </a:endParaRPr>
          </a:p>
          <a:p>
            <a:pPr algn="l">
              <a:lnSpc>
                <a:spcPct val="120000"/>
              </a:lnSpc>
              <a:spcAft>
                <a:spcPts val="0"/>
              </a:spcAft>
            </a:pP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 이하 생략</a:t>
            </a:r>
            <a:r>
              <a:rPr lang="en-US" altLang="ko-KR" sz="1350" b="0" dirty="0">
                <a:solidFill>
                  <a:srgbClr val="101511"/>
                </a:solidFill>
                <a:latin typeface="Malgun Gothic"/>
                <a:ea typeface="Malgun Gothic"/>
                <a:cs typeface="Malgun Gothic"/>
              </a:rPr>
              <a:t>&gt;</a:t>
            </a:r>
            <a:endParaRPr lang="ko-KR" sz="1350" b="0" dirty="0">
              <a:solidFill>
                <a:srgbClr val="101511"/>
              </a:solidFill>
              <a:latin typeface="Malgun Gothic"/>
              <a:ea typeface="Malgun Gothic"/>
              <a:cs typeface="Malgun Gothic"/>
            </a:endParaRPr>
          </a:p>
          <a:p>
            <a:pPr algn="l">
              <a:lnSpc>
                <a:spcPct val="120000"/>
              </a:lnSpc>
              <a:spcAft>
                <a:spcPts val="0"/>
              </a:spcAft>
            </a:pPr>
            <a:r>
              <a:rPr lang="ko-KR" sz="1350" b="0" dirty="0">
                <a:solidFill>
                  <a:srgbClr val="101511"/>
                </a:solidFill>
                <a:latin typeface="Malgun Gothic"/>
                <a:ea typeface="Malgun Gothic"/>
                <a:cs typeface="Malgun Gothic"/>
              </a:rPr>
              <a:t>이 서비스를 함께 만든 또바기 팀을 소개하겠습니다. </a:t>
            </a:r>
            <a:r>
              <a:rPr lang="ko-KR" sz="1350" b="0" dirty="0" err="1">
                <a:solidFill>
                  <a:srgbClr val="101511"/>
                </a:solidFill>
                <a:latin typeface="Malgun Gothic"/>
                <a:ea typeface="Malgun Gothic"/>
                <a:cs typeface="Malgun Gothic"/>
              </a:rPr>
              <a:t>또바기는</a:t>
            </a:r>
            <a:r>
              <a:rPr lang="ko-KR" sz="1350" b="0" dirty="0">
                <a:solidFill>
                  <a:srgbClr val="101511"/>
                </a:solidFill>
                <a:latin typeface="Malgun Gothic"/>
                <a:ea typeface="Malgun Gothic"/>
                <a:cs typeface="Malgun Gothic"/>
              </a:rPr>
              <a:t> 언제나 </a:t>
            </a:r>
            <a:r>
              <a:rPr lang="ko-KR" sz="1350" b="0" dirty="0" err="1">
                <a:solidFill>
                  <a:srgbClr val="101511"/>
                </a:solidFill>
                <a:latin typeface="Malgun Gothic"/>
                <a:ea typeface="Malgun Gothic"/>
                <a:cs typeface="Malgun Gothic"/>
              </a:rPr>
              <a:t>한결같이라는</a:t>
            </a:r>
            <a:r>
              <a:rPr lang="ko-KR" sz="1350" b="0" dirty="0">
                <a:solidFill>
                  <a:srgbClr val="101511"/>
                </a:solidFill>
                <a:latin typeface="Malgun Gothic"/>
                <a:ea typeface="Malgun Gothic"/>
                <a:cs typeface="Malgun Gothic"/>
              </a:rPr>
              <a:t> 뜻의 </a:t>
            </a:r>
            <a:r>
              <a:rPr lang="ko-KR" sz="1350" b="0" dirty="0" err="1">
                <a:solidFill>
                  <a:srgbClr val="101511"/>
                </a:solidFill>
                <a:latin typeface="Malgun Gothic"/>
                <a:ea typeface="Malgun Gothic"/>
                <a:cs typeface="Malgun Gothic"/>
              </a:rPr>
              <a:t>순우리말입니다</a:t>
            </a:r>
            <a:r>
              <a:rPr lang="ko-KR" sz="1350" b="0" dirty="0">
                <a:solidFill>
                  <a:srgbClr val="101511"/>
                </a:solidFill>
                <a:latin typeface="Malgun Gothic"/>
                <a:ea typeface="Malgun Gothic"/>
                <a:cs typeface="Malgun Gothic"/>
              </a:rPr>
              <a:t>. 저희도 그 이름처럼 성실함과 열정을 가지고 함께 프로젝트를 진행</a:t>
            </a:r>
            <a:r>
              <a:rPr lang="ko-KR" altLang="en-US" sz="1350" b="0" dirty="0">
                <a:solidFill>
                  <a:srgbClr val="101511"/>
                </a:solidFill>
                <a:latin typeface="Malgun Gothic"/>
                <a:ea typeface="Malgun Gothic"/>
                <a:cs typeface="Malgun Gothic"/>
              </a:rPr>
              <a:t>해온 것 같</a:t>
            </a:r>
            <a:r>
              <a:rPr lang="ko-KR" sz="1350" b="0" dirty="0">
                <a:solidFill>
                  <a:srgbClr val="101511"/>
                </a:solidFill>
                <a:latin typeface="Malgun Gothic"/>
                <a:ea typeface="Malgun Gothic"/>
                <a:cs typeface="Malgun Gothic"/>
              </a:rPr>
              <a:t>습니다.</a:t>
            </a:r>
          </a:p>
          <a:p>
            <a:pPr algn="l">
              <a:lnSpc>
                <a:spcPct val="120000"/>
              </a:lnSpc>
              <a:spcAft>
                <a:spcPts val="0"/>
              </a:spcAft>
            </a:pPr>
            <a:r>
              <a:rPr lang="ko-KR" sz="1350" b="1" dirty="0">
                <a:solidFill>
                  <a:srgbClr val="101511"/>
                </a:solidFill>
                <a:latin typeface="Malgun Gothic"/>
                <a:ea typeface="Malgun Gothic"/>
                <a:cs typeface="Malgun Gothic"/>
              </a:rPr>
              <a:t>김수빈님</a:t>
            </a:r>
            <a:r>
              <a:rPr lang="ko-KR" altLang="en-US" sz="1350" b="1" dirty="0">
                <a:solidFill>
                  <a:srgbClr val="101511"/>
                </a:solidFill>
                <a:latin typeface="Malgun Gothic"/>
                <a:ea typeface="Malgun Gothic"/>
                <a:cs typeface="Malgun Gothic"/>
              </a:rPr>
              <a:t>이  </a:t>
            </a:r>
            <a:r>
              <a:rPr lang="ko-KR" sz="1350" b="1" dirty="0">
                <a:solidFill>
                  <a:srgbClr val="101511"/>
                </a:solidFill>
                <a:latin typeface="Malgun Gothic"/>
                <a:ea typeface="Malgun Gothic"/>
                <a:cs typeface="Malgun Gothic"/>
              </a:rPr>
              <a:t>리더</a:t>
            </a:r>
            <a:r>
              <a:rPr lang="ko-KR" altLang="en-US" sz="1350" b="1" dirty="0">
                <a:solidFill>
                  <a:srgbClr val="101511"/>
                </a:solidFill>
                <a:latin typeface="Malgun Gothic"/>
                <a:ea typeface="Malgun Gothic"/>
                <a:cs typeface="Malgun Gothic"/>
              </a:rPr>
              <a:t>역할을 맡고</a:t>
            </a:r>
            <a:r>
              <a:rPr lang="ko-KR" sz="1350" b="1" dirty="0">
                <a:solidFill>
                  <a:srgbClr val="101511"/>
                </a:solidFill>
                <a:latin typeface="Malgun Gothic"/>
                <a:ea typeface="Malgun Gothic"/>
                <a:cs typeface="Malgun Gothic"/>
              </a:rPr>
              <a:t>, </a:t>
            </a:r>
            <a:r>
              <a:rPr lang="ko-KR" sz="1350" b="1" dirty="0" err="1">
                <a:solidFill>
                  <a:srgbClr val="101511"/>
                </a:solidFill>
                <a:latin typeface="Malgun Gothic"/>
                <a:ea typeface="Malgun Gothic"/>
                <a:cs typeface="Malgun Gothic"/>
              </a:rPr>
              <a:t>백엔드</a:t>
            </a:r>
            <a:r>
              <a:rPr lang="ko-KR" altLang="en-US" sz="1350" b="1" dirty="0" err="1">
                <a:solidFill>
                  <a:srgbClr val="101511"/>
                </a:solidFill>
                <a:latin typeface="Malgun Gothic"/>
                <a:ea typeface="Malgun Gothic"/>
                <a:cs typeface="Malgun Gothic"/>
              </a:rPr>
              <a:t>는</a:t>
            </a:r>
            <a:r>
              <a:rPr lang="ko-KR" altLang="en-US" sz="1350" b="1" dirty="0">
                <a:solidFill>
                  <a:srgbClr val="101511"/>
                </a:solidFill>
                <a:latin typeface="Malgun Gothic"/>
                <a:ea typeface="Malgun Gothic"/>
                <a:cs typeface="Malgun Gothic"/>
              </a:rPr>
              <a:t> 저와 수빈님</a:t>
            </a:r>
            <a:r>
              <a:rPr lang="ko-KR" sz="1350" b="1" dirty="0">
                <a:solidFill>
                  <a:srgbClr val="101511"/>
                </a:solidFill>
                <a:latin typeface="Malgun Gothic"/>
                <a:ea typeface="Malgun Gothic"/>
                <a:cs typeface="Malgun Gothic"/>
              </a:rPr>
              <a:t> 개발을 맡았습니다. </a:t>
            </a:r>
            <a:r>
              <a:rPr lang="ko-KR" sz="1350" b="1" dirty="0" err="1">
                <a:solidFill>
                  <a:srgbClr val="101511"/>
                </a:solidFill>
                <a:latin typeface="Malgun Gothic"/>
                <a:ea typeface="Malgun Gothic"/>
                <a:cs typeface="Malgun Gothic"/>
              </a:rPr>
              <a:t>프론트엔드</a:t>
            </a:r>
            <a:r>
              <a:rPr lang="ko-KR" altLang="en-US" sz="1350" b="1" dirty="0" err="1">
                <a:solidFill>
                  <a:srgbClr val="101511"/>
                </a:solidFill>
                <a:latin typeface="Malgun Gothic"/>
                <a:ea typeface="Malgun Gothic"/>
                <a:cs typeface="Malgun Gothic"/>
              </a:rPr>
              <a:t>는</a:t>
            </a:r>
            <a:r>
              <a:rPr lang="ko-KR" altLang="en-US" sz="1350" b="1" dirty="0">
                <a:solidFill>
                  <a:srgbClr val="101511"/>
                </a:solidFill>
                <a:latin typeface="Malgun Gothic"/>
                <a:ea typeface="Malgun Gothic"/>
                <a:cs typeface="Malgun Gothic"/>
              </a:rPr>
              <a:t> </a:t>
            </a:r>
            <a:r>
              <a:rPr lang="ko-KR" altLang="en-US" sz="1350" b="1" dirty="0" err="1">
                <a:solidFill>
                  <a:srgbClr val="101511"/>
                </a:solidFill>
                <a:latin typeface="Malgun Gothic"/>
                <a:ea typeface="Malgun Gothic"/>
                <a:cs typeface="Malgun Gothic"/>
              </a:rPr>
              <a:t>이정민님과</a:t>
            </a:r>
            <a:r>
              <a:rPr lang="ko-KR" altLang="en-US" sz="1350" b="1" dirty="0">
                <a:solidFill>
                  <a:srgbClr val="101511"/>
                </a:solidFill>
                <a:latin typeface="Malgun Gothic"/>
                <a:ea typeface="Malgun Gothic"/>
                <a:cs typeface="Malgun Gothic"/>
              </a:rPr>
              <a:t> </a:t>
            </a:r>
            <a:r>
              <a:rPr lang="ko-KR" altLang="en-US" sz="1350" b="1" dirty="0" err="1">
                <a:solidFill>
                  <a:srgbClr val="101511"/>
                </a:solidFill>
                <a:latin typeface="Malgun Gothic"/>
                <a:ea typeface="Malgun Gothic"/>
                <a:cs typeface="Malgun Gothic"/>
              </a:rPr>
              <a:t>이소영님이</a:t>
            </a:r>
            <a:r>
              <a:rPr lang="ko-KR" sz="1350" b="1" dirty="0">
                <a:solidFill>
                  <a:srgbClr val="101511"/>
                </a:solidFill>
                <a:latin typeface="Malgun Gothic"/>
                <a:ea typeface="Malgun Gothic"/>
                <a:cs typeface="Malgun Gothic"/>
              </a:rPr>
              <a:t> 맡았습니다.</a:t>
            </a:r>
            <a:endParaRPr lang="en-US" altLang="ko-KR" sz="1350" b="1" dirty="0">
              <a:solidFill>
                <a:srgbClr val="101511"/>
              </a:solidFill>
              <a:latin typeface="Malgun Gothic"/>
              <a:ea typeface="Malgun Gothic"/>
              <a:cs typeface="Malgun Gothic"/>
            </a:endParaRPr>
          </a:p>
          <a:p>
            <a:pPr algn="l">
              <a:lnSpc>
                <a:spcPct val="120000"/>
              </a:lnSpc>
              <a:spcAft>
                <a:spcPts val="0"/>
              </a:spcAft>
            </a:pPr>
            <a:r>
              <a:rPr lang="ko-KR" altLang="en-US" sz="1350" b="0" dirty="0">
                <a:solidFill>
                  <a:srgbClr val="101511"/>
                </a:solidFill>
                <a:latin typeface="Malgun Gothic"/>
                <a:ea typeface="Malgun Gothic"/>
                <a:cs typeface="Malgun Gothic"/>
              </a:rPr>
              <a:t>발표자는 가위*바위*보로 선정했습니다</a:t>
            </a:r>
            <a:r>
              <a:rPr lang="en-US" altLang="ko-KR" sz="1350" b="0" dirty="0">
                <a:solidFill>
                  <a:srgbClr val="101511"/>
                </a:solidFill>
                <a:latin typeface="Malgun Gothic"/>
                <a:ea typeface="Malgun Gothic"/>
                <a:cs typeface="Malgun Gothic"/>
              </a:rPr>
              <a:t>.</a:t>
            </a:r>
            <a:br>
              <a:rPr lang="en-US" altLang="ko-KR" sz="1350" b="0" dirty="0">
                <a:solidFill>
                  <a:srgbClr val="101511"/>
                </a:solidFill>
                <a:latin typeface="Malgun Gothic"/>
                <a:ea typeface="Malgun Gothic"/>
                <a:cs typeface="Malgun Gothic"/>
              </a:rPr>
            </a:br>
            <a:endParaRPr lang="ko-KR" sz="1350" b="0" dirty="0">
              <a:solidFill>
                <a:srgbClr val="101511"/>
              </a:solidFill>
              <a:latin typeface="Malgun Gothic"/>
              <a:ea typeface="Malgun Gothic"/>
              <a:cs typeface="Malgun Gothic"/>
            </a:endParaRPr>
          </a:p>
          <a:p>
            <a:pPr algn="l">
              <a:lnSpc>
                <a:spcPct val="120000"/>
              </a:lnSpc>
              <a:spcAft>
                <a:spcPts val="0"/>
              </a:spcAft>
            </a:pPr>
            <a:r>
              <a:rPr lang="ko-KR" sz="1350" b="0" dirty="0">
                <a:solidFill>
                  <a:srgbClr val="101511"/>
                </a:solidFill>
                <a:latin typeface="Malgun Gothic"/>
                <a:ea typeface="Malgun Gothic"/>
                <a:cs typeface="Malgun Gothic"/>
              </a:rPr>
              <a:t>[전환]</a:t>
            </a:r>
          </a:p>
          <a:p>
            <a:pPr algn="l">
              <a:lnSpc>
                <a:spcPct val="120000"/>
              </a:lnSpc>
              <a:spcAft>
                <a:spcPts val="0"/>
              </a:spcAft>
            </a:pP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생략</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 건너뜀</a:t>
            </a:r>
            <a:r>
              <a:rPr lang="en-US" altLang="ko-KR" sz="1350" b="0" dirty="0">
                <a:solidFill>
                  <a:srgbClr val="101511"/>
                </a:solidFill>
                <a:latin typeface="Malgun Gothic"/>
                <a:ea typeface="Malgun Gothic"/>
                <a:cs typeface="Malgun Gothic"/>
              </a:rPr>
              <a:t>&gt;</a:t>
            </a:r>
            <a:r>
              <a:rPr lang="ko-KR" altLang="en-US" sz="1350" b="0" dirty="0">
                <a:solidFill>
                  <a:srgbClr val="101511"/>
                </a:solidFill>
                <a:latin typeface="Malgun Gothic"/>
                <a:ea typeface="Malgun Gothic"/>
                <a:cs typeface="Malgun Gothic"/>
              </a:rPr>
              <a:t> </a:t>
            </a:r>
            <a:r>
              <a:rPr lang="ko-KR" sz="1350" b="0" dirty="0">
                <a:solidFill>
                  <a:srgbClr val="101511"/>
                </a:solidFill>
                <a:latin typeface="Malgun Gothic"/>
                <a:ea typeface="Malgun Gothic"/>
                <a:cs typeface="Malgun Gothic"/>
              </a:rPr>
              <a:t>이어서 </a:t>
            </a:r>
            <a:r>
              <a:rPr lang="ko-KR" altLang="en-US" sz="1350" b="0" dirty="0">
                <a:solidFill>
                  <a:srgbClr val="101511"/>
                </a:solidFill>
                <a:latin typeface="Malgun Gothic"/>
                <a:ea typeface="Malgun Gothic"/>
                <a:cs typeface="Malgun Gothic"/>
              </a:rPr>
              <a:t>저희 팀이</a:t>
            </a:r>
            <a:r>
              <a:rPr lang="ko-KR" sz="1350" b="0" dirty="0">
                <a:solidFill>
                  <a:srgbClr val="101511"/>
                </a:solidFill>
                <a:latin typeface="Malgun Gothic"/>
                <a:ea typeface="Malgun Gothic"/>
                <a:cs typeface="Malgun Gothic"/>
              </a:rPr>
              <a:t> 어떻게 소통하고 </a:t>
            </a:r>
            <a:r>
              <a:rPr lang="ko-KR" altLang="en-US" sz="1350" b="0" dirty="0">
                <a:solidFill>
                  <a:srgbClr val="101511"/>
                </a:solidFill>
                <a:latin typeface="Malgun Gothic"/>
                <a:ea typeface="Malgun Gothic"/>
                <a:cs typeface="Malgun Gothic"/>
              </a:rPr>
              <a:t>협업</a:t>
            </a:r>
            <a:r>
              <a:rPr lang="ko-KR" sz="1350" b="0" dirty="0">
                <a:solidFill>
                  <a:srgbClr val="101511"/>
                </a:solidFill>
                <a:latin typeface="Malgun Gothic"/>
                <a:ea typeface="Malgun Gothic"/>
                <a:cs typeface="Malgun Gothic"/>
              </a:rPr>
              <a:t>했는지 말씀드리겠습니다. 먼저 매일 아침 진행한 </a:t>
            </a:r>
            <a:r>
              <a:rPr lang="ko-KR" sz="1350" b="0" dirty="0" err="1">
                <a:solidFill>
                  <a:srgbClr val="101511"/>
                </a:solidFill>
                <a:latin typeface="Malgun Gothic"/>
                <a:ea typeface="Malgun Gothic"/>
                <a:cs typeface="Malgun Gothic"/>
              </a:rPr>
              <a:t>데일리</a:t>
            </a:r>
            <a:r>
              <a:rPr lang="ko-KR" sz="1350" b="0" dirty="0">
                <a:solidFill>
                  <a:srgbClr val="101511"/>
                </a:solidFill>
                <a:latin typeface="Malgun Gothic"/>
                <a:ea typeface="Malgun Gothic"/>
                <a:cs typeface="Malgun Gothic"/>
              </a:rPr>
              <a:t> 스크럼입니다.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r>
              <a:rPr lang="ko-KR" altLang="en-US" sz="1350" b="0" dirty="0">
                <a:solidFill>
                  <a:srgbClr val="101511"/>
                </a:solidFill>
                <a:latin typeface="Malgun Gothic"/>
                <a:ea typeface="Malgun Gothic"/>
                <a:cs typeface="Malgun Gothic"/>
              </a:rPr>
              <a:t> </a:t>
            </a:r>
            <a:r>
              <a:rPr lang="en-US" altLang="ko-KR" sz="1350" b="0" dirty="0">
                <a:solidFill>
                  <a:srgbClr val="101511"/>
                </a:solidFill>
                <a:latin typeface="Malgun Gothic"/>
                <a:ea typeface="Malgun Gothic"/>
                <a:cs typeface="Malgun Gothic"/>
              </a:rPr>
              <a:t>&lt;</a:t>
            </a:r>
            <a:r>
              <a:rPr lang="ko-KR" altLang="en-US" sz="1350" b="0" dirty="0">
                <a:solidFill>
                  <a:srgbClr val="101511"/>
                </a:solidFill>
                <a:latin typeface="Malgun Gothic"/>
                <a:ea typeface="Malgun Gothic"/>
                <a:cs typeface="Malgun Gothic"/>
              </a:rPr>
              <a:t>짧은 버전</a:t>
            </a:r>
            <a:r>
              <a:rPr lang="en-US" altLang="ko-KR" sz="1350" b="0" dirty="0">
                <a:solidFill>
                  <a:srgbClr val="101511"/>
                </a:solidFill>
                <a:latin typeface="Malgun Gothic"/>
                <a:ea typeface="Malgun Gothic"/>
                <a:cs typeface="Malgun Gothic"/>
              </a:rPr>
              <a:t>&gt;</a:t>
            </a:r>
            <a:r>
              <a:rPr lang="ko-KR" altLang="ko-KR" sz="1100" b="1" dirty="0">
                <a:solidFill>
                  <a:srgbClr val="101511"/>
                </a:solidFill>
                <a:latin typeface="Malgun Gothic"/>
                <a:ea typeface="Malgun Gothic"/>
                <a:cs typeface="Malgun Gothic"/>
              </a:rPr>
              <a:t>저희 팀은 매일 아침 </a:t>
            </a:r>
            <a:r>
              <a:rPr lang="ko-KR" altLang="ko-KR" sz="1100" b="1" dirty="0" err="1">
                <a:solidFill>
                  <a:srgbClr val="101511"/>
                </a:solidFill>
                <a:latin typeface="Malgun Gothic"/>
                <a:ea typeface="Malgun Gothic"/>
                <a:cs typeface="Malgun Gothic"/>
              </a:rPr>
              <a:t>데일리</a:t>
            </a:r>
            <a:r>
              <a:rPr lang="ko-KR" altLang="ko-KR" sz="1100" b="1" dirty="0">
                <a:solidFill>
                  <a:srgbClr val="101511"/>
                </a:solidFill>
                <a:latin typeface="Malgun Gothic"/>
                <a:ea typeface="Malgun Gothic"/>
                <a:cs typeface="Malgun Gothic"/>
              </a:rPr>
              <a:t> 스크럼에 </a:t>
            </a:r>
            <a:r>
              <a:rPr lang="ko-KR" altLang="ko-KR" sz="1100" b="1" dirty="0" err="1">
                <a:solidFill>
                  <a:srgbClr val="101511"/>
                </a:solidFill>
                <a:latin typeface="Malgun Gothic"/>
                <a:ea typeface="Malgun Gothic"/>
                <a:cs typeface="Malgun Gothic"/>
              </a:rPr>
              <a:t>피그마</a:t>
            </a:r>
            <a:r>
              <a:rPr lang="ko-KR" altLang="ko-KR" sz="1100" b="1" dirty="0">
                <a:solidFill>
                  <a:srgbClr val="101511"/>
                </a:solidFill>
                <a:latin typeface="Malgun Gothic"/>
                <a:ea typeface="Malgun Gothic"/>
                <a:cs typeface="Malgun Gothic"/>
              </a:rPr>
              <a:t> 보드를 </a:t>
            </a:r>
            <a:r>
              <a:rPr lang="ko-KR" altLang="en-US" sz="1100" b="1" dirty="0">
                <a:solidFill>
                  <a:srgbClr val="101511"/>
                </a:solidFill>
                <a:latin typeface="Malgun Gothic"/>
                <a:ea typeface="Malgun Gothic"/>
                <a:cs typeface="Malgun Gothic"/>
              </a:rPr>
              <a:t>이용해 협업하였습니다</a:t>
            </a:r>
            <a:r>
              <a:rPr lang="en-US" altLang="ko-KR" sz="1100" b="0" dirty="0">
                <a:solidFill>
                  <a:srgbClr val="101511"/>
                </a:solidFill>
                <a:latin typeface="Malgun Gothic"/>
                <a:ea typeface="Malgun Gothic"/>
                <a:cs typeface="Malgun Gothic"/>
              </a:rPr>
              <a:t>.</a:t>
            </a:r>
          </a:p>
          <a:p>
            <a:pPr algn="l">
              <a:lnSpc>
                <a:spcPct val="120000"/>
              </a:lnSpc>
              <a:spcAft>
                <a:spcPts val="0"/>
              </a:spcAft>
            </a:pPr>
            <a:endParaRPr lang="en-US" altLang="ko-KR" sz="1100" b="0" dirty="0">
              <a:solidFill>
                <a:srgbClr val="101511"/>
              </a:solidFill>
              <a:latin typeface="Malgun Gothic"/>
              <a:ea typeface="Malgun Gothic"/>
            </a:endParaRPr>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저희 팀은 매일 아침 </a:t>
            </a:r>
            <a:r>
              <a:rPr lang="ko-KR" sz="1350" b="0" dirty="0" err="1">
                <a:solidFill>
                  <a:srgbClr val="101511"/>
                </a:solidFill>
                <a:latin typeface="Malgun Gothic"/>
                <a:ea typeface="Malgun Gothic"/>
                <a:cs typeface="Malgun Gothic"/>
              </a:rPr>
              <a:t>데일리</a:t>
            </a:r>
            <a:r>
              <a:rPr lang="ko-KR" sz="1350" b="0" dirty="0">
                <a:solidFill>
                  <a:srgbClr val="101511"/>
                </a:solidFill>
                <a:latin typeface="Malgun Gothic"/>
                <a:ea typeface="Malgun Gothic"/>
                <a:cs typeface="Malgun Gothic"/>
              </a:rPr>
              <a:t> 스크럼 전에 </a:t>
            </a:r>
            <a:r>
              <a:rPr lang="ko-KR" sz="1350" b="0" dirty="0" err="1">
                <a:solidFill>
                  <a:srgbClr val="101511"/>
                </a:solidFill>
                <a:latin typeface="Malgun Gothic"/>
                <a:ea typeface="Malgun Gothic"/>
                <a:cs typeface="Malgun Gothic"/>
              </a:rPr>
              <a:t>피그마</a:t>
            </a:r>
            <a:r>
              <a:rPr lang="ko-KR" sz="1350" b="0" dirty="0">
                <a:solidFill>
                  <a:srgbClr val="101511"/>
                </a:solidFill>
                <a:latin typeface="Malgun Gothic"/>
                <a:ea typeface="Malgun Gothic"/>
                <a:cs typeface="Malgun Gothic"/>
              </a:rPr>
              <a:t> 보드를 확인했습니다. 왼쪽에서 공지와 주요 일정을 보고, 오른쪽에 각자의 상황을 미리 적었습니다.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기록은 어제 한 일, 오늘 할 일, 도움이 필요한 일로 나눴습니다. 팀장님은 이 내용을 확인하고, 함께 논의할 문제나 지원이 필요한 작업을 골랐습니다.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회의에서는 필요한 내용을 짧게 조율하고 그날의 업무를 나눴습니다. 이렇게 해서 누가 무엇을 하고 있는지, 어디에서 막혔는지 팀이 함께 알 수 있도록 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회의가 끝난 뒤 개발 중에 생기는 이야기는 </a:t>
            </a:r>
            <a:r>
              <a:rPr lang="ko-KR" altLang="en-US" sz="1350" b="0" dirty="0">
                <a:solidFill>
                  <a:srgbClr val="101511"/>
                </a:solidFill>
                <a:latin typeface="Malgun Gothic"/>
                <a:ea typeface="Malgun Gothic"/>
                <a:cs typeface="Malgun Gothic"/>
              </a:rPr>
              <a:t>직접 대화하거나 </a:t>
            </a:r>
            <a:r>
              <a:rPr lang="ko-KR" sz="1350" b="0" dirty="0" err="1">
                <a:solidFill>
                  <a:srgbClr val="101511"/>
                </a:solidFill>
                <a:latin typeface="Malgun Gothic"/>
                <a:ea typeface="Malgun Gothic"/>
                <a:cs typeface="Malgun Gothic"/>
              </a:rPr>
              <a:t>디스코드</a:t>
            </a:r>
            <a:r>
              <a:rPr lang="ko-KR" altLang="en-US" sz="1350" b="0" dirty="0" err="1">
                <a:solidFill>
                  <a:srgbClr val="101511"/>
                </a:solidFill>
                <a:latin typeface="Malgun Gothic"/>
                <a:ea typeface="Malgun Gothic"/>
                <a:cs typeface="Malgun Gothic"/>
              </a:rPr>
              <a:t>를</a:t>
            </a:r>
            <a:r>
              <a:rPr lang="ko-KR" altLang="en-US" sz="1350" b="0" dirty="0">
                <a:solidFill>
                  <a:srgbClr val="101511"/>
                </a:solidFill>
                <a:latin typeface="Malgun Gothic"/>
                <a:ea typeface="Malgun Gothic"/>
                <a:cs typeface="Malgun Gothic"/>
              </a:rPr>
              <a:t> 활용하였습</a:t>
            </a:r>
            <a:r>
              <a:rPr lang="ko-KR" sz="1350" b="0" dirty="0">
                <a:solidFill>
                  <a:srgbClr val="101511"/>
                </a:solidFill>
                <a:latin typeface="Malgun Gothic"/>
                <a:ea typeface="Malgun Gothic"/>
                <a:cs typeface="Malgun Gothic"/>
              </a:rPr>
              <a:t>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[발표 진행]</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필요하면 </a:t>
            </a:r>
            <a:r>
              <a:rPr lang="ko-KR" sz="1350" b="0" dirty="0" err="1">
                <a:solidFill>
                  <a:srgbClr val="101511"/>
                </a:solidFill>
                <a:latin typeface="Malgun Gothic"/>
                <a:ea typeface="Malgun Gothic"/>
                <a:cs typeface="Malgun Gothic"/>
              </a:rPr>
              <a:t>Figma</a:t>
            </a:r>
            <a:r>
              <a:rPr lang="ko-KR" sz="1350" b="0" dirty="0">
                <a:solidFill>
                  <a:srgbClr val="101511"/>
                </a:solidFill>
                <a:latin typeface="Malgun Gothic"/>
                <a:ea typeface="Malgun Gothic"/>
                <a:cs typeface="Malgun Gothic"/>
              </a:rPr>
              <a:t> 앱 링크를 누른다. 앱이 없는 발표 </a:t>
            </a:r>
            <a:r>
              <a:rPr lang="ko-KR" sz="1350" b="0" dirty="0" err="1">
                <a:solidFill>
                  <a:srgbClr val="101511"/>
                </a:solidFill>
                <a:latin typeface="Malgun Gothic"/>
                <a:ea typeface="Malgun Gothic"/>
                <a:cs typeface="Malgun Gothic"/>
              </a:rPr>
              <a:t>PC에서는</a:t>
            </a:r>
            <a:r>
              <a:rPr lang="ko-KR" sz="1350" b="0" dirty="0">
                <a:solidFill>
                  <a:srgbClr val="101511"/>
                </a:solidFill>
                <a:latin typeface="Malgun Gothic"/>
                <a:ea typeface="Malgun Gothic"/>
                <a:cs typeface="Malgun Gothic"/>
              </a:rPr>
              <a:t> 웹 링크를 사용한다. 화면의 일정은 실제 팀 활동 기록이며 </a:t>
            </a:r>
            <a:r>
              <a:rPr lang="ko-KR" sz="1350" b="0" dirty="0" err="1">
                <a:solidFill>
                  <a:srgbClr val="101511"/>
                </a:solidFill>
                <a:latin typeface="Malgun Gothic"/>
                <a:ea typeface="Malgun Gothic"/>
                <a:cs typeface="Malgun Gothic"/>
              </a:rPr>
              <a:t>최종발표</a:t>
            </a:r>
            <a:r>
              <a:rPr lang="ko-KR" sz="1350" b="0" dirty="0">
                <a:solidFill>
                  <a:srgbClr val="101511"/>
                </a:solidFill>
                <a:latin typeface="Malgun Gothic"/>
                <a:ea typeface="Malgun Gothic"/>
                <a:cs typeface="Malgun Gothic"/>
              </a:rPr>
              <a:t> 일정을 뜻하지 않는다.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[참고 자료]</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사용자 제공 팀 운영 방식 / </a:t>
            </a: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www.figma.com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board</a:t>
            </a:r>
            <a:r>
              <a:rPr lang="ko-KR" sz="1350" b="0" dirty="0">
                <a:solidFill>
                  <a:srgbClr val="101511"/>
                </a:solidFill>
                <a:latin typeface="Malgun Gothic"/>
                <a:ea typeface="Malgun Gothic"/>
                <a:cs typeface="Malgun Gothic"/>
              </a:rPr>
              <a:t>/uga9tU8ebqGN7rc2egT5fo/</a:t>
            </a:r>
            <a:r>
              <a:rPr lang="ko-KR" sz="1350" b="0" dirty="0" err="1">
                <a:solidFill>
                  <a:srgbClr val="101511"/>
                </a:solidFill>
                <a:latin typeface="Malgun Gothic"/>
                <a:ea typeface="Malgun Gothic"/>
                <a:cs typeface="Malgun Gothic"/>
              </a:rPr>
              <a:t>또바기?node-id</a:t>
            </a:r>
            <a:r>
              <a:rPr lang="ko-KR" sz="1350" b="0" dirty="0">
                <a:solidFill>
                  <a:srgbClr val="101511"/>
                </a:solidFill>
                <a:latin typeface="Malgun Gothic"/>
                <a:ea typeface="Malgun Gothic"/>
                <a:cs typeface="Malgun Gothic"/>
              </a:rPr>
              <a:t>=0-1</a:t>
            </a:r>
            <a:endParaRPr lang="ko-KR" dirty="0"/>
          </a:p>
          <a:p>
            <a:pPr algn="l">
              <a:lnSpc>
                <a:spcPct val="120000"/>
              </a:lnSpc>
              <a:spcAft>
                <a:spcPts val="0"/>
              </a:spcAft>
            </a:pPr>
            <a:r>
              <a:rPr lang="ko-KR" sz="1350" b="0" dirty="0" err="1">
                <a:solidFill>
                  <a:srgbClr val="101511"/>
                </a:solidFill>
                <a:latin typeface="Malgun Gothic"/>
                <a:ea typeface="Malgun Gothic"/>
                <a:cs typeface="Malgun Gothic"/>
              </a:rPr>
              <a:t>https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github.com</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team-ttobagi</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seoul-data-analysis</a:t>
            </a:r>
            <a:r>
              <a:rPr lang="ko-KR" sz="1350" b="0" dirty="0">
                <a:solidFill>
                  <a:srgbClr val="101511"/>
                </a:solidFill>
                <a:latin typeface="Malgun Gothic"/>
                <a:ea typeface="Malgun Gothic"/>
                <a:cs typeface="Malgun Gothic"/>
              </a:rPr>
              <a:t>/</a:t>
            </a:r>
            <a:r>
              <a:rPr lang="ko-KR" sz="1350" b="0" dirty="0" err="1">
                <a:solidFill>
                  <a:srgbClr val="101511"/>
                </a:solidFill>
                <a:latin typeface="Malgun Gothic"/>
                <a:ea typeface="Malgun Gothic"/>
                <a:cs typeface="Malgun Gothic"/>
              </a:rPr>
              <a:t>wiki</a:t>
            </a:r>
            <a:r>
              <a:rPr lang="ko-KR" sz="1350" b="0" dirty="0">
                <a:solidFill>
                  <a:srgbClr val="101511"/>
                </a:solidFill>
                <a:latin typeface="Malgun Gothic"/>
                <a:ea typeface="Malgun Gothic"/>
                <a:cs typeface="Malgun Gothic"/>
              </a:rPr>
              <a:t>/0921</a:t>
            </a:r>
            <a:endParaRPr lang="ko-K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피그마의 데일리 스크럼으로 하루의 할 일을 정한 뒤, 개발하는 동안의 소통은 팀 디스코드 서버에서 이어갔습니다. 이 화면에서 네 가지 주요 채팅 채널을 소개하겠습니다. 깃허브 채널에서는 누군가 GitHub에 푸시하면 봇 알림을 통해 작업 업데이트를 확인했고, 공지 채널에는 팀에 필요한 안내를 올렸습니다. 이미지와 링크, 파일을 공유하는 채널은 자주 쓰는 자료를 다시 찾는 공동 북마크처럼 활용했습니다. 화면에도 발표자료와 로고 시안을 공유한 기록이 보입니다. 그 밖의 이야기는 일반 채널에서 나눴습니다. 다음 페이지에서는 실제 코드를 함께 관리한 GitHub 협업 방식을 설명드리겠습니다.  참고 자료 사용자 제공 Discord 스크린샷: 준비자료/디스코드_스크린샷.png 채널 용도와 GitHub 푸시 자동 알림은 팀의 운영 방식에 대한 사용자 설명을 반영했습니다."/>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en-US" altLang="ko-KR" sz="1100" b="0" dirty="0">
                <a:solidFill>
                  <a:srgbClr val="101511"/>
                </a:solidFill>
                <a:latin typeface="Malgun Gothic"/>
                <a:ea typeface="Malgun Gothic"/>
                <a:cs typeface="Malgun Gothic"/>
              </a:rPr>
              <a:t>&lt;</a:t>
            </a:r>
            <a:r>
              <a:rPr lang="ko-KR" altLang="en-US" sz="1100" b="0" dirty="0">
                <a:solidFill>
                  <a:srgbClr val="101511"/>
                </a:solidFill>
                <a:latin typeface="Malgun Gothic"/>
                <a:ea typeface="Malgun Gothic"/>
                <a:cs typeface="Malgun Gothic"/>
              </a:rPr>
              <a:t>짧은 버전</a:t>
            </a:r>
            <a:r>
              <a:rPr lang="en-US" altLang="ko-KR" sz="1100" b="0" dirty="0">
                <a:solidFill>
                  <a:srgbClr val="101511"/>
                </a:solidFill>
                <a:latin typeface="Malgun Gothic"/>
                <a:ea typeface="Malgun Gothic"/>
                <a:cs typeface="Malgun Gothic"/>
              </a:rPr>
              <a:t>&gt;</a:t>
            </a:r>
            <a:r>
              <a:rPr lang="ko-KR" altLang="en-US" sz="1100" b="1" dirty="0">
                <a:solidFill>
                  <a:srgbClr val="101511"/>
                </a:solidFill>
                <a:latin typeface="Malgun Gothic"/>
                <a:ea typeface="Malgun Gothic"/>
                <a:cs typeface="Malgun Gothic"/>
              </a:rPr>
              <a:t>저희 팀은 더 적극적인 커뮤니케이션을 위해 </a:t>
            </a:r>
            <a:r>
              <a:rPr lang="ko-KR" altLang="ko-KR" sz="1100" b="1" dirty="0" err="1">
                <a:solidFill>
                  <a:srgbClr val="101511"/>
                </a:solidFill>
                <a:latin typeface="Malgun Gothic"/>
                <a:ea typeface="Malgun Gothic"/>
                <a:cs typeface="Malgun Gothic"/>
              </a:rPr>
              <a:t>디스코드에</a:t>
            </a:r>
            <a:r>
              <a:rPr lang="ko-KR" altLang="en-US" sz="1100" b="1" dirty="0">
                <a:solidFill>
                  <a:srgbClr val="101511"/>
                </a:solidFill>
                <a:latin typeface="Malgun Gothic"/>
                <a:ea typeface="Malgun Gothic"/>
                <a:cs typeface="Malgun Gothic"/>
              </a:rPr>
              <a:t> </a:t>
            </a:r>
            <a:r>
              <a:rPr lang="en-US" altLang="ko-KR" sz="1100" b="1" dirty="0">
                <a:solidFill>
                  <a:srgbClr val="101511"/>
                </a:solidFill>
                <a:latin typeface="Malgun Gothic"/>
                <a:ea typeface="Malgun Gothic"/>
                <a:cs typeface="Malgun Gothic"/>
              </a:rPr>
              <a:t>‘</a:t>
            </a:r>
            <a:r>
              <a:rPr lang="ko-KR" altLang="en-US" sz="1100" b="1" dirty="0">
                <a:solidFill>
                  <a:srgbClr val="101511"/>
                </a:solidFill>
                <a:latin typeface="Malgun Gothic"/>
                <a:ea typeface="Malgun Gothic"/>
                <a:cs typeface="Malgun Gothic"/>
              </a:rPr>
              <a:t>또바기</a:t>
            </a:r>
            <a:r>
              <a:rPr lang="en-US" altLang="ko-KR" sz="1100" b="1" dirty="0">
                <a:solidFill>
                  <a:srgbClr val="101511"/>
                </a:solidFill>
                <a:latin typeface="Malgun Gothic"/>
                <a:ea typeface="Malgun Gothic"/>
                <a:cs typeface="Malgun Gothic"/>
              </a:rPr>
              <a:t>’</a:t>
            </a:r>
            <a:r>
              <a:rPr lang="ko-KR" altLang="en-US" sz="1100" b="1" dirty="0">
                <a:solidFill>
                  <a:srgbClr val="101511"/>
                </a:solidFill>
                <a:latin typeface="Malgun Gothic"/>
                <a:ea typeface="Malgun Gothic"/>
                <a:cs typeface="Malgun Gothic"/>
              </a:rPr>
              <a:t>라는 </a:t>
            </a:r>
            <a:r>
              <a:rPr lang="ko-KR" altLang="en-US" sz="1100" b="1" dirty="0" err="1">
                <a:solidFill>
                  <a:srgbClr val="101511"/>
                </a:solidFill>
                <a:latin typeface="Malgun Gothic"/>
                <a:ea typeface="Malgun Gothic"/>
                <a:cs typeface="Malgun Gothic"/>
              </a:rPr>
              <a:t>팀서버를</a:t>
            </a:r>
            <a:r>
              <a:rPr lang="ko-KR" altLang="en-US" sz="1100" b="1" dirty="0">
                <a:solidFill>
                  <a:srgbClr val="101511"/>
                </a:solidFill>
                <a:latin typeface="Malgun Gothic"/>
                <a:ea typeface="Malgun Gothic"/>
                <a:cs typeface="Malgun Gothic"/>
              </a:rPr>
              <a:t> 만들어 협업에 활용하였습니다</a:t>
            </a:r>
            <a:r>
              <a:rPr lang="en-US" altLang="ko-KR" sz="1100" b="1" dirty="0">
                <a:solidFill>
                  <a:srgbClr val="101511"/>
                </a:solidFill>
                <a:latin typeface="Malgun Gothic"/>
                <a:ea typeface="Malgun Gothic"/>
                <a:cs typeface="Malgun Gothic"/>
              </a:rPr>
              <a:t>.</a:t>
            </a:r>
            <a:br>
              <a:rPr lang="en-US" altLang="ko-KR" sz="1100" b="0" dirty="0">
                <a:solidFill>
                  <a:srgbClr val="101511"/>
                </a:solidFill>
                <a:latin typeface="Malgun Gothic"/>
                <a:ea typeface="Malgun Gothic"/>
                <a:cs typeface="Malgun Gothic"/>
              </a:rPr>
            </a:br>
            <a:endParaRPr lang="ko-KR" dirty="0"/>
          </a:p>
          <a:p>
            <a:pPr algn="l">
              <a:lnSpc>
                <a:spcPct val="120000"/>
              </a:lnSpc>
              <a:spcAft>
                <a:spcPts val="0"/>
              </a:spcAft>
            </a:pPr>
            <a:r>
              <a:rPr lang="ko-KR" altLang="en-US" sz="1350" b="0" dirty="0">
                <a:solidFill>
                  <a:srgbClr val="101511"/>
                </a:solidFill>
                <a:latin typeface="Malgun Gothic"/>
                <a:ea typeface="Malgun Gothic"/>
                <a:cs typeface="Malgun Gothic"/>
              </a:rPr>
              <a:t>저희 팀은 더 적극적인 커뮤니케이션을 위해 </a:t>
            </a:r>
            <a:r>
              <a:rPr lang="ko-KR" sz="1350" b="0" dirty="0" err="1">
                <a:solidFill>
                  <a:srgbClr val="101511"/>
                </a:solidFill>
                <a:latin typeface="Malgun Gothic"/>
                <a:ea typeface="Malgun Gothic"/>
                <a:cs typeface="Malgun Gothic"/>
              </a:rPr>
              <a:t>디스코드에</a:t>
            </a:r>
            <a:r>
              <a:rPr lang="ko-KR" altLang="en-US" sz="1350" b="0" dirty="0">
                <a:solidFill>
                  <a:srgbClr val="101511"/>
                </a:solidFill>
                <a:latin typeface="Malgun Gothic"/>
                <a:ea typeface="Malgun Gothic"/>
                <a:cs typeface="Malgun Gothic"/>
              </a:rPr>
              <a:t> </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또바기</a:t>
            </a:r>
            <a:r>
              <a:rPr lang="en-US" altLang="ko-KR" sz="1350" b="0" dirty="0">
                <a:solidFill>
                  <a:srgbClr val="101511"/>
                </a:solidFill>
                <a:latin typeface="Malgun Gothic"/>
                <a:ea typeface="Malgun Gothic"/>
                <a:cs typeface="Malgun Gothic"/>
              </a:rPr>
              <a:t>’</a:t>
            </a:r>
            <a:r>
              <a:rPr lang="ko-KR" altLang="en-US" sz="1350" b="0" dirty="0">
                <a:solidFill>
                  <a:srgbClr val="101511"/>
                </a:solidFill>
                <a:latin typeface="Malgun Gothic"/>
                <a:ea typeface="Malgun Gothic"/>
                <a:cs typeface="Malgun Gothic"/>
              </a:rPr>
              <a:t>라는 </a:t>
            </a:r>
            <a:r>
              <a:rPr lang="ko-KR" altLang="en-US" sz="1350" b="0" dirty="0" err="1">
                <a:solidFill>
                  <a:srgbClr val="101511"/>
                </a:solidFill>
                <a:latin typeface="Malgun Gothic"/>
                <a:ea typeface="Malgun Gothic"/>
                <a:cs typeface="Malgun Gothic"/>
              </a:rPr>
              <a:t>팀서버를</a:t>
            </a:r>
            <a:r>
              <a:rPr lang="ko-KR" altLang="en-US" sz="1350" b="0" dirty="0">
                <a:solidFill>
                  <a:srgbClr val="101511"/>
                </a:solidFill>
                <a:latin typeface="Malgun Gothic"/>
                <a:ea typeface="Malgun Gothic"/>
                <a:cs typeface="Malgun Gothic"/>
              </a:rPr>
              <a:t> 만들었습니다</a:t>
            </a:r>
            <a:r>
              <a:rPr lang="en-US" altLang="ko-KR" sz="1350" b="0" dirty="0">
                <a:solidFill>
                  <a:srgbClr val="101511"/>
                </a:solidFill>
                <a:latin typeface="Malgun Gothic"/>
                <a:ea typeface="Malgun Gothic"/>
                <a:cs typeface="Malgun Gothic"/>
              </a:rPr>
              <a:t>.</a:t>
            </a:r>
            <a:br>
              <a:rPr lang="en-US" altLang="ko-KR" sz="1350" b="0" dirty="0">
                <a:solidFill>
                  <a:srgbClr val="101511"/>
                </a:solidFill>
                <a:latin typeface="Malgun Gothic"/>
                <a:ea typeface="Malgun Gothic"/>
                <a:cs typeface="Malgun Gothic"/>
              </a:rPr>
            </a:b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sz="1350" b="0" dirty="0">
                <a:solidFill>
                  <a:srgbClr val="101511"/>
                </a:solidFill>
                <a:latin typeface="Malgun Gothic"/>
                <a:ea typeface="Malgun Gothic"/>
                <a:cs typeface="Malgun Gothic"/>
              </a:rPr>
              <a:t>목적에 따라 채널을 나누었습니다. </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공지 채널에는 팀이 알아야 할 안내를 모았습니다. </a:t>
            </a:r>
            <a:r>
              <a:rPr lang="ko-KR" sz="1350" b="0" dirty="0" err="1">
                <a:solidFill>
                  <a:srgbClr val="101511"/>
                </a:solidFill>
                <a:latin typeface="Malgun Gothic"/>
                <a:ea typeface="Malgun Gothic"/>
                <a:cs typeface="Malgun Gothic"/>
              </a:rPr>
              <a:t>이미지·링크·파일</a:t>
            </a:r>
            <a:r>
              <a:rPr lang="ko-KR" sz="1350" b="0" dirty="0">
                <a:solidFill>
                  <a:srgbClr val="101511"/>
                </a:solidFill>
                <a:latin typeface="Malgun Gothic"/>
                <a:ea typeface="Malgun Gothic"/>
                <a:cs typeface="Malgun Gothic"/>
              </a:rPr>
              <a:t> 공유 채널은 자주 쓰는 자료를 다시 찾기 위한 공동 </a:t>
            </a:r>
            <a:r>
              <a:rPr lang="ko-KR" sz="1350" b="0" dirty="0" err="1">
                <a:solidFill>
                  <a:srgbClr val="101511"/>
                </a:solidFill>
                <a:latin typeface="Malgun Gothic"/>
                <a:ea typeface="Malgun Gothic"/>
                <a:cs typeface="Malgun Gothic"/>
              </a:rPr>
              <a:t>북마크처럼</a:t>
            </a:r>
            <a:r>
              <a:rPr lang="ko-KR" sz="1350" b="0" dirty="0">
                <a:solidFill>
                  <a:srgbClr val="101511"/>
                </a:solidFill>
                <a:latin typeface="Malgun Gothic"/>
                <a:ea typeface="Malgun Gothic"/>
                <a:cs typeface="Malgun Gothic"/>
              </a:rPr>
              <a:t> 사용했습니다.</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화면에도 로고 시안과 발표자료를 함께 검토한 기록이 보입니다. 그 밖의 개발 질문이나 일상적인 소통은 일반 채널에서 나눴습니다.</a:t>
            </a:r>
            <a:endParaRPr lang="en-US" altLang="ko-KR" sz="1350" b="0" dirty="0">
              <a:solidFill>
                <a:srgbClr val="101511"/>
              </a:solidFill>
              <a:latin typeface="Malgun Gothic"/>
              <a:ea typeface="Malgun Gothic"/>
              <a:cs typeface="Malgun Gothic"/>
            </a:endParaRPr>
          </a:p>
          <a:p>
            <a:pPr algn="l">
              <a:lnSpc>
                <a:spcPct val="120000"/>
              </a:lnSpc>
              <a:spcAft>
                <a:spcPts val="0"/>
              </a:spcAft>
            </a:pPr>
            <a:r>
              <a:rPr lang="ko-KR" altLang="ko-KR" sz="1100" b="0" dirty="0" err="1">
                <a:solidFill>
                  <a:srgbClr val="101511"/>
                </a:solidFill>
                <a:latin typeface="Malgun Gothic"/>
                <a:ea typeface="Malgun Gothic"/>
                <a:cs typeface="Malgun Gothic"/>
              </a:rPr>
              <a:t>깃허브</a:t>
            </a:r>
            <a:r>
              <a:rPr lang="ko-KR" altLang="ko-KR" sz="1100" b="0" dirty="0">
                <a:solidFill>
                  <a:srgbClr val="101511"/>
                </a:solidFill>
                <a:latin typeface="Malgun Gothic"/>
                <a:ea typeface="Malgun Gothic"/>
                <a:cs typeface="Malgun Gothic"/>
              </a:rPr>
              <a:t> 채널은 코드가 </a:t>
            </a:r>
            <a:r>
              <a:rPr lang="ko-KR" altLang="ko-KR" sz="1100" b="0" dirty="0" err="1">
                <a:solidFill>
                  <a:srgbClr val="101511"/>
                </a:solidFill>
                <a:latin typeface="Malgun Gothic"/>
                <a:ea typeface="Malgun Gothic"/>
                <a:cs typeface="Malgun Gothic"/>
              </a:rPr>
              <a:t>푸시될</a:t>
            </a:r>
            <a:r>
              <a:rPr lang="ko-KR" altLang="ko-KR" sz="1100" b="0" dirty="0">
                <a:solidFill>
                  <a:srgbClr val="101511"/>
                </a:solidFill>
                <a:latin typeface="Malgun Gothic"/>
                <a:ea typeface="Malgun Gothic"/>
                <a:cs typeface="Malgun Gothic"/>
              </a:rPr>
              <a:t> 때 </a:t>
            </a:r>
            <a:r>
              <a:rPr lang="ko-KR" altLang="en-US" sz="1100" b="0" dirty="0" err="1">
                <a:solidFill>
                  <a:srgbClr val="101511"/>
                </a:solidFill>
                <a:latin typeface="Malgun Gothic"/>
                <a:ea typeface="Malgun Gothic"/>
                <a:cs typeface="Malgun Gothic"/>
              </a:rPr>
              <a:t>챗봇이</a:t>
            </a:r>
            <a:r>
              <a:rPr lang="ko-KR" altLang="en-US" sz="1100" b="0" dirty="0">
                <a:solidFill>
                  <a:srgbClr val="101511"/>
                </a:solidFill>
                <a:latin typeface="Malgun Gothic"/>
                <a:ea typeface="Malgun Gothic"/>
                <a:cs typeface="Malgun Gothic"/>
              </a:rPr>
              <a:t> 그 내용 요약을 자동 기록하는 채널로</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 팀원들이 디스코드앱으로 즉각적인 푸시 </a:t>
            </a:r>
            <a:r>
              <a:rPr lang="ko-KR" altLang="ko-KR" sz="1100" b="0" dirty="0">
                <a:solidFill>
                  <a:srgbClr val="101511"/>
                </a:solidFill>
                <a:latin typeface="Malgun Gothic"/>
                <a:ea typeface="Malgun Gothic"/>
                <a:cs typeface="Malgun Gothic"/>
              </a:rPr>
              <a:t>알림을 받아 </a:t>
            </a:r>
            <a:r>
              <a:rPr lang="ko-KR" altLang="en-US" sz="1100" b="0" dirty="0">
                <a:solidFill>
                  <a:srgbClr val="101511"/>
                </a:solidFill>
                <a:latin typeface="Malgun Gothic"/>
                <a:ea typeface="Malgun Gothic"/>
                <a:cs typeface="Malgun Gothic"/>
              </a:rPr>
              <a:t>관련된 </a:t>
            </a:r>
            <a:r>
              <a:rPr lang="ko-KR" altLang="ko-KR" sz="1100" b="0" dirty="0">
                <a:solidFill>
                  <a:srgbClr val="101511"/>
                </a:solidFill>
                <a:latin typeface="Malgun Gothic"/>
                <a:ea typeface="Malgun Gothic"/>
                <a:cs typeface="Malgun Gothic"/>
              </a:rPr>
              <a:t>팀원</a:t>
            </a:r>
            <a:r>
              <a:rPr lang="ko-KR" altLang="en-US" sz="1100" b="0" dirty="0">
                <a:solidFill>
                  <a:srgbClr val="101511"/>
                </a:solidFill>
                <a:latin typeface="Malgun Gothic"/>
                <a:ea typeface="Malgun Gothic"/>
                <a:cs typeface="Malgun Gothic"/>
              </a:rPr>
              <a:t>이 적시에 다음 작업을 시작할 수 있게</a:t>
            </a:r>
            <a:r>
              <a:rPr lang="ko-KR" altLang="ko-KR" sz="1100" b="0" dirty="0">
                <a:solidFill>
                  <a:srgbClr val="101511"/>
                </a:solidFill>
                <a:latin typeface="Malgun Gothic"/>
                <a:ea typeface="Malgun Gothic"/>
                <a:cs typeface="Malgun Gothic"/>
              </a:rPr>
              <a:t> </a:t>
            </a:r>
            <a:r>
              <a:rPr lang="ko-KR" altLang="en-US" sz="1100" b="0" dirty="0">
                <a:solidFill>
                  <a:srgbClr val="101511"/>
                </a:solidFill>
                <a:latin typeface="Malgun Gothic"/>
                <a:ea typeface="Malgun Gothic"/>
                <a:cs typeface="Malgun Gothic"/>
              </a:rPr>
              <a:t>합니</a:t>
            </a:r>
            <a:r>
              <a:rPr lang="ko-KR" altLang="ko-KR" sz="1100" b="0" dirty="0">
                <a:solidFill>
                  <a:srgbClr val="101511"/>
                </a:solidFill>
                <a:latin typeface="Malgun Gothic"/>
                <a:ea typeface="Malgun Gothic"/>
                <a:cs typeface="Malgun Gothic"/>
              </a:rPr>
              <a:t>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[전환]</a:t>
            </a:r>
            <a:endParaRPr lang="ko-KR" dirty="0"/>
          </a:p>
          <a:p>
            <a:pPr algn="l">
              <a:lnSpc>
                <a:spcPct val="120000"/>
              </a:lnSpc>
              <a:spcAft>
                <a:spcPts val="0"/>
              </a:spcAft>
            </a:pPr>
            <a:r>
              <a:rPr lang="ko-KR" sz="1350" b="0" dirty="0">
                <a:solidFill>
                  <a:srgbClr val="101511"/>
                </a:solidFill>
                <a:latin typeface="Malgun Gothic"/>
                <a:ea typeface="Malgun Gothic"/>
                <a:cs typeface="Malgun Gothic"/>
              </a:rPr>
              <a:t>실제 코드를 합치고 작업 상태를 관리한 방법은 다음 페이지에서 </a:t>
            </a:r>
            <a:r>
              <a:rPr lang="ko-KR" sz="1350" b="0" dirty="0" err="1">
                <a:solidFill>
                  <a:srgbClr val="101511"/>
                </a:solidFill>
                <a:latin typeface="Malgun Gothic"/>
                <a:ea typeface="Malgun Gothic"/>
                <a:cs typeface="Malgun Gothic"/>
              </a:rPr>
              <a:t>설명드리겠습니다</a:t>
            </a:r>
            <a:r>
              <a:rPr lang="ko-KR" sz="1350" b="0" dirty="0">
                <a:solidFill>
                  <a:srgbClr val="101511"/>
                </a:solidFill>
                <a:latin typeface="Malgun Gothic"/>
                <a:ea typeface="Malgun Gothic"/>
                <a:cs typeface="Malgun Gothic"/>
              </a:rPr>
              <a:t>.</a:t>
            </a:r>
            <a:endParaRPr lang="ko-KR" dirty="0"/>
          </a:p>
          <a:p>
            <a:pPr algn="l">
              <a:lnSpc>
                <a:spcPct val="120000"/>
              </a:lnSpc>
              <a:spcAft>
                <a:spcPts val="0"/>
              </a:spcAft>
            </a:pPr>
            <a:endParaRPr lang="ko-K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pPr algn="l">
              <a:lnSpc>
                <a:spcPct val="120000"/>
              </a:lnSpc>
              <a:spcAft>
                <a:spcPts val="0"/>
              </a:spcAft>
            </a:pPr>
            <a:r>
              <a:rPr lang="ko-KR" sz="1350" b="0" dirty="0">
                <a:solidFill>
                  <a:srgbClr val="101511"/>
                </a:solidFill>
                <a:latin typeface="Malgun Gothic"/>
                <a:ea typeface="Malgun Gothic"/>
                <a:cs typeface="Malgun Gothic"/>
              </a:rPr>
              <a:t>[발표]</a:t>
            </a:r>
            <a:r>
              <a:rPr lang="en-US" altLang="ko-KR" sz="1100" b="0" dirty="0">
                <a:solidFill>
                  <a:srgbClr val="101511"/>
                </a:solidFill>
                <a:latin typeface="Malgun Gothic"/>
                <a:ea typeface="Malgun Gothic"/>
                <a:cs typeface="Malgun Gothic"/>
              </a:rPr>
              <a:t> &lt;</a:t>
            </a:r>
            <a:r>
              <a:rPr lang="ko-KR" altLang="en-US" sz="1100" b="0" dirty="0">
                <a:solidFill>
                  <a:srgbClr val="101511"/>
                </a:solidFill>
                <a:latin typeface="Malgun Gothic"/>
                <a:ea typeface="Malgun Gothic"/>
                <a:cs typeface="Malgun Gothic"/>
              </a:rPr>
              <a:t>짧은 버전</a:t>
            </a:r>
            <a:r>
              <a:rPr lang="en-US" altLang="ko-KR" sz="1100" b="0" dirty="0">
                <a:solidFill>
                  <a:srgbClr val="101511"/>
                </a:solidFill>
                <a:latin typeface="Malgun Gothic"/>
                <a:ea typeface="Malgun Gothic"/>
                <a:cs typeface="Malgun Gothic"/>
              </a:rPr>
              <a:t>&gt;</a:t>
            </a:r>
            <a:r>
              <a:rPr lang="ko-KR" altLang="en-US" sz="1100" b="0" dirty="0">
                <a:solidFill>
                  <a:srgbClr val="101511"/>
                </a:solidFill>
                <a:latin typeface="Malgun Gothic"/>
                <a:ea typeface="Malgun Gothic"/>
                <a:cs typeface="Malgun Gothic"/>
              </a:rPr>
              <a:t>저희 팀은 </a:t>
            </a:r>
            <a:r>
              <a:rPr lang="ko-KR" altLang="en-US" sz="1100" b="1" dirty="0" err="1">
                <a:solidFill>
                  <a:srgbClr val="101511"/>
                </a:solidFill>
                <a:latin typeface="Malgun Gothic"/>
                <a:ea typeface="Malgun Gothic"/>
                <a:cs typeface="Malgun Gothic"/>
              </a:rPr>
              <a:t>깃허브의</a:t>
            </a:r>
            <a:r>
              <a:rPr lang="ko-KR" altLang="en-US" sz="1100" b="1" dirty="0">
                <a:solidFill>
                  <a:srgbClr val="101511"/>
                </a:solidFill>
                <a:latin typeface="Malgun Gothic"/>
                <a:ea typeface="Malgun Gothic"/>
                <a:cs typeface="Malgun Gothic"/>
              </a:rPr>
              <a:t> 다양한 기능을 많이 활용하여 개발하였습니다</a:t>
            </a:r>
            <a:r>
              <a:rPr lang="en-US" altLang="ko-KR" sz="1100" b="1" dirty="0">
                <a:solidFill>
                  <a:srgbClr val="101511"/>
                </a:solidFill>
                <a:latin typeface="Malgun Gothic"/>
                <a:ea typeface="Malgun Gothic"/>
                <a:cs typeface="Malgun Gothic"/>
              </a:rPr>
              <a:t>.</a:t>
            </a:r>
            <a:r>
              <a:rPr lang="ko-KR" altLang="en-US" sz="1100" b="1" dirty="0">
                <a:solidFill>
                  <a:srgbClr val="101511"/>
                </a:solidFill>
                <a:latin typeface="Malgun Gothic"/>
                <a:ea typeface="Malgun Gothic"/>
                <a:cs typeface="Malgun Gothic"/>
              </a:rPr>
              <a:t> </a:t>
            </a:r>
            <a:endParaRPr lang="en-US" altLang="ko-KR" sz="1100" b="1" dirty="0">
              <a:solidFill>
                <a:srgbClr val="101511"/>
              </a:solidFill>
              <a:latin typeface="Malgun Gothic"/>
              <a:ea typeface="Malgun Gothic"/>
              <a:cs typeface="Malgun Gothic"/>
            </a:endParaRPr>
          </a:p>
          <a:p>
            <a:pPr algn="l">
              <a:lnSpc>
                <a:spcPct val="120000"/>
              </a:lnSpc>
              <a:spcAft>
                <a:spcPts val="0"/>
              </a:spcAft>
            </a:pPr>
            <a:r>
              <a:rPr lang="ko-KR" altLang="en-US" sz="1100" b="1" dirty="0">
                <a:solidFill>
                  <a:srgbClr val="101511"/>
                </a:solidFill>
                <a:latin typeface="Malgun Gothic"/>
                <a:ea typeface="Malgun Gothic"/>
                <a:cs typeface="Malgun Gothic"/>
              </a:rPr>
              <a:t>그 중에 하나는 우리 프로젝트의 진행 </a:t>
            </a:r>
            <a:r>
              <a:rPr lang="ko-KR" altLang="ko-KR" sz="1100" b="1" dirty="0">
                <a:solidFill>
                  <a:srgbClr val="101511"/>
                </a:solidFill>
                <a:latin typeface="Malgun Gothic"/>
                <a:ea typeface="Malgun Gothic"/>
                <a:cs typeface="Malgun Gothic"/>
              </a:rPr>
              <a:t>과정</a:t>
            </a:r>
            <a:r>
              <a:rPr lang="ko-KR" altLang="en-US" sz="1100" b="1" dirty="0">
                <a:solidFill>
                  <a:srgbClr val="101511"/>
                </a:solidFill>
                <a:latin typeface="Malgun Gothic"/>
                <a:ea typeface="Malgun Gothic"/>
                <a:cs typeface="Malgun Gothic"/>
              </a:rPr>
              <a:t>을</a:t>
            </a:r>
            <a:r>
              <a:rPr lang="ko-KR" altLang="ko-KR" sz="1100" b="1" dirty="0">
                <a:solidFill>
                  <a:srgbClr val="101511"/>
                </a:solidFill>
                <a:latin typeface="Malgun Gothic"/>
                <a:ea typeface="Malgun Gothic"/>
                <a:cs typeface="Malgun Gothic"/>
              </a:rPr>
              <a:t> </a:t>
            </a:r>
            <a:r>
              <a:rPr lang="ko-KR" altLang="en-US" sz="1100" b="1" dirty="0" err="1">
                <a:solidFill>
                  <a:srgbClr val="101511"/>
                </a:solidFill>
                <a:latin typeface="Malgun Gothic"/>
                <a:ea typeface="Malgun Gothic"/>
                <a:cs typeface="Malgun Gothic"/>
              </a:rPr>
              <a:t>깃허브</a:t>
            </a:r>
            <a:r>
              <a:rPr lang="ko-KR" altLang="en-US" sz="1100" b="1" dirty="0">
                <a:solidFill>
                  <a:srgbClr val="101511"/>
                </a:solidFill>
                <a:latin typeface="Malgun Gothic"/>
                <a:ea typeface="Malgun Gothic"/>
                <a:cs typeface="Malgun Gothic"/>
              </a:rPr>
              <a:t> </a:t>
            </a:r>
            <a:r>
              <a:rPr lang="ko-KR" altLang="ko-KR" sz="1100" b="1" dirty="0">
                <a:solidFill>
                  <a:srgbClr val="101511"/>
                </a:solidFill>
                <a:latin typeface="Malgun Gothic"/>
                <a:ea typeface="Malgun Gothic"/>
                <a:cs typeface="Malgun Gothic"/>
              </a:rPr>
              <a:t>위키에 </a:t>
            </a:r>
            <a:r>
              <a:rPr lang="ko-KR" altLang="ko-KR" sz="1100" b="1" dirty="0" err="1">
                <a:solidFill>
                  <a:srgbClr val="101511"/>
                </a:solidFill>
                <a:latin typeface="Malgun Gothic"/>
                <a:ea typeface="Malgun Gothic"/>
                <a:cs typeface="Malgun Gothic"/>
              </a:rPr>
              <a:t>정리해</a:t>
            </a:r>
            <a:r>
              <a:rPr lang="ko-KR" altLang="en-US" sz="1100" b="1" dirty="0" err="1">
                <a:solidFill>
                  <a:srgbClr val="101511"/>
                </a:solidFill>
                <a:latin typeface="Malgun Gothic"/>
                <a:ea typeface="Malgun Gothic"/>
                <a:cs typeface="Malgun Gothic"/>
              </a:rPr>
              <a:t>두었다는</a:t>
            </a:r>
            <a:r>
              <a:rPr lang="ko-KR" altLang="en-US" sz="1100" b="1" dirty="0">
                <a:solidFill>
                  <a:srgbClr val="101511"/>
                </a:solidFill>
                <a:latin typeface="Malgun Gothic"/>
                <a:ea typeface="Malgun Gothic"/>
                <a:cs typeface="Malgun Gothic"/>
              </a:rPr>
              <a:t> </a:t>
            </a:r>
            <a:r>
              <a:rPr lang="ko-KR" altLang="en-US" sz="1100" b="1" dirty="0" err="1">
                <a:solidFill>
                  <a:srgbClr val="101511"/>
                </a:solidFill>
                <a:latin typeface="Malgun Gothic"/>
                <a:ea typeface="Malgun Gothic"/>
                <a:cs typeface="Malgun Gothic"/>
              </a:rPr>
              <a:t>것있</a:t>
            </a:r>
            <a:r>
              <a:rPr lang="ko-KR" altLang="ko-KR" sz="1100" b="1" dirty="0" err="1">
                <a:solidFill>
                  <a:srgbClr val="101511"/>
                </a:solidFill>
                <a:latin typeface="Malgun Gothic"/>
                <a:ea typeface="Malgun Gothic"/>
                <a:cs typeface="Malgun Gothic"/>
              </a:rPr>
              <a:t>니다</a:t>
            </a:r>
            <a:r>
              <a:rPr lang="ko-KR" altLang="ko-KR" sz="1100" b="1" dirty="0">
                <a:solidFill>
                  <a:srgbClr val="101511"/>
                </a:solidFill>
                <a:latin typeface="Malgun Gothic"/>
                <a:ea typeface="Malgun Gothic"/>
                <a:cs typeface="Malgun Gothic"/>
              </a:rPr>
              <a:t>.</a:t>
            </a:r>
            <a:endParaRPr lang="en-US" altLang="ko-KR" sz="1100" b="1"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en-US" sz="1100" b="0" dirty="0">
                <a:solidFill>
                  <a:srgbClr val="101511"/>
                </a:solidFill>
                <a:latin typeface="Malgun Gothic"/>
                <a:ea typeface="Malgun Gothic"/>
              </a:rPr>
              <a:t>잠깐 </a:t>
            </a:r>
            <a:r>
              <a:rPr lang="ko-KR" altLang="en-US" sz="1100" b="0" dirty="0" err="1">
                <a:solidFill>
                  <a:srgbClr val="101511"/>
                </a:solidFill>
                <a:latin typeface="Malgun Gothic"/>
                <a:ea typeface="Malgun Gothic"/>
              </a:rPr>
              <a:t>깃허브의</a:t>
            </a:r>
            <a:r>
              <a:rPr lang="ko-KR" altLang="en-US" sz="1100" b="0" dirty="0">
                <a:solidFill>
                  <a:srgbClr val="101511"/>
                </a:solidFill>
                <a:latin typeface="Malgun Gothic"/>
                <a:ea typeface="Malgun Gothic"/>
              </a:rPr>
              <a:t> 위키 내용 중 트러블 슈팅 기록을 확인하겠습니다</a:t>
            </a:r>
            <a:r>
              <a:rPr lang="en-US" altLang="ko-KR" sz="1100" b="0" dirty="0">
                <a:solidFill>
                  <a:srgbClr val="101511"/>
                </a:solidFill>
                <a:latin typeface="Malgun Gothic"/>
                <a:ea typeface="Malgun Gothic"/>
              </a:rPr>
              <a:t>.</a:t>
            </a:r>
            <a:r>
              <a:rPr lang="en-US" altLang="ko-KR" sz="1100" b="1" dirty="0">
                <a:solidFill>
                  <a:srgbClr val="101511"/>
                </a:solidFill>
                <a:latin typeface="Malgun Gothic"/>
                <a:ea typeface="Malgun Gothic"/>
              </a:rPr>
              <a:t>[</a:t>
            </a:r>
            <a:r>
              <a:rPr lang="ko-KR" altLang="en-US" sz="1100" b="1" dirty="0">
                <a:solidFill>
                  <a:srgbClr val="101511"/>
                </a:solidFill>
                <a:latin typeface="Malgun Gothic"/>
                <a:ea typeface="Malgun Gothic"/>
              </a:rPr>
              <a:t>링크 이동</a:t>
            </a:r>
            <a:r>
              <a:rPr lang="en-US" altLang="ko-KR" sz="1100" b="1" dirty="0">
                <a:solidFill>
                  <a:srgbClr val="101511"/>
                </a:solidFill>
                <a:latin typeface="Malgun Gothic"/>
                <a:ea typeface="Malgun Gothic"/>
              </a:rPr>
              <a:t>:</a:t>
            </a:r>
            <a:r>
              <a:rPr lang="ko-KR" altLang="en-US" sz="1100" b="1" dirty="0">
                <a:solidFill>
                  <a:srgbClr val="101511"/>
                </a:solidFill>
                <a:latin typeface="Malgun Gothic"/>
                <a:ea typeface="Malgun Gothic"/>
              </a:rPr>
              <a:t> </a:t>
            </a:r>
            <a:r>
              <a:rPr lang="ko-KR" altLang="ko-KR" sz="1100" b="1" dirty="0" err="1">
                <a:solidFill>
                  <a:srgbClr val="66716B"/>
                </a:solidFill>
                <a:latin typeface="Malgun Gothic"/>
                <a:ea typeface="Malgun Gothic"/>
                <a:cs typeface="Malgun Gothic"/>
              </a:rPr>
              <a:t>Wiki에</a:t>
            </a:r>
            <a:r>
              <a:rPr lang="ko-KR" altLang="ko-KR" sz="1100" b="1" dirty="0">
                <a:solidFill>
                  <a:srgbClr val="66716B"/>
                </a:solidFill>
                <a:latin typeface="Malgun Gothic"/>
                <a:ea typeface="Malgun Gothic"/>
                <a:cs typeface="Malgun Gothic"/>
              </a:rPr>
              <a:t> </a:t>
            </a:r>
            <a:r>
              <a:rPr lang="ko-KR" altLang="en-US" sz="1100" b="1" dirty="0">
                <a:solidFill>
                  <a:srgbClr val="66716B"/>
                </a:solidFill>
                <a:latin typeface="Malgun Gothic"/>
                <a:ea typeface="Malgun Gothic"/>
                <a:cs typeface="Malgun Gothic"/>
              </a:rPr>
              <a:t>트러블 슈팅 </a:t>
            </a:r>
            <a:r>
              <a:rPr lang="ko-KR" altLang="ko-KR" sz="1100" b="1" dirty="0">
                <a:solidFill>
                  <a:srgbClr val="66716B"/>
                </a:solidFill>
                <a:latin typeface="Malgun Gothic"/>
                <a:ea typeface="Malgun Gothic"/>
                <a:cs typeface="Malgun Gothic"/>
              </a:rPr>
              <a:t>기록</a:t>
            </a:r>
            <a:r>
              <a:rPr lang="en-US" altLang="ko-KR" sz="1100" b="1" dirty="0">
                <a:solidFill>
                  <a:srgbClr val="101511"/>
                </a:solidFill>
                <a:latin typeface="Malgun Gothic"/>
                <a:ea typeface="Malgun Gothic"/>
              </a:rPr>
              <a:t>]</a:t>
            </a: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endParaRPr lang="ko-KR" altLang="ko-KR" b="1" dirty="0"/>
          </a:p>
          <a:p>
            <a:pPr algn="l">
              <a:lnSpc>
                <a:spcPct val="120000"/>
              </a:lnSpc>
              <a:spcAft>
                <a:spcPts val="0"/>
              </a:spcAft>
            </a:pPr>
            <a:r>
              <a:rPr lang="en-US" altLang="ko-KR" b="1" dirty="0"/>
              <a:t>&lt;ERD</a:t>
            </a:r>
            <a:r>
              <a:rPr lang="ko-KR" altLang="en-US" b="1" dirty="0" err="1"/>
              <a:t>를</a:t>
            </a:r>
            <a:r>
              <a:rPr lang="ko-KR" altLang="en-US" b="1" dirty="0"/>
              <a:t> 포함한 그 밖의 위키 메뉴 내용을 잠깐 설명한다</a:t>
            </a:r>
            <a:r>
              <a:rPr lang="en-US" altLang="ko-KR" b="1" dirty="0"/>
              <a:t>&gt;</a:t>
            </a:r>
          </a:p>
          <a:p>
            <a:pPr algn="l">
              <a:lnSpc>
                <a:spcPct val="120000"/>
              </a:lnSpc>
              <a:spcAft>
                <a:spcPts val="0"/>
              </a:spcAft>
            </a:pPr>
            <a:r>
              <a:rPr lang="en-US" altLang="ko-KR" dirty="0"/>
              <a:t>(</a:t>
            </a:r>
            <a:r>
              <a:rPr lang="ko-KR" altLang="en-US" dirty="0"/>
              <a:t>생략</a:t>
            </a:r>
            <a:r>
              <a:rPr lang="en-US" altLang="ko-KR" dirty="0"/>
              <a:t>&gt;</a:t>
            </a:r>
            <a:r>
              <a:rPr lang="ko-KR" altLang="en-US" dirty="0" err="1"/>
              <a:t>이와같이</a:t>
            </a:r>
            <a:r>
              <a:rPr lang="ko-KR" altLang="en-US" dirty="0"/>
              <a:t> 프로젝트의 진행 과정을 위키에 기록하였습니다</a:t>
            </a:r>
            <a:r>
              <a:rPr lang="en-US" altLang="ko-KR" dirty="0"/>
              <a:t>.</a:t>
            </a:r>
          </a:p>
          <a:p>
            <a:pPr algn="l">
              <a:lnSpc>
                <a:spcPct val="120000"/>
              </a:lnSpc>
              <a:spcAft>
                <a:spcPts val="0"/>
              </a:spcAft>
            </a:pPr>
            <a:endParaRPr lang="en-US" altLang="ko-KR" dirty="0"/>
          </a:p>
          <a:p>
            <a:pPr algn="l">
              <a:lnSpc>
                <a:spcPct val="120000"/>
              </a:lnSpc>
              <a:spcAft>
                <a:spcPts val="0"/>
              </a:spcAft>
            </a:pPr>
            <a:r>
              <a:rPr lang="ko-KR" altLang="ko-KR" sz="1100" b="0" dirty="0">
                <a:solidFill>
                  <a:srgbClr val="101511"/>
                </a:solidFill>
                <a:latin typeface="Malgun Gothic"/>
                <a:ea typeface="Malgun Gothic"/>
                <a:cs typeface="Malgun Gothic"/>
              </a:rPr>
              <a:t>[전환]</a:t>
            </a:r>
            <a:endParaRPr lang="ko-KR" altLang="ko-KR" dirty="0"/>
          </a:p>
          <a:p>
            <a:pPr algn="l">
              <a:lnSpc>
                <a:spcPct val="120000"/>
              </a:lnSpc>
              <a:spcAft>
                <a:spcPts val="0"/>
              </a:spcAft>
            </a:pPr>
            <a:r>
              <a:rPr lang="ko-KR" altLang="en-US" sz="1100" b="0" dirty="0" err="1">
                <a:solidFill>
                  <a:srgbClr val="101511"/>
                </a:solidFill>
                <a:latin typeface="Malgun Gothic"/>
                <a:ea typeface="Malgun Gothic"/>
                <a:cs typeface="Malgun Gothic"/>
              </a:rPr>
              <a:t>다음페이지</a:t>
            </a:r>
            <a:r>
              <a:rPr lang="en-US" altLang="ko-KR" sz="1100" b="0" dirty="0">
                <a:solidFill>
                  <a:srgbClr val="101511"/>
                </a:solidFill>
                <a:latin typeface="Malgun Gothic"/>
                <a:ea typeface="Malgun Gothic"/>
                <a:cs typeface="Malgun Gothic"/>
              </a:rPr>
              <a:t>=&gt;</a:t>
            </a:r>
            <a:r>
              <a:rPr lang="ko-KR" altLang="en-US" sz="1100" b="0" dirty="0">
                <a:solidFill>
                  <a:srgbClr val="101511"/>
                </a:solidFill>
                <a:latin typeface="Malgun Gothic"/>
                <a:ea typeface="Malgun Gothic"/>
                <a:cs typeface="Malgun Gothic"/>
              </a:rPr>
              <a:t> 넘긴다</a:t>
            </a:r>
            <a:r>
              <a:rPr lang="en-US" altLang="ko-KR" sz="1100" b="0" dirty="0">
                <a:solidFill>
                  <a:srgbClr val="101511"/>
                </a:solidFill>
                <a:latin typeface="Malgun Gothic"/>
                <a:ea typeface="Malgun Gothic"/>
                <a:cs typeface="Malgun Gothic"/>
              </a:rPr>
              <a:t>.(</a:t>
            </a:r>
            <a:r>
              <a:rPr lang="ko-KR" altLang="en-US" sz="1100" b="0" dirty="0">
                <a:solidFill>
                  <a:srgbClr val="101511"/>
                </a:solidFill>
                <a:latin typeface="Malgun Gothic"/>
                <a:ea typeface="Malgun Gothic"/>
                <a:cs typeface="Malgun Gothic"/>
              </a:rPr>
              <a:t>마지막 </a:t>
            </a:r>
            <a:r>
              <a:rPr lang="en-US" altLang="ko-KR" sz="1100" b="0" dirty="0">
                <a:solidFill>
                  <a:srgbClr val="101511"/>
                </a:solidFill>
                <a:latin typeface="Malgun Gothic"/>
                <a:ea typeface="Malgun Gothic"/>
                <a:cs typeface="Malgun Gothic"/>
              </a:rPr>
              <a:t>Q/A)</a:t>
            </a:r>
            <a:endParaRPr lang="ko-KR" altLang="ko-KR" dirty="0"/>
          </a:p>
          <a:p>
            <a:pPr algn="l">
              <a:lnSpc>
                <a:spcPct val="120000"/>
              </a:lnSpc>
              <a:spcAft>
                <a:spcPts val="0"/>
              </a:spcAft>
            </a:pPr>
            <a:endParaRPr lang="ko-KR" altLang="ko-KR" dirty="0"/>
          </a:p>
          <a:p>
            <a:pPr algn="l">
              <a:lnSpc>
                <a:spcPct val="120000"/>
              </a:lnSpc>
              <a:spcAft>
                <a:spcPts val="0"/>
              </a:spcAft>
            </a:pPr>
            <a:r>
              <a:rPr lang="en-US" altLang="ko-KR" sz="1100" b="1" dirty="0">
                <a:solidFill>
                  <a:srgbClr val="101511"/>
                </a:solidFill>
                <a:latin typeface="Malgun Gothic"/>
                <a:ea typeface="Malgun Gothic"/>
                <a:cs typeface="Malgun Gothic"/>
              </a:rPr>
              <a:t>&lt;</a:t>
            </a:r>
            <a:r>
              <a:rPr lang="ko-KR" altLang="en-US" sz="1100" b="1" dirty="0">
                <a:solidFill>
                  <a:srgbClr val="101511"/>
                </a:solidFill>
                <a:latin typeface="Malgun Gothic"/>
                <a:ea typeface="Malgun Gothic"/>
                <a:cs typeface="Malgun Gothic"/>
              </a:rPr>
              <a:t>이하 생략</a:t>
            </a:r>
            <a:r>
              <a:rPr lang="en-US" altLang="ko-KR" sz="1100" b="1" dirty="0">
                <a:solidFill>
                  <a:srgbClr val="101511"/>
                </a:solidFill>
                <a:latin typeface="Malgun Gothic"/>
                <a:ea typeface="Malgun Gothic"/>
                <a:cs typeface="Malgun Gothic"/>
              </a:rPr>
              <a:t>&gt;</a:t>
            </a:r>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작업은 </a:t>
            </a:r>
            <a:r>
              <a:rPr lang="ko-KR" sz="1350" b="0" dirty="0" err="1">
                <a:solidFill>
                  <a:srgbClr val="101511"/>
                </a:solidFill>
                <a:latin typeface="Malgun Gothic"/>
                <a:ea typeface="Malgun Gothic"/>
                <a:cs typeface="Malgun Gothic"/>
              </a:rPr>
              <a:t>깃허브의</a:t>
            </a:r>
            <a:r>
              <a:rPr lang="ko-KR" sz="1350" b="0" dirty="0">
                <a:solidFill>
                  <a:srgbClr val="101511"/>
                </a:solidFill>
                <a:latin typeface="Malgun Gothic"/>
                <a:ea typeface="Malgun Gothic"/>
                <a:cs typeface="Malgun Gothic"/>
              </a:rPr>
              <a:t> 이슈</a:t>
            </a:r>
            <a:r>
              <a:rPr lang="ko-KR" altLang="en-US" sz="1350" b="0" dirty="0">
                <a:solidFill>
                  <a:srgbClr val="101511"/>
                </a:solidFill>
                <a:latin typeface="Malgun Gothic"/>
                <a:ea typeface="Malgun Gothic"/>
                <a:cs typeface="Malgun Gothic"/>
              </a:rPr>
              <a:t> 등록하여</a:t>
            </a:r>
            <a:r>
              <a:rPr lang="ko-KR" sz="1350" b="0" dirty="0">
                <a:solidFill>
                  <a:srgbClr val="101511"/>
                </a:solidFill>
                <a:latin typeface="Malgun Gothic"/>
                <a:ea typeface="Malgun Gothic"/>
                <a:cs typeface="Malgun Gothic"/>
              </a:rPr>
              <a:t>, 프로젝트 보드에서 </a:t>
            </a:r>
            <a:r>
              <a:rPr lang="ko-KR" altLang="en-US" sz="1350" b="0" dirty="0">
                <a:solidFill>
                  <a:srgbClr val="101511"/>
                </a:solidFill>
                <a:latin typeface="Malgun Gothic"/>
                <a:ea typeface="Malgun Gothic"/>
                <a:cs typeface="Malgun Gothic"/>
              </a:rPr>
              <a:t>한눈에 현재 </a:t>
            </a:r>
            <a:r>
              <a:rPr lang="ko-KR" sz="1350" b="0" dirty="0">
                <a:solidFill>
                  <a:srgbClr val="101511"/>
                </a:solidFill>
                <a:latin typeface="Malgun Gothic"/>
                <a:ea typeface="Malgun Gothic"/>
                <a:cs typeface="Malgun Gothic"/>
              </a:rPr>
              <a:t>진행 상태를 </a:t>
            </a:r>
            <a:r>
              <a:rPr lang="ko-KR" altLang="en-US" sz="1350" b="0" dirty="0">
                <a:solidFill>
                  <a:srgbClr val="101511"/>
                </a:solidFill>
                <a:latin typeface="Malgun Gothic"/>
                <a:ea typeface="Malgun Gothic"/>
                <a:cs typeface="Malgun Gothic"/>
              </a:rPr>
              <a:t>확인할 수 있습</a:t>
            </a:r>
            <a:r>
              <a:rPr lang="ko-KR" sz="1350" b="0" dirty="0">
                <a:solidFill>
                  <a:srgbClr val="101511"/>
                </a:solidFill>
                <a:latin typeface="Malgun Gothic"/>
                <a:ea typeface="Malgun Gothic"/>
                <a:cs typeface="Malgun Gothic"/>
              </a:rPr>
              <a:t>니다. 해야 할 일, 작업 중인 일, 검토 중인 일, 끝난 일을 구분해 팀 전체 흐름을 확인했습니다.</a:t>
            </a:r>
            <a:endParaRPr lang="ko-KR" dirty="0"/>
          </a:p>
          <a:p>
            <a:pPr algn="l">
              <a:lnSpc>
                <a:spcPct val="120000"/>
              </a:lnSpc>
              <a:spcAft>
                <a:spcPts val="0"/>
              </a:spcAft>
            </a:pPr>
            <a:endParaRPr lang="ko-KR" dirty="0"/>
          </a:p>
          <a:p>
            <a:pPr algn="l">
              <a:lnSpc>
                <a:spcPct val="120000"/>
              </a:lnSpc>
              <a:spcAft>
                <a:spcPts val="0"/>
              </a:spcAft>
            </a:pPr>
            <a:r>
              <a:rPr lang="ko-KR" sz="1350" b="0" dirty="0">
                <a:solidFill>
                  <a:srgbClr val="101511"/>
                </a:solidFill>
                <a:latin typeface="Malgun Gothic"/>
                <a:ea typeface="Malgun Gothic"/>
                <a:cs typeface="Malgun Gothic"/>
              </a:rPr>
              <a:t>기능을 개발할 때는 별도 브랜치에서 작업했습니다. 작업을 마치면 변경 내용을 검토해 달라는 요청인 PR을 올리고, 확인한 내용을 개발 브랜치인 dev에 합쳤습니다.</a:t>
            </a:r>
            <a:endParaRPr lang="ko-KR" dirty="0"/>
          </a:p>
          <a:p>
            <a:pPr algn="l">
              <a:lnSpc>
                <a:spcPct val="120000"/>
              </a:lnSpc>
              <a:spcAft>
                <a:spcPts val="0"/>
              </a:spcAft>
            </a:pPr>
            <a:endParaRPr lang="ko-KR" dirty="0"/>
          </a:p>
          <a:p>
            <a:pPr algn="l">
              <a:lnSpc>
                <a:spcPct val="120000"/>
              </a:lnSpc>
              <a:spcAft>
                <a:spcPts val="0"/>
              </a:spcAft>
            </a:pPr>
            <a:r>
              <a:rPr lang="ko-KR" sz="1350" b="1" dirty="0">
                <a:solidFill>
                  <a:srgbClr val="101511"/>
                </a:solidFill>
                <a:latin typeface="Malgun Gothic"/>
                <a:ea typeface="Malgun Gothic"/>
                <a:cs typeface="Malgun Gothic"/>
              </a:rPr>
              <a:t>배포할 내용은 main 브랜치에 반영했습니다. 또 설계와 API, 지표 계산법, 운영 방법과 문제 해결 과정은 위키에 정리해 팀의 공통 기준으로 남겼습니다.</a:t>
            </a:r>
            <a:endParaRPr lang="en-US" altLang="ko-KR" sz="1350" b="1" dirty="0">
              <a:solidFill>
                <a:srgbClr val="101511"/>
              </a:solidFill>
              <a:latin typeface="Malgun Gothic"/>
              <a:ea typeface="Malgun Gothic"/>
              <a:cs typeface="Malgun Gothic"/>
            </a:endParaRPr>
          </a:p>
          <a:p>
            <a:pPr marL="457200" marR="0" lvl="0" indent="-298450" algn="l" defTabSz="914400" rtl="0" eaLnBrk="1" fontAlgn="auto" latinLnBrk="0" hangingPunct="1">
              <a:lnSpc>
                <a:spcPct val="120000"/>
              </a:lnSpc>
              <a:spcBef>
                <a:spcPts val="0"/>
              </a:spcBef>
              <a:spcAft>
                <a:spcPts val="0"/>
              </a:spcAft>
              <a:buClr>
                <a:srgbClr val="000000"/>
              </a:buClr>
              <a:buSzPts val="1100"/>
              <a:buFont typeface="Arial"/>
              <a:buChar char="●"/>
              <a:tabLst/>
              <a:defRPr/>
            </a:pPr>
            <a:r>
              <a:rPr lang="ko-KR" altLang="en-US" sz="1350" b="1" dirty="0">
                <a:solidFill>
                  <a:srgbClr val="101511"/>
                </a:solidFill>
                <a:latin typeface="Malgun Gothic"/>
                <a:ea typeface="Malgun Gothic"/>
              </a:rPr>
              <a:t>잠깐 </a:t>
            </a:r>
            <a:r>
              <a:rPr lang="ko-KR" altLang="en-US" sz="1350" b="1" dirty="0" err="1">
                <a:solidFill>
                  <a:srgbClr val="101511"/>
                </a:solidFill>
                <a:latin typeface="Malgun Gothic"/>
                <a:ea typeface="Malgun Gothic"/>
              </a:rPr>
              <a:t>깃서버의</a:t>
            </a:r>
            <a:r>
              <a:rPr lang="ko-KR" altLang="en-US" sz="1350" b="1" dirty="0">
                <a:solidFill>
                  <a:srgbClr val="101511"/>
                </a:solidFill>
                <a:latin typeface="Malgun Gothic"/>
                <a:ea typeface="Malgun Gothic"/>
              </a:rPr>
              <a:t> 위키 내용 중 트러블 슈팅 기록을 확인하겠습니다</a:t>
            </a:r>
            <a:r>
              <a:rPr lang="en-US" altLang="ko-KR" sz="1350" b="1" dirty="0">
                <a:solidFill>
                  <a:srgbClr val="101511"/>
                </a:solidFill>
                <a:latin typeface="Malgun Gothic"/>
                <a:ea typeface="Malgun Gothic"/>
              </a:rPr>
              <a:t>.[</a:t>
            </a:r>
            <a:r>
              <a:rPr lang="ko-KR" altLang="en-US" sz="1350" b="1" dirty="0">
                <a:solidFill>
                  <a:srgbClr val="101511"/>
                </a:solidFill>
                <a:latin typeface="Malgun Gothic"/>
                <a:ea typeface="Malgun Gothic"/>
              </a:rPr>
              <a:t>링크 이동</a:t>
            </a:r>
            <a:r>
              <a:rPr lang="en-US" altLang="ko-KR" sz="1350" b="1" dirty="0">
                <a:solidFill>
                  <a:srgbClr val="101511"/>
                </a:solidFill>
                <a:latin typeface="Malgun Gothic"/>
                <a:ea typeface="Malgun Gothic"/>
              </a:rPr>
              <a:t>:</a:t>
            </a:r>
            <a:r>
              <a:rPr lang="ko-KR" altLang="en-US" sz="1350" b="1" dirty="0">
                <a:solidFill>
                  <a:srgbClr val="101511"/>
                </a:solidFill>
                <a:latin typeface="Malgun Gothic"/>
                <a:ea typeface="Malgun Gothic"/>
              </a:rPr>
              <a:t> </a:t>
            </a:r>
            <a:r>
              <a:rPr lang="ko-KR" altLang="ko-KR" sz="1400" b="1" dirty="0" err="1">
                <a:solidFill>
                  <a:srgbClr val="66716B"/>
                </a:solidFill>
                <a:latin typeface="Malgun Gothic"/>
                <a:ea typeface="Malgun Gothic"/>
                <a:cs typeface="Malgun Gothic"/>
              </a:rPr>
              <a:t>Wiki에</a:t>
            </a:r>
            <a:r>
              <a:rPr lang="ko-KR" altLang="ko-KR" sz="1400" b="1" dirty="0">
                <a:solidFill>
                  <a:srgbClr val="66716B"/>
                </a:solidFill>
                <a:latin typeface="Malgun Gothic"/>
                <a:ea typeface="Malgun Gothic"/>
                <a:cs typeface="Malgun Gothic"/>
              </a:rPr>
              <a:t> </a:t>
            </a:r>
            <a:r>
              <a:rPr lang="ko-KR" altLang="en-US" sz="1400" b="1" dirty="0">
                <a:solidFill>
                  <a:srgbClr val="66716B"/>
                </a:solidFill>
                <a:latin typeface="Malgun Gothic"/>
                <a:ea typeface="Malgun Gothic"/>
                <a:cs typeface="Malgun Gothic"/>
              </a:rPr>
              <a:t>트러블 슈팅 </a:t>
            </a:r>
            <a:r>
              <a:rPr lang="ko-KR" altLang="ko-KR" sz="1400" b="1" dirty="0">
                <a:solidFill>
                  <a:srgbClr val="66716B"/>
                </a:solidFill>
                <a:latin typeface="Malgun Gothic"/>
                <a:ea typeface="Malgun Gothic"/>
                <a:cs typeface="Malgun Gothic"/>
              </a:rPr>
              <a:t>기록</a:t>
            </a:r>
            <a:r>
              <a:rPr lang="en-US" altLang="ko-KR" sz="1350" b="1" dirty="0">
                <a:solidFill>
                  <a:srgbClr val="101511"/>
                </a:solidFill>
                <a:latin typeface="Malgun Gothic"/>
                <a:ea typeface="Malgun Gothic"/>
              </a:rPr>
              <a:t>]</a:t>
            </a:r>
            <a:endParaRPr lang="ko-KR" b="1" dirty="0"/>
          </a:p>
          <a:p>
            <a:pPr algn="l">
              <a:lnSpc>
                <a:spcPct val="120000"/>
              </a:lnSpc>
              <a:spcAft>
                <a:spcPts val="0"/>
              </a:spcAft>
            </a:pPr>
            <a:endParaRPr lang="ko-KR" dirty="0"/>
          </a:p>
          <a:p>
            <a:pPr algn="l">
              <a:lnSpc>
                <a:spcPct val="120000"/>
              </a:lnSpc>
              <a:spcAft>
                <a:spcPts val="0"/>
              </a:spcAft>
            </a:pPr>
            <a:endParaRPr lang="ko-KR" dirty="0"/>
          </a:p>
          <a:p>
            <a:pPr algn="l">
              <a:lnSpc>
                <a:spcPct val="120000"/>
              </a:lnSpc>
              <a:spcAft>
                <a:spcPts val="0"/>
              </a:spcAft>
            </a:pPr>
            <a:endParaRPr lang="ko-K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a:spLocks noGrp="1"/>
          </p:cNvSpPr>
          <p:nvPr>
            <p:ph type="body" idx="1"/>
          </p:nvPr>
        </p:nvSpPr>
        <p:spPr/>
        <p:txBody>
          <a:bodyPr/>
          <a:lstStyle/>
          <a:p>
            <a:r>
              <a:rPr lang="ko-KR" altLang="ko-KR" sz="1350" b="0" dirty="0">
                <a:solidFill>
                  <a:srgbClr val="101511"/>
                </a:solidFill>
                <a:latin typeface="Malgun Gothic"/>
                <a:ea typeface="Malgun Gothic"/>
                <a:cs typeface="Malgun Gothic"/>
              </a:rPr>
              <a:t>들어주셔서 감사합니다. 궁금하신 점을 말씀해 주시면 </a:t>
            </a:r>
            <a:r>
              <a:rPr lang="ko-KR" altLang="ko-KR" sz="1350" b="0" dirty="0" err="1">
                <a:solidFill>
                  <a:srgbClr val="101511"/>
                </a:solidFill>
                <a:latin typeface="Malgun Gothic"/>
                <a:ea typeface="Malgun Gothic"/>
                <a:cs typeface="Malgun Gothic"/>
              </a:rPr>
              <a:t>답변드리겠습니다</a:t>
            </a:r>
            <a:r>
              <a:rPr lang="ko-KR" altLang="ko-KR" sz="1350" b="0" dirty="0">
                <a:solidFill>
                  <a:srgbClr val="101511"/>
                </a:solidFill>
                <a:latin typeface="Malgun Gothic"/>
                <a:ea typeface="Malgun Gothic"/>
                <a:cs typeface="Malgun Gothic"/>
              </a:rPr>
              <a:t>.</a:t>
            </a:r>
            <a:endParaRPr lang="ko-KR" altLang="ko-KR" sz="1400" dirty="0"/>
          </a:p>
          <a:p>
            <a:endParaRPr lang="en-US" altLang="ko-KR" sz="1350" b="0" dirty="0">
              <a:solidFill>
                <a:srgbClr val="101511"/>
              </a:solidFill>
              <a:latin typeface="Malgun Gothic"/>
              <a:ea typeface="Malgun Gothic"/>
              <a:cs typeface="Malgun Gothic"/>
            </a:endParaRPr>
          </a:p>
          <a:p>
            <a:r>
              <a:rPr lang="ko-KR" altLang="en-US" sz="1350" b="1" dirty="0">
                <a:solidFill>
                  <a:srgbClr val="101511"/>
                </a:solidFill>
                <a:latin typeface="Malgun Gothic"/>
                <a:ea typeface="Malgun Gothic"/>
                <a:cs typeface="Malgun Gothic"/>
              </a:rPr>
              <a:t>이하 생략 가능</a:t>
            </a:r>
            <a:endParaRPr lang="ko-KR" b="1" dirty="0"/>
          </a:p>
          <a:p>
            <a:r>
              <a:rPr lang="en-US" altLang="ko-KR" sz="1100" b="0" i="0" u="none" strike="noStrike" cap="none" spc="0" dirty="0">
                <a:solidFill>
                  <a:srgbClr val="000000"/>
                </a:solidFill>
                <a:effectLst/>
                <a:latin typeface="Arial"/>
                <a:ea typeface="Arial"/>
                <a:cs typeface="Arial"/>
                <a:sym typeface="Arial"/>
              </a:rPr>
              <a:t>SPOT RADAR</a:t>
            </a:r>
            <a:r>
              <a:rPr lang="ko-KR" altLang="en-US" sz="1100" b="0" i="0" u="none" strike="noStrike" cap="none" spc="0" dirty="0">
                <a:solidFill>
                  <a:srgbClr val="000000"/>
                </a:solidFill>
                <a:effectLst/>
                <a:latin typeface="Arial"/>
                <a:ea typeface="Arial"/>
                <a:cs typeface="Arial"/>
                <a:sym typeface="Arial"/>
              </a:rPr>
              <a:t>가 제안하는 것은 “가장 좋은 </a:t>
            </a:r>
            <a:r>
              <a:rPr lang="ko-KR" altLang="en-US" sz="1100" b="0" i="0" u="none" strike="noStrike" cap="none" spc="0" dirty="0" err="1">
                <a:solidFill>
                  <a:srgbClr val="000000"/>
                </a:solidFill>
                <a:effectLst/>
                <a:latin typeface="Arial"/>
                <a:ea typeface="Arial"/>
                <a:cs typeface="Arial"/>
                <a:sym typeface="Arial"/>
              </a:rPr>
              <a:t>상권”이</a:t>
            </a:r>
            <a:r>
              <a:rPr lang="ko-KR" altLang="en-US" sz="1100" b="0" i="0" u="none" strike="noStrike" cap="none" spc="0" dirty="0">
                <a:solidFill>
                  <a:srgbClr val="000000"/>
                </a:solidFill>
                <a:effectLst/>
                <a:latin typeface="Arial"/>
                <a:ea typeface="Arial"/>
                <a:cs typeface="Arial"/>
                <a:sym typeface="Arial"/>
              </a:rPr>
              <a:t> 아닙니다</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선택한 업종에서 데이터를 기반으로</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근거를 확인하며 먼저 현장 조사할 상권입니다</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최종 판단은 사용자가 현장 조사를 통해 임대료</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유동 인구</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현장 경쟁</a:t>
            </a:r>
            <a:r>
              <a:rPr lang="en-US" altLang="ko-KR" sz="1100" b="0" i="0" u="none" strike="noStrike" cap="none" spc="0" dirty="0">
                <a:solidFill>
                  <a:srgbClr val="000000"/>
                </a:solidFill>
                <a:effectLst/>
                <a:latin typeface="Arial"/>
                <a:ea typeface="Arial"/>
                <a:cs typeface="Arial"/>
                <a:sym typeface="Arial"/>
              </a:rPr>
              <a:t>, </a:t>
            </a:r>
            <a:r>
              <a:rPr lang="ko-KR" altLang="en-US" sz="1100" b="0" i="0" u="none" strike="noStrike" cap="none" spc="0" dirty="0">
                <a:solidFill>
                  <a:srgbClr val="000000"/>
                </a:solidFill>
                <a:effectLst/>
                <a:latin typeface="Arial"/>
                <a:ea typeface="Arial"/>
                <a:cs typeface="Arial"/>
                <a:sym typeface="Arial"/>
              </a:rPr>
              <a:t>운영 가능성까지 함께 확인해야 합니다</a:t>
            </a:r>
            <a:r>
              <a:rPr lang="en-US" altLang="ko-KR" sz="1100" b="0" i="0" u="none" strike="noStrike" cap="none" spc="0" dirty="0">
                <a:solidFill>
                  <a:srgbClr val="000000"/>
                </a:solidFill>
                <a:effectLst/>
                <a:latin typeface="Arial"/>
                <a:ea typeface="Arial"/>
                <a:cs typeface="Arial"/>
                <a:sym typeface="Arial"/>
              </a:rPr>
              <a:t>.</a:t>
            </a:r>
          </a:p>
          <a:p>
            <a:br>
              <a:rPr lang="ko-KR" altLang="en-US" sz="1400" dirty="0"/>
            </a:br>
            <a:endParaRPr lang="ko-K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1792288" y="612775"/>
            <a:ext cx="5486400" cy="4114800"/>
          </a:xfrm>
          <a:prstGeom prst="rect">
            <a:avLst/>
          </a:prstGeom>
          <a:noFill/>
          <a:ln>
            <a:noFill/>
          </a:ln>
        </p:spPr>
      </p:sp>
      <p:sp>
        <p:nvSpPr>
          <p:cNvPr id="64" name="Google Shape;64;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a:lvl1pPr>
            <a:lvl2pPr lvl="1" indent="0" algn="r">
              <a:spcBef>
                <a:spcPts val="0"/>
              </a:spcBef>
              <a:buNone/>
              <a:defRPr/>
            </a:lvl2pPr>
            <a:lvl3pPr lvl="2" indent="0" algn="r">
              <a:spcBef>
                <a:spcPts val="0"/>
              </a:spcBef>
              <a:buNone/>
              <a:defRPr/>
            </a:lvl3pPr>
            <a:lvl4pPr lvl="3" indent="0" algn="r">
              <a:spcBef>
                <a:spcPts val="0"/>
              </a:spcBef>
              <a:buNone/>
              <a:defRPr/>
            </a:lvl4pPr>
            <a:lvl5pPr lvl="4" indent="0" algn="r">
              <a:spcBef>
                <a:spcPts val="0"/>
              </a:spcBef>
              <a:buNone/>
              <a:defRPr/>
            </a:lvl5pPr>
            <a:lvl6pPr lvl="5" indent="0" algn="r">
              <a:spcBef>
                <a:spcPts val="0"/>
              </a:spcBef>
              <a:buNone/>
              <a:defRPr/>
            </a:lvl6pPr>
            <a:lvl7pPr lvl="6" indent="0" algn="r">
              <a:spcBef>
                <a:spcPts val="0"/>
              </a:spcBef>
              <a:buNone/>
              <a:defRPr/>
            </a:lvl7pPr>
            <a:lvl8pPr lvl="7" indent="0" algn="r">
              <a:spcBef>
                <a:spcPts val="0"/>
              </a:spcBef>
              <a:buNone/>
              <a:defRPr/>
            </a:lvl8pPr>
            <a:lvl9pPr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lvl="0" indent="0" algn="r">
              <a:spcBef>
                <a:spcPts val="0"/>
              </a:spcBef>
              <a:buNone/>
              <a:defRPr sz="1200">
                <a:solidFill>
                  <a:srgbClr val="888888"/>
                </a:solidFill>
              </a:defRPr>
            </a:lvl1pPr>
            <a:lvl2pPr lvl="1" indent="0" algn="r">
              <a:spcBef>
                <a:spcPts val="0"/>
              </a:spcBef>
              <a:buNone/>
              <a:defRPr sz="1200">
                <a:solidFill>
                  <a:srgbClr val="888888"/>
                </a:solidFill>
              </a:defRPr>
            </a:lvl2pPr>
            <a:lvl3pPr lvl="2" indent="0" algn="r">
              <a:spcBef>
                <a:spcPts val="0"/>
              </a:spcBef>
              <a:buNone/>
              <a:defRPr sz="1200">
                <a:solidFill>
                  <a:srgbClr val="888888"/>
                </a:solidFill>
              </a:defRPr>
            </a:lvl3pPr>
            <a:lvl4pPr lvl="3" indent="0" algn="r">
              <a:spcBef>
                <a:spcPts val="0"/>
              </a:spcBef>
              <a:buNone/>
              <a:defRPr sz="1200">
                <a:solidFill>
                  <a:srgbClr val="888888"/>
                </a:solidFill>
              </a:defRPr>
            </a:lvl4pPr>
            <a:lvl5pPr lvl="4" indent="0" algn="r">
              <a:spcBef>
                <a:spcPts val="0"/>
              </a:spcBef>
              <a:buNone/>
              <a:defRPr sz="1200">
                <a:solidFill>
                  <a:srgbClr val="888888"/>
                </a:solidFill>
              </a:defRPr>
            </a:lvl5pPr>
            <a:lvl6pPr lvl="5" indent="0" algn="r">
              <a:spcBef>
                <a:spcPts val="0"/>
              </a:spcBef>
              <a:buNone/>
              <a:defRPr sz="1200">
                <a:solidFill>
                  <a:srgbClr val="888888"/>
                </a:solidFill>
              </a:defRPr>
            </a:lvl6pPr>
            <a:lvl7pPr lvl="6" indent="0" algn="r">
              <a:spcBef>
                <a:spcPts val="0"/>
              </a:spcBef>
              <a:buNone/>
              <a:defRPr sz="1200">
                <a:solidFill>
                  <a:srgbClr val="888888"/>
                </a:solidFill>
              </a:defRPr>
            </a:lvl7pPr>
            <a:lvl8pPr lvl="7" indent="0" algn="r">
              <a:spcBef>
                <a:spcPts val="0"/>
              </a:spcBef>
              <a:buNone/>
              <a:defRPr sz="1200">
                <a:solidFill>
                  <a:srgbClr val="888888"/>
                </a:solidFill>
              </a:defRPr>
            </a:lvl8pPr>
            <a:lvl9pPr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spot-radar.onrender.com/"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team-ttobagi/seoul-data-analysis/wiki/ERD"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hyperlink" Target="https://www.figma.com/board/uga9tU8ebqGN7rc2egT5fo/%EB%98%90%EB%B0%94%EA%B8%B0?node-id=0-1" TargetMode="External"/><Relationship Id="rId4" Type="http://schemas.openxmlformats.org/officeDocument/2006/relationships/hyperlink" Target="figma://board/uga9tU8ebqGN7rc2egT5fo/%EB%98%90%EB%B0%94%EA%B8%B0?node-id=0-1"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hyperlink" Target="https://github.com/team-ttobagi/seoul-data-analysis/wiki/%ED%8A%B8%EB%9F%AC%EB%B8%94%EC%8A%88%ED%8C%85-%EB%B3%B4%EA%B3%A0%EC%84%9C"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또바기 팀  ·  AX 풀스택 프로젝트"/>
          <p:cNvSpPr txBox="1"/>
          <p:nvPr/>
        </p:nvSpPr>
        <p:spPr>
          <a:xfrm>
            <a:off x="742950" y="514350"/>
            <a:ext cx="10001250" cy="342900"/>
          </a:xfrm>
          <a:prstGeom prst="rect">
            <a:avLst/>
          </a:prstGeom>
          <a:noFill/>
          <a:ln>
            <a:noFill/>
          </a:ln>
        </p:spPr>
        <p:txBody>
          <a:bodyPr wrap="square" lIns="0" tIns="0" rIns="0" bIns="0" anchor="t">
            <a:noAutofit/>
          </a:bodyPr>
          <a:lstStyle/>
          <a:p>
            <a:pPr algn="l">
              <a:lnSpc>
                <a:spcPct val="120000"/>
              </a:lnSpc>
              <a:spcAft>
                <a:spcPts val="0"/>
              </a:spcAft>
            </a:pPr>
            <a:r>
              <a:rPr lang="ko-KR" sz="1875" b="1">
                <a:solidFill>
                  <a:srgbClr val="66716B"/>
                </a:solidFill>
                <a:latin typeface="Malgun Gothic"/>
                <a:ea typeface="Malgun Gothic"/>
                <a:cs typeface="Malgun Gothic"/>
              </a:rPr>
              <a:t>또바기 팀  ·  AX 풀스택 프로젝트</a:t>
            </a:r>
            <a:endParaRPr lang="ko-KR" sz="1875"/>
          </a:p>
        </p:txBody>
      </p:sp>
      <p:sp>
        <p:nvSpPr>
          <p:cNvPr id="3" name="2차 발표"/>
          <p:cNvSpPr txBox="1"/>
          <p:nvPr/>
        </p:nvSpPr>
        <p:spPr>
          <a:xfrm>
            <a:off x="10477500" y="552450"/>
            <a:ext cx="4019550" cy="304800"/>
          </a:xfrm>
          <a:prstGeom prst="rect">
            <a:avLst/>
          </a:prstGeom>
          <a:noFill/>
          <a:ln>
            <a:noFill/>
          </a:ln>
        </p:spPr>
        <p:txBody>
          <a:bodyPr wrap="square" lIns="0" tIns="0" rIns="0" bIns="0" anchor="t">
            <a:noAutofit/>
          </a:bodyPr>
          <a:lstStyle/>
          <a:p>
            <a:pPr algn="r">
              <a:lnSpc>
                <a:spcPct val="120000"/>
              </a:lnSpc>
              <a:spcAft>
                <a:spcPts val="0"/>
              </a:spcAft>
            </a:pPr>
            <a:r>
              <a:rPr lang="ko-KR" sz="1575" b="0">
                <a:solidFill>
                  <a:srgbClr val="66716B"/>
                </a:solidFill>
                <a:latin typeface="Malgun Gothic"/>
                <a:ea typeface="Malgun Gothic"/>
                <a:cs typeface="Malgun Gothic"/>
              </a:rPr>
              <a:t>최종발표</a:t>
            </a:r>
            <a:endParaRPr lang="ko-KR" sz="1575"/>
          </a:p>
        </p:txBody>
      </p:sp>
      <p:sp>
        <p:nvSpPr>
          <p:cNvPr id="4" name="Panel 4"/>
          <p:cNvSpPr/>
          <p:nvPr/>
        </p:nvSpPr>
        <p:spPr>
          <a:xfrm>
            <a:off x="742950" y="1133475"/>
            <a:ext cx="13754100" cy="14288"/>
          </a:xfrm>
          <a:prstGeom prst="rect">
            <a:avLst/>
          </a:prstGeom>
          <a:solidFill>
            <a:srgbClr val="101511"/>
          </a:solidFill>
          <a:ln w="0">
            <a:noFill/>
          </a:ln>
        </p:spPr>
      </p:sp>
      <p:sp>
        <p:nvSpPr>
          <p:cNvPr id="5" name="SPOT RADAR"/>
          <p:cNvSpPr txBox="1"/>
          <p:nvPr/>
        </p:nvSpPr>
        <p:spPr>
          <a:xfrm>
            <a:off x="695325" y="1609725"/>
            <a:ext cx="9525000" cy="2905125"/>
          </a:xfrm>
          <a:prstGeom prst="rect">
            <a:avLst/>
          </a:prstGeom>
          <a:noFill/>
          <a:ln>
            <a:noFill/>
          </a:ln>
        </p:spPr>
        <p:txBody>
          <a:bodyPr wrap="square" lIns="0" tIns="0" rIns="0" bIns="0" anchor="t">
            <a:noAutofit/>
          </a:bodyPr>
          <a:lstStyle/>
          <a:p>
            <a:pPr algn="l">
              <a:lnSpc>
                <a:spcPct val="98000"/>
              </a:lnSpc>
              <a:spcAft>
                <a:spcPts val="0"/>
              </a:spcAft>
            </a:pPr>
            <a:r>
              <a:rPr lang="ko-KR" sz="8700" b="1">
                <a:solidFill>
                  <a:srgbClr val="101511"/>
                </a:solidFill>
                <a:latin typeface="Malgun Gothic"/>
                <a:ea typeface="Malgun Gothic"/>
                <a:cs typeface="Malgun Gothic"/>
              </a:rPr>
              <a:t>SPOT</a:t>
            </a:r>
            <a:endParaRPr lang="ko-KR" sz="8700"/>
          </a:p>
          <a:p>
            <a:pPr algn="l">
              <a:lnSpc>
                <a:spcPct val="98000"/>
              </a:lnSpc>
              <a:spcAft>
                <a:spcPts val="0"/>
              </a:spcAft>
            </a:pPr>
            <a:r>
              <a:rPr lang="ko-KR" sz="8700" b="1">
                <a:solidFill>
                  <a:srgbClr val="101511"/>
                </a:solidFill>
                <a:latin typeface="Malgun Gothic"/>
                <a:ea typeface="Malgun Gothic"/>
                <a:cs typeface="Malgun Gothic"/>
              </a:rPr>
              <a:t>RADAR</a:t>
            </a:r>
            <a:endParaRPr lang="ko-KR" sz="8700"/>
          </a:p>
        </p:txBody>
      </p:sp>
      <p:pic>
        <p:nvPicPr>
          <p:cNvPr id="6" name="/tmp/spot-radar-presentation2/original-media/image2.jpg" descr="/tmp/spot-radar-presentation2/original-media/image2.jpg"/>
          <p:cNvPicPr>
            <a:picLocks noChangeAspect="1"/>
          </p:cNvPicPr>
          <p:nvPr/>
        </p:nvPicPr>
        <p:blipFill>
          <a:blip r:embed="rId3"/>
          <a:srcRect/>
          <a:stretch>
            <a:fillRect/>
          </a:stretch>
        </p:blipFill>
        <p:spPr>
          <a:xfrm>
            <a:off x="10972800" y="1924050"/>
            <a:ext cx="3105150" cy="3105150"/>
          </a:xfrm>
          <a:prstGeom prst="rect">
            <a:avLst/>
          </a:prstGeom>
          <a:ln>
            <a:noFill/>
          </a:ln>
        </p:spPr>
      </p:pic>
      <p:sp>
        <p:nvSpPr>
          <p:cNvPr id="7" name="서울 상권 탐색 서비스"/>
          <p:cNvSpPr txBox="1"/>
          <p:nvPr/>
        </p:nvSpPr>
        <p:spPr>
          <a:xfrm>
            <a:off x="781050" y="5095875"/>
            <a:ext cx="11906250" cy="685800"/>
          </a:xfrm>
          <a:prstGeom prst="rect">
            <a:avLst/>
          </a:prstGeom>
          <a:noFill/>
          <a:ln>
            <a:noFill/>
          </a:ln>
        </p:spPr>
        <p:txBody>
          <a:bodyPr wrap="square" lIns="0" tIns="0" rIns="0" bIns="0" anchor="t">
            <a:noAutofit/>
          </a:bodyPr>
          <a:lstStyle/>
          <a:p>
            <a:pPr algn="l">
              <a:lnSpc>
                <a:spcPct val="120000"/>
              </a:lnSpc>
              <a:spcAft>
                <a:spcPts val="0"/>
              </a:spcAft>
            </a:pPr>
            <a:r>
              <a:rPr lang="ko-KR" sz="3300" b="1">
                <a:solidFill>
                  <a:srgbClr val="101511"/>
                </a:solidFill>
                <a:latin typeface="Malgun Gothic"/>
                <a:ea typeface="Malgun Gothic"/>
                <a:cs typeface="Malgun Gothic"/>
              </a:rPr>
              <a:t>서울 상권 탐색 서비스</a:t>
            </a:r>
            <a:endParaRPr lang="ko-KR" sz="3300"/>
          </a:p>
        </p:txBody>
      </p:sp>
      <p:sp>
        <p:nvSpPr>
          <p:cNvPr id="8" name="Panel 8"/>
          <p:cNvSpPr/>
          <p:nvPr/>
        </p:nvSpPr>
        <p:spPr>
          <a:xfrm>
            <a:off x="0" y="6343650"/>
            <a:ext cx="15240000" cy="2228850"/>
          </a:xfrm>
          <a:prstGeom prst="rect">
            <a:avLst/>
          </a:prstGeom>
          <a:solidFill>
            <a:srgbClr val="111713"/>
          </a:solidFill>
          <a:ln w="0">
            <a:noFill/>
          </a:ln>
        </p:spPr>
      </p:sp>
      <p:sp>
        <p:nvSpPr>
          <p:cNvPr id="9" name="현장에 갈 후보를 데이터로 좁히고, 선택의 근거를 AI 설명과 함께 확인합니다."/>
          <p:cNvSpPr txBox="1"/>
          <p:nvPr/>
        </p:nvSpPr>
        <p:spPr>
          <a:xfrm>
            <a:off x="762000" y="6791325"/>
            <a:ext cx="12001500" cy="1276350"/>
          </a:xfrm>
          <a:prstGeom prst="rect">
            <a:avLst/>
          </a:prstGeom>
          <a:noFill/>
          <a:ln>
            <a:noFill/>
          </a:ln>
        </p:spPr>
        <p:txBody>
          <a:bodyPr wrap="square" lIns="0" tIns="0" rIns="0" bIns="0" anchor="t">
            <a:noAutofit/>
          </a:bodyPr>
          <a:lstStyle/>
          <a:p>
            <a:pPr algn="l">
              <a:lnSpc>
                <a:spcPct val="125000"/>
              </a:lnSpc>
              <a:spcAft>
                <a:spcPts val="0"/>
              </a:spcAft>
            </a:pPr>
            <a:r>
              <a:rPr lang="ko-KR" sz="2700" b="0" dirty="0">
                <a:solidFill>
                  <a:srgbClr val="F8F7F2"/>
                </a:solidFill>
                <a:latin typeface="Malgun Gothic"/>
                <a:ea typeface="Malgun Gothic"/>
                <a:cs typeface="Malgun Gothic"/>
              </a:rPr>
              <a:t>현장에 갈 후보를 데이터로 좁히고,</a:t>
            </a:r>
            <a:endParaRPr lang="ko-KR" sz="2700" dirty="0"/>
          </a:p>
          <a:p>
            <a:pPr algn="l">
              <a:lnSpc>
                <a:spcPct val="125000"/>
              </a:lnSpc>
              <a:spcAft>
                <a:spcPts val="0"/>
              </a:spcAft>
            </a:pPr>
            <a:r>
              <a:rPr lang="ko-KR" sz="2700" b="0" dirty="0">
                <a:solidFill>
                  <a:srgbClr val="F8F7F2"/>
                </a:solidFill>
                <a:latin typeface="Malgun Gothic"/>
                <a:ea typeface="Malgun Gothic"/>
                <a:cs typeface="Malgun Gothic"/>
              </a:rPr>
              <a:t>선택의 근거를 AI 설명과 함께 확인합니다.</a:t>
            </a:r>
            <a:endParaRPr lang="ko-KR" sz="2700" dirty="0"/>
          </a:p>
        </p:txBody>
      </p:sp>
      <p:sp>
        <p:nvSpPr>
          <p:cNvPr id="10" name="02"/>
          <p:cNvSpPr txBox="1"/>
          <p:nvPr/>
        </p:nvSpPr>
        <p:spPr>
          <a:xfrm>
            <a:off x="13239750" y="7086600"/>
            <a:ext cx="1238250" cy="914400"/>
          </a:xfrm>
          <a:prstGeom prst="rect">
            <a:avLst/>
          </a:prstGeom>
          <a:noFill/>
          <a:ln>
            <a:noFill/>
          </a:ln>
        </p:spPr>
        <p:txBody>
          <a:bodyPr wrap="square" lIns="0" tIns="0" rIns="0" bIns="0" anchor="t">
            <a:noAutofit/>
          </a:bodyPr>
          <a:lstStyle/>
          <a:p>
            <a:pPr algn="r">
              <a:lnSpc>
                <a:spcPct val="120000"/>
              </a:lnSpc>
              <a:spcAft>
                <a:spcPts val="0"/>
              </a:spcAft>
            </a:pPr>
            <a:endParaRPr lang="ko-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발표 순서"/>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발표 순서</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발표 목차"/>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발표 목차</a:t>
            </a:r>
          </a:p>
        </p:txBody>
      </p:sp>
      <p:sp>
        <p:nvSpPr>
          <p:cNvPr id="5" name="먼저 서비스를 시연한 뒤, 기획부터 구현과 협업까지 소개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dirty="0">
                <a:solidFill>
                  <a:srgbClr val="66716B"/>
                </a:solidFill>
                <a:latin typeface="Malgun Gothic"/>
                <a:ea typeface="Malgun Gothic"/>
                <a:cs typeface="Malgun Gothic"/>
              </a:rPr>
              <a:t>먼저 서비스를 시연한 뒤, </a:t>
            </a:r>
            <a:r>
              <a:rPr lang="ko-KR" altLang="en-US" sz="1650" b="0" dirty="0">
                <a:solidFill>
                  <a:srgbClr val="66716B"/>
                </a:solidFill>
                <a:latin typeface="Malgun Gothic"/>
                <a:ea typeface="Malgun Gothic"/>
                <a:cs typeface="Malgun Gothic"/>
              </a:rPr>
              <a:t>다음 순서로</a:t>
            </a:r>
            <a:r>
              <a:rPr lang="ko-KR" sz="1650" b="0" dirty="0">
                <a:solidFill>
                  <a:srgbClr val="66716B"/>
                </a:solidFill>
                <a:latin typeface="Malgun Gothic"/>
                <a:ea typeface="Malgun Gothic"/>
                <a:cs typeface="Malgun Gothic"/>
              </a:rPr>
              <a:t> 소개합니다.</a:t>
            </a:r>
          </a:p>
        </p:txBody>
      </p:sp>
      <p:sp>
        <p:nvSpPr>
          <p:cNvPr id="7" name="Panel 7"/>
          <p:cNvSpPr/>
          <p:nvPr/>
        </p:nvSpPr>
        <p:spPr>
          <a:xfrm>
            <a:off x="685800" y="8077200"/>
            <a:ext cx="13868400" cy="14288"/>
          </a:xfrm>
          <a:prstGeom prst="rect">
            <a:avLst/>
          </a:prstGeom>
          <a:solidFill>
            <a:srgbClr val="CCD0C7"/>
          </a:solidFill>
          <a:ln w="0">
            <a:noFill/>
          </a:ln>
        </p:spPr>
      </p:sp>
      <p:sp>
        <p:nvSpPr>
          <p:cNvPr id="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0" name="01"/>
          <p:cNvSpPr txBox="1"/>
          <p:nvPr/>
        </p:nvSpPr>
        <p:spPr>
          <a:xfrm>
            <a:off x="762000" y="2400300"/>
            <a:ext cx="781050" cy="47625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66716B"/>
                </a:solidFill>
                <a:latin typeface="Malgun Gothic"/>
                <a:ea typeface="Malgun Gothic"/>
                <a:cs typeface="Malgun Gothic"/>
              </a:rPr>
              <a:t>01</a:t>
            </a:r>
          </a:p>
        </p:txBody>
      </p:sp>
      <p:sp>
        <p:nvSpPr>
          <p:cNvPr id="11" name="프로젝트 개요"/>
          <p:cNvSpPr txBox="1"/>
          <p:nvPr/>
        </p:nvSpPr>
        <p:spPr>
          <a:xfrm>
            <a:off x="1695450" y="2400300"/>
            <a:ext cx="6076950" cy="514350"/>
          </a:xfrm>
          <a:prstGeom prst="rect">
            <a:avLst/>
          </a:prstGeom>
          <a:noFill/>
          <a:ln>
            <a:noFill/>
          </a:ln>
        </p:spPr>
        <p:txBody>
          <a:bodyPr wrap="square" lIns="0" tIns="0" rIns="0" bIns="0" anchor="t">
            <a:noAutofit/>
          </a:bodyPr>
          <a:lstStyle/>
          <a:p>
            <a:pPr algn="l">
              <a:lnSpc>
                <a:spcPct val="120000"/>
              </a:lnSpc>
              <a:spcAft>
                <a:spcPts val="0"/>
              </a:spcAft>
            </a:pPr>
            <a:r>
              <a:rPr lang="ko-KR" sz="2600" b="1" dirty="0">
                <a:solidFill>
                  <a:srgbClr val="101511"/>
                </a:solidFill>
                <a:latin typeface="Malgun Gothic"/>
                <a:ea typeface="Malgun Gothic"/>
                <a:cs typeface="Malgun Gothic"/>
              </a:rPr>
              <a:t>프로젝트 개요</a:t>
            </a:r>
          </a:p>
        </p:txBody>
      </p:sp>
      <p:sp>
        <p:nvSpPr>
          <p:cNvPr id="12" name="누구를 위한 서비스인가"/>
          <p:cNvSpPr txBox="1"/>
          <p:nvPr/>
        </p:nvSpPr>
        <p:spPr>
          <a:xfrm>
            <a:off x="8382000" y="2457450"/>
            <a:ext cx="6115050" cy="438150"/>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누구를 위한 서비스인가</a:t>
            </a:r>
          </a:p>
        </p:txBody>
      </p:sp>
      <p:sp>
        <p:nvSpPr>
          <p:cNvPr id="13" name="02"/>
          <p:cNvSpPr txBox="1"/>
          <p:nvPr/>
        </p:nvSpPr>
        <p:spPr>
          <a:xfrm>
            <a:off x="762000" y="3238500"/>
            <a:ext cx="781050" cy="47625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66716B"/>
                </a:solidFill>
                <a:latin typeface="Malgun Gothic"/>
                <a:ea typeface="Malgun Gothic"/>
                <a:cs typeface="Malgun Gothic"/>
              </a:rPr>
              <a:t>02</a:t>
            </a:r>
          </a:p>
        </p:txBody>
      </p:sp>
      <p:sp>
        <p:nvSpPr>
          <p:cNvPr id="14" name="주요 업데이트"/>
          <p:cNvSpPr txBox="1"/>
          <p:nvPr/>
        </p:nvSpPr>
        <p:spPr>
          <a:xfrm>
            <a:off x="1695450" y="3238500"/>
            <a:ext cx="6076950" cy="514350"/>
          </a:xfrm>
          <a:prstGeom prst="rect">
            <a:avLst/>
          </a:prstGeom>
          <a:noFill/>
          <a:ln>
            <a:noFill/>
          </a:ln>
        </p:spPr>
        <p:txBody>
          <a:bodyPr wrap="square" lIns="0" tIns="0" rIns="0" bIns="0" anchor="t">
            <a:noAutofit/>
          </a:bodyPr>
          <a:lstStyle/>
          <a:p>
            <a:pPr algn="l">
              <a:lnSpc>
                <a:spcPct val="120000"/>
              </a:lnSpc>
              <a:spcAft>
                <a:spcPts val="0"/>
              </a:spcAft>
            </a:pPr>
            <a:r>
              <a:rPr lang="ko-KR" sz="2600" b="1">
                <a:solidFill>
                  <a:srgbClr val="101511"/>
                </a:solidFill>
                <a:latin typeface="Malgun Gothic"/>
                <a:ea typeface="Malgun Gothic"/>
                <a:cs typeface="Malgun Gothic"/>
              </a:rPr>
              <a:t>주요 업데이트</a:t>
            </a:r>
          </a:p>
        </p:txBody>
      </p:sp>
      <p:sp>
        <p:nvSpPr>
          <p:cNvPr id="15" name="지난 발표 이후 달라진 점"/>
          <p:cNvSpPr txBox="1"/>
          <p:nvPr/>
        </p:nvSpPr>
        <p:spPr>
          <a:xfrm>
            <a:off x="8382000" y="3295650"/>
            <a:ext cx="6115050" cy="438150"/>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지난 발표 이후 달라진 점</a:t>
            </a:r>
          </a:p>
        </p:txBody>
      </p:sp>
      <p:sp>
        <p:nvSpPr>
          <p:cNvPr id="16" name="03"/>
          <p:cNvSpPr txBox="1"/>
          <p:nvPr/>
        </p:nvSpPr>
        <p:spPr>
          <a:xfrm>
            <a:off x="762000" y="4076700"/>
            <a:ext cx="781050" cy="47625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66716B"/>
                </a:solidFill>
                <a:latin typeface="Malgun Gothic"/>
                <a:ea typeface="Malgun Gothic"/>
                <a:cs typeface="Malgun Gothic"/>
              </a:rPr>
              <a:t>03</a:t>
            </a:r>
          </a:p>
        </p:txBody>
      </p:sp>
      <p:sp>
        <p:nvSpPr>
          <p:cNvPr id="17" name="서비스 흐름과 주요 기능"/>
          <p:cNvSpPr txBox="1"/>
          <p:nvPr/>
        </p:nvSpPr>
        <p:spPr>
          <a:xfrm>
            <a:off x="1695450" y="4076700"/>
            <a:ext cx="6076950" cy="514350"/>
          </a:xfrm>
          <a:prstGeom prst="rect">
            <a:avLst/>
          </a:prstGeom>
          <a:noFill/>
          <a:ln>
            <a:noFill/>
          </a:ln>
        </p:spPr>
        <p:txBody>
          <a:bodyPr wrap="square" lIns="0" tIns="0" rIns="0" bIns="0" anchor="t">
            <a:noAutofit/>
          </a:bodyPr>
          <a:lstStyle/>
          <a:p>
            <a:pPr algn="l">
              <a:lnSpc>
                <a:spcPct val="120000"/>
              </a:lnSpc>
              <a:spcAft>
                <a:spcPts val="0"/>
              </a:spcAft>
            </a:pPr>
            <a:r>
              <a:rPr lang="ko-KR" sz="2600" b="1">
                <a:solidFill>
                  <a:srgbClr val="101511"/>
                </a:solidFill>
                <a:latin typeface="Malgun Gothic"/>
                <a:ea typeface="Malgun Gothic"/>
                <a:cs typeface="Malgun Gothic"/>
              </a:rPr>
              <a:t>서비스 흐름과 주요 기능</a:t>
            </a:r>
          </a:p>
        </p:txBody>
      </p:sp>
      <p:sp>
        <p:nvSpPr>
          <p:cNvPr id="18" name="탐색·상세 분석·후보 비교"/>
          <p:cNvSpPr txBox="1"/>
          <p:nvPr/>
        </p:nvSpPr>
        <p:spPr>
          <a:xfrm>
            <a:off x="8382000" y="4133850"/>
            <a:ext cx="6115050" cy="438150"/>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탐색·상세 분석·후보 비교</a:t>
            </a:r>
          </a:p>
        </p:txBody>
      </p:sp>
      <p:sp>
        <p:nvSpPr>
          <p:cNvPr id="19" name="04"/>
          <p:cNvSpPr txBox="1"/>
          <p:nvPr/>
        </p:nvSpPr>
        <p:spPr>
          <a:xfrm>
            <a:off x="762000" y="4914900"/>
            <a:ext cx="781050" cy="47625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66716B"/>
                </a:solidFill>
                <a:latin typeface="Malgun Gothic"/>
                <a:ea typeface="Malgun Gothic"/>
                <a:cs typeface="Malgun Gothic"/>
              </a:rPr>
              <a:t>04</a:t>
            </a:r>
          </a:p>
        </p:txBody>
      </p:sp>
      <p:sp>
        <p:nvSpPr>
          <p:cNvPr id="20" name="설계와 구현"/>
          <p:cNvSpPr txBox="1"/>
          <p:nvPr/>
        </p:nvSpPr>
        <p:spPr>
          <a:xfrm>
            <a:off x="1695450" y="4914900"/>
            <a:ext cx="6076950" cy="514350"/>
          </a:xfrm>
          <a:prstGeom prst="rect">
            <a:avLst/>
          </a:prstGeom>
          <a:noFill/>
          <a:ln>
            <a:noFill/>
          </a:ln>
        </p:spPr>
        <p:txBody>
          <a:bodyPr wrap="square" lIns="0" tIns="0" rIns="0" bIns="0" anchor="t">
            <a:noAutofit/>
          </a:bodyPr>
          <a:lstStyle/>
          <a:p>
            <a:pPr algn="l">
              <a:lnSpc>
                <a:spcPct val="120000"/>
              </a:lnSpc>
              <a:spcAft>
                <a:spcPts val="0"/>
              </a:spcAft>
            </a:pPr>
            <a:r>
              <a:rPr lang="ko-KR" sz="2600" b="1">
                <a:solidFill>
                  <a:srgbClr val="101511"/>
                </a:solidFill>
                <a:latin typeface="Malgun Gothic"/>
                <a:ea typeface="Malgun Gothic"/>
                <a:cs typeface="Malgun Gothic"/>
              </a:rPr>
              <a:t>설계와 구현</a:t>
            </a:r>
          </a:p>
        </p:txBody>
      </p:sp>
      <p:sp>
        <p:nvSpPr>
          <p:cNvPr id="21" name="시스템 구성·데이터·AI 인사이트"/>
          <p:cNvSpPr txBox="1"/>
          <p:nvPr/>
        </p:nvSpPr>
        <p:spPr>
          <a:xfrm>
            <a:off x="8382000" y="4972050"/>
            <a:ext cx="6115050" cy="438150"/>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시스템 구성·데이터·AI 인사이트</a:t>
            </a:r>
          </a:p>
        </p:txBody>
      </p:sp>
      <p:sp>
        <p:nvSpPr>
          <p:cNvPr id="22" name="05"/>
          <p:cNvSpPr txBox="1"/>
          <p:nvPr/>
        </p:nvSpPr>
        <p:spPr>
          <a:xfrm>
            <a:off x="762000" y="5753100"/>
            <a:ext cx="781050" cy="47625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66716B"/>
                </a:solidFill>
                <a:latin typeface="Malgun Gothic"/>
                <a:ea typeface="Malgun Gothic"/>
                <a:cs typeface="Malgun Gothic"/>
              </a:rPr>
              <a:t>05</a:t>
            </a:r>
          </a:p>
        </p:txBody>
      </p:sp>
      <p:sp>
        <p:nvSpPr>
          <p:cNvPr id="23" name="협업과 운영"/>
          <p:cNvSpPr txBox="1"/>
          <p:nvPr/>
        </p:nvSpPr>
        <p:spPr>
          <a:xfrm>
            <a:off x="1695450" y="5753100"/>
            <a:ext cx="6076950" cy="514350"/>
          </a:xfrm>
          <a:prstGeom prst="rect">
            <a:avLst/>
          </a:prstGeom>
          <a:noFill/>
          <a:ln>
            <a:noFill/>
          </a:ln>
        </p:spPr>
        <p:txBody>
          <a:bodyPr wrap="square" lIns="0" tIns="0" rIns="0" bIns="0" anchor="t">
            <a:noAutofit/>
          </a:bodyPr>
          <a:lstStyle/>
          <a:p>
            <a:pPr algn="l">
              <a:lnSpc>
                <a:spcPct val="120000"/>
              </a:lnSpc>
              <a:spcAft>
                <a:spcPts val="0"/>
              </a:spcAft>
            </a:pPr>
            <a:r>
              <a:rPr lang="ko-KR" sz="2600" b="1">
                <a:solidFill>
                  <a:srgbClr val="101511"/>
                </a:solidFill>
                <a:latin typeface="Malgun Gothic"/>
                <a:ea typeface="Malgun Gothic"/>
                <a:cs typeface="Malgun Gothic"/>
              </a:rPr>
              <a:t>협업과 운영</a:t>
            </a:r>
          </a:p>
        </p:txBody>
      </p:sp>
      <p:sp>
        <p:nvSpPr>
          <p:cNvPr id="24" name="팀 소개·스크럼·소통·작업 관리"/>
          <p:cNvSpPr txBox="1"/>
          <p:nvPr/>
        </p:nvSpPr>
        <p:spPr>
          <a:xfrm>
            <a:off x="8382000" y="5810250"/>
            <a:ext cx="6115050" cy="438150"/>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팀 소개·스크럼·소통·작업 관리</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1"/>
          <p:cNvSpPr txBox="1"/>
          <p:nvPr/>
        </p:nvSpPr>
        <p:spPr>
          <a:xfrm>
            <a:off x="2913992" y="4983709"/>
            <a:ext cx="7225145" cy="1381125"/>
          </a:xfrm>
          <a:prstGeom prst="rect">
            <a:avLst/>
          </a:prstGeom>
          <a:noFill/>
          <a:ln>
            <a:noFill/>
          </a:ln>
        </p:spPr>
        <p:txBody>
          <a:bodyPr wrap="square" lIns="0" tIns="0" rIns="0" bIns="0">
            <a:noAutofit/>
          </a:bodyPr>
          <a:lstStyle/>
          <a:p>
            <a:pPr marL="0" marR="0" lvl="0" indent="0" algn="l" defTabSz="914400" rtl="0" eaLnBrk="1" fontAlgn="auto" latinLnBrk="0" hangingPunct="1">
              <a:lnSpc>
                <a:spcPct val="118000"/>
              </a:lnSpc>
              <a:spcBef>
                <a:spcPts val="0"/>
              </a:spcBef>
              <a:spcAft>
                <a:spcPts val="0"/>
              </a:spcAft>
              <a:buClr>
                <a:srgbClr val="000000"/>
              </a:buClr>
              <a:buSzTx/>
              <a:buFont typeface="Arial"/>
              <a:buNone/>
              <a:tabLst/>
              <a:defRPr/>
            </a:pPr>
            <a:r>
              <a:rPr kumimoji="0" lang="ko-KR" altLang="en-US" sz="8250" b="1" i="0" u="none" strike="noStrike" kern="0" cap="none" spc="0" normalizeH="0" baseline="0" noProof="0" dirty="0" err="1">
                <a:ln>
                  <a:noFill/>
                </a:ln>
                <a:solidFill>
                  <a:srgbClr val="CCFF00"/>
                </a:solidFill>
                <a:effectLst/>
                <a:uLnTx/>
                <a:uFillTx/>
                <a:latin typeface="Malgun Gothic"/>
                <a:ea typeface="Malgun Gothic"/>
                <a:cs typeface="Arial"/>
                <a:sym typeface="Arial"/>
              </a:rPr>
              <a:t>스팟</a:t>
            </a:r>
            <a:r>
              <a:rPr kumimoji="0" lang="ko-KR" altLang="en-US" sz="8250" b="1" i="0" u="none" strike="noStrike" kern="0" cap="none" spc="0" normalizeH="0" baseline="0" noProof="0" dirty="0">
                <a:ln>
                  <a:noFill/>
                </a:ln>
                <a:solidFill>
                  <a:srgbClr val="CCFF00"/>
                </a:solidFill>
                <a:effectLst/>
                <a:uLnTx/>
                <a:uFillTx/>
                <a:latin typeface="Malgun Gothic"/>
                <a:ea typeface="Malgun Gothic"/>
                <a:cs typeface="Arial"/>
                <a:sym typeface="Arial"/>
              </a:rPr>
              <a:t> 레이더</a:t>
            </a:r>
            <a:endParaRPr kumimoji="0" lang="ko-KR" altLang="en-US" sz="825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프로젝트 개요"/>
          <p:cNvSpPr txBox="1"/>
          <p:nvPr/>
        </p:nvSpPr>
        <p:spPr>
          <a:xfrm>
            <a:off x="952500" y="1981200"/>
            <a:ext cx="7953375" cy="2524125"/>
          </a:xfrm>
          <a:prstGeom prst="rect">
            <a:avLst/>
          </a:prstGeom>
          <a:noFill/>
          <a:ln>
            <a:noFill/>
          </a:ln>
        </p:spPr>
        <p:txBody>
          <a:bodyPr wrap="square" lIns="0" tIns="0" rIns="0" bIns="0">
            <a:noAutofit/>
          </a:bodyPr>
          <a:lstStyle/>
          <a:p>
            <a:pPr marL="0" marR="0" lvl="0" indent="0" algn="l" defTabSz="914400" rtl="0" eaLnBrk="1" fontAlgn="auto" latinLnBrk="0" hangingPunct="1">
              <a:lnSpc>
                <a:spcPct val="118000"/>
              </a:lnSpc>
              <a:spcBef>
                <a:spcPts val="0"/>
              </a:spcBef>
              <a:spcAft>
                <a:spcPts val="0"/>
              </a:spcAft>
              <a:buClr>
                <a:srgbClr val="000000"/>
              </a:buClr>
              <a:buSzTx/>
              <a:buFont typeface="Arial"/>
              <a:buNone/>
              <a:tabLst/>
              <a:defRPr/>
            </a:pPr>
            <a:r>
              <a:rPr kumimoji="0" lang="en-US" altLang="ko-KR" sz="6525" b="1" i="0" u="none" strike="noStrike" kern="0" cap="none" spc="0" normalizeH="0" baseline="0" noProof="0" dirty="0">
                <a:ln>
                  <a:noFill/>
                </a:ln>
                <a:solidFill>
                  <a:srgbClr val="F8F7F2"/>
                </a:solidFill>
                <a:effectLst/>
                <a:uLnTx/>
                <a:uFillTx/>
                <a:latin typeface="Malgun Gothic"/>
                <a:ea typeface="Malgun Gothic"/>
                <a:cs typeface="Malgun Gothic"/>
                <a:sym typeface="Arial"/>
              </a:rPr>
              <a:t>“</a:t>
            </a:r>
            <a:r>
              <a:rPr kumimoji="0" lang="ko-KR" altLang="en-US" sz="6525" b="1" i="0" u="none" strike="noStrike" kern="0" cap="none" spc="0" normalizeH="0" baseline="0" noProof="0" dirty="0">
                <a:ln>
                  <a:noFill/>
                </a:ln>
                <a:solidFill>
                  <a:srgbClr val="F8F7F2"/>
                </a:solidFill>
                <a:effectLst/>
                <a:uLnTx/>
                <a:uFillTx/>
                <a:latin typeface="Malgun Gothic"/>
                <a:ea typeface="Malgun Gothic"/>
                <a:cs typeface="Malgun Gothic"/>
                <a:sym typeface="Arial"/>
              </a:rPr>
              <a:t>감으로 창업하는 시대는 끝났습니다</a:t>
            </a:r>
            <a:r>
              <a:rPr kumimoji="0" lang="en-US" altLang="ko-KR" sz="6525" b="1" i="0" u="none" strike="noStrike" kern="0" cap="none" spc="0" normalizeH="0" baseline="0" noProof="0" dirty="0">
                <a:ln>
                  <a:noFill/>
                </a:ln>
                <a:solidFill>
                  <a:srgbClr val="F8F7F2"/>
                </a:solidFill>
                <a:effectLst/>
                <a:uLnTx/>
                <a:uFillTx/>
                <a:latin typeface="Malgun Gothic"/>
                <a:ea typeface="Malgun Gothic"/>
                <a:cs typeface="Malgun Gothic"/>
                <a:sym typeface="Arial"/>
              </a:rPr>
              <a:t>.”</a:t>
            </a:r>
          </a:p>
        </p:txBody>
      </p:sp>
      <p:pic>
        <p:nvPicPr>
          <p:cNvPr id="4" name="01-overview" descr="장 주제를 표현한 AI 생성 개념 일러스트"/>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
        <p:nvSpPr>
          <p:cNvPr id="5" name="현장에 갈 후보를 데이터로 좁히고, 선택의 근거를 AI 설명과 함께 확인합니다.">
            <a:extLst>
              <a:ext uri="{FF2B5EF4-FFF2-40B4-BE49-F238E27FC236}">
                <a16:creationId xmlns:a16="http://schemas.microsoft.com/office/drawing/2014/main" id="{38F8D27E-47CA-724C-913D-8203E3320C18}"/>
              </a:ext>
            </a:extLst>
          </p:cNvPr>
          <p:cNvSpPr txBox="1"/>
          <p:nvPr/>
        </p:nvSpPr>
        <p:spPr>
          <a:xfrm>
            <a:off x="2913992" y="6843218"/>
            <a:ext cx="12001500" cy="1276350"/>
          </a:xfrm>
          <a:prstGeom prst="rect">
            <a:avLst/>
          </a:prstGeom>
          <a:noFill/>
          <a:ln>
            <a:noFill/>
          </a:ln>
        </p:spPr>
        <p:txBody>
          <a:bodyPr wrap="square" lIns="0" tIns="0" rIns="0" bIns="0" anchor="t">
            <a:noAutofit/>
          </a:bodyPr>
          <a:lstStyle/>
          <a:p>
            <a:pPr algn="l">
              <a:lnSpc>
                <a:spcPct val="125000"/>
              </a:lnSpc>
              <a:spcAft>
                <a:spcPts val="0"/>
              </a:spcAft>
            </a:pPr>
            <a:r>
              <a:rPr lang="ko-KR" sz="2700" b="0" dirty="0">
                <a:solidFill>
                  <a:srgbClr val="F8F7F2"/>
                </a:solidFill>
                <a:latin typeface="Malgun Gothic"/>
                <a:ea typeface="Malgun Gothic"/>
                <a:cs typeface="Malgun Gothic"/>
              </a:rPr>
              <a:t>현장에 갈 후보를 데이터로 좁히고,</a:t>
            </a:r>
            <a:endParaRPr lang="ko-KR" sz="2700" dirty="0"/>
          </a:p>
          <a:p>
            <a:pPr algn="l">
              <a:lnSpc>
                <a:spcPct val="125000"/>
              </a:lnSpc>
              <a:spcAft>
                <a:spcPts val="0"/>
              </a:spcAft>
            </a:pPr>
            <a:r>
              <a:rPr lang="ko-KR" sz="2700" b="0" dirty="0">
                <a:solidFill>
                  <a:srgbClr val="F8F7F2"/>
                </a:solidFill>
                <a:latin typeface="Malgun Gothic"/>
                <a:ea typeface="Malgun Gothic"/>
                <a:cs typeface="Malgun Gothic"/>
              </a:rPr>
              <a:t>선택의 근거를 AI 설명과 함께 확인합니다.</a:t>
            </a:r>
            <a:endParaRPr lang="ko-KR" sz="2700" dirty="0"/>
          </a:p>
        </p:txBody>
      </p:sp>
    </p:spTree>
    <p:extLst>
      <p:ext uri="{BB962C8B-B14F-4D97-AF65-F5344CB8AC3E}">
        <p14:creationId xmlns:p14="http://schemas.microsoft.com/office/powerpoint/2010/main" val="155587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LIVE DEMO"/>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LIVE DEMO</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서비스 시연"/>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서비스 시연</a:t>
            </a:r>
            <a:endParaRPr lang="ko-KR" sz="3600"/>
          </a:p>
        </p:txBody>
      </p:sp>
      <p:sp>
        <p:nvSpPr>
          <p:cNvPr id="5" name="main 브랜치 배포 서비스에서 탐색 → 상세 분석 → 비교를 보여드립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배포 서비스에서 조건 선택, 상세 분석, 후보 비교의 흐름을 보여드립니다.</a:t>
            </a:r>
            <a:endParaRPr lang="ko-KR"/>
          </a:p>
        </p:txBody>
      </p:sp>
      <p:sp>
        <p:nvSpPr>
          <p:cNvPr id="6" name="배포 서비스 열기 ↗"/>
          <p:cNvSpPr txBox="1"/>
          <p:nvPr/>
        </p:nvSpPr>
        <p:spPr>
          <a:xfrm>
            <a:off x="714375" y="2638425"/>
            <a:ext cx="5048250" cy="466725"/>
          </a:xfrm>
          <a:prstGeom prst="rect">
            <a:avLst/>
          </a:prstGeom>
          <a:noFill/>
          <a:ln>
            <a:noFill/>
          </a:ln>
        </p:spPr>
        <p:txBody>
          <a:bodyPr wrap="square" lIns="0" tIns="0" rIns="0" bIns="0" anchor="t">
            <a:noAutofit/>
          </a:bodyPr>
          <a:lstStyle/>
          <a:p>
            <a:pPr algn="l">
              <a:lnSpc>
                <a:spcPct val="120000"/>
              </a:lnSpc>
              <a:spcAft>
                <a:spcPts val="0"/>
              </a:spcAft>
            </a:pPr>
            <a:r>
              <a:rPr lang="ko-KR" sz="2550" b="1">
                <a:solidFill>
                  <a:srgbClr val="101511"/>
                </a:solidFill>
                <a:latin typeface="Malgun Gothic"/>
                <a:ea typeface="Malgun Gothic"/>
                <a:cs typeface="Malgun Gothic"/>
              </a:rPr>
              <a:t>배포 서비스 열기 ↗</a:t>
            </a:r>
            <a:endParaRPr lang="ko-KR" sz="2550"/>
          </a:p>
        </p:txBody>
      </p:sp>
      <p:sp>
        <p:nvSpPr>
          <p:cNvPr id="7" name="https://spot-radar.onrender.com/"/>
          <p:cNvSpPr txBox="1"/>
          <p:nvPr/>
        </p:nvSpPr>
        <p:spPr>
          <a:xfrm>
            <a:off x="723900" y="3238500"/>
            <a:ext cx="5429250" cy="419100"/>
          </a:xfrm>
          <a:prstGeom prst="rect">
            <a:avLst/>
          </a:prstGeom>
          <a:noFill/>
          <a:ln>
            <a:noFill/>
          </a:ln>
        </p:spPr>
        <p:txBody>
          <a:bodyPr wrap="square" lIns="0" tIns="0" rIns="0" bIns="0" anchor="t">
            <a:noAutofit/>
          </a:bodyPr>
          <a:lstStyle/>
          <a:p>
            <a:pPr algn="l">
              <a:lnSpc>
                <a:spcPct val="120000"/>
              </a:lnSpc>
              <a:spcAft>
                <a:spcPts val="0"/>
              </a:spcAft>
            </a:pPr>
            <a:r>
              <a:rPr lang="ko-KR" sz="1875" b="0" u="sng" dirty="0">
                <a:solidFill>
                  <a:srgbClr val="101511"/>
                </a:solidFill>
                <a:latin typeface="Malgun Gothic"/>
                <a:ea typeface="Malgun Gothic"/>
                <a:cs typeface="Malgun Gothic"/>
                <a:hlinkClick r:id="rId3"/>
              </a:rPr>
              <a:t>https://spot-radar.onrender.com/</a:t>
            </a:r>
            <a:endParaRPr lang="ko-KR" sz="1875" dirty="0"/>
          </a:p>
        </p:txBody>
      </p:sp>
      <p:sp>
        <p:nvSpPr>
          <p:cNvPr id="8" name="Panel 8"/>
          <p:cNvSpPr/>
          <p:nvPr/>
        </p:nvSpPr>
        <p:spPr>
          <a:xfrm>
            <a:off x="723900" y="3943350"/>
            <a:ext cx="5095875" cy="14288"/>
          </a:xfrm>
          <a:prstGeom prst="rect">
            <a:avLst/>
          </a:prstGeom>
          <a:solidFill>
            <a:srgbClr val="101511"/>
          </a:solidFill>
          <a:ln w="0">
            <a:noFill/>
          </a:ln>
        </p:spPr>
      </p:sp>
      <p:sp>
        <p:nvSpPr>
          <p:cNvPr id="9" name="01   조건 선택 · 상권 검색"/>
          <p:cNvSpPr txBox="1"/>
          <p:nvPr/>
        </p:nvSpPr>
        <p:spPr>
          <a:xfrm>
            <a:off x="723900" y="4362450"/>
            <a:ext cx="5191125" cy="485775"/>
          </a:xfrm>
          <a:prstGeom prst="rect">
            <a:avLst/>
          </a:prstGeom>
          <a:noFill/>
          <a:ln>
            <a:noFill/>
          </a:ln>
        </p:spPr>
        <p:txBody>
          <a:bodyPr wrap="square" lIns="0" tIns="0" rIns="0" bIns="0" anchor="t">
            <a:noAutofit/>
          </a:bodyPr>
          <a:lstStyle/>
          <a:p>
            <a:pPr algn="l">
              <a:lnSpc>
                <a:spcPct val="120000"/>
              </a:lnSpc>
              <a:spcAft>
                <a:spcPts val="0"/>
              </a:spcAft>
            </a:pPr>
            <a:r>
              <a:rPr lang="ko-KR" sz="2250" b="1" dirty="0">
                <a:solidFill>
                  <a:srgbClr val="101511"/>
                </a:solidFill>
                <a:latin typeface="Malgun Gothic"/>
                <a:ea typeface="Malgun Gothic"/>
                <a:cs typeface="Malgun Gothic"/>
              </a:rPr>
              <a:t>01   </a:t>
            </a:r>
            <a:r>
              <a:rPr lang="ko-KR" altLang="en-US" sz="2250" b="1" dirty="0">
                <a:solidFill>
                  <a:srgbClr val="101511"/>
                </a:solidFill>
                <a:latin typeface="Malgun Gothic"/>
                <a:ea typeface="Malgun Gothic"/>
                <a:cs typeface="Malgun Gothic"/>
              </a:rPr>
              <a:t>탐색 화면</a:t>
            </a:r>
            <a:r>
              <a:rPr lang="en-US" altLang="ko-KR" sz="2250" b="1" dirty="0">
                <a:solidFill>
                  <a:srgbClr val="101511"/>
                </a:solidFill>
                <a:latin typeface="Malgun Gothic"/>
                <a:ea typeface="Malgun Gothic"/>
                <a:cs typeface="Malgun Gothic"/>
              </a:rPr>
              <a:t>:</a:t>
            </a:r>
            <a:r>
              <a:rPr lang="ko-KR" altLang="en-US" sz="2250" b="1" dirty="0">
                <a:solidFill>
                  <a:srgbClr val="101511"/>
                </a:solidFill>
                <a:latin typeface="Malgun Gothic"/>
                <a:ea typeface="Malgun Gothic"/>
                <a:cs typeface="Malgun Gothic"/>
              </a:rPr>
              <a:t> </a:t>
            </a:r>
            <a:r>
              <a:rPr lang="ko-KR" sz="2250" b="1" dirty="0">
                <a:solidFill>
                  <a:srgbClr val="101511"/>
                </a:solidFill>
                <a:latin typeface="Malgun Gothic"/>
                <a:ea typeface="Malgun Gothic"/>
                <a:cs typeface="Malgun Gothic"/>
              </a:rPr>
              <a:t>조건 선택 · 상권 검색</a:t>
            </a:r>
            <a:endParaRPr lang="ko-KR" sz="2250" dirty="0"/>
          </a:p>
        </p:txBody>
      </p:sp>
      <p:sp>
        <p:nvSpPr>
          <p:cNvPr id="10" name="02   상세 지표 · AI 설명 확인"/>
          <p:cNvSpPr txBox="1"/>
          <p:nvPr/>
        </p:nvSpPr>
        <p:spPr>
          <a:xfrm>
            <a:off x="723900" y="5276850"/>
            <a:ext cx="5191125" cy="485775"/>
          </a:xfrm>
          <a:prstGeom prst="rect">
            <a:avLst/>
          </a:prstGeom>
          <a:noFill/>
          <a:ln>
            <a:noFill/>
          </a:ln>
        </p:spPr>
        <p:txBody>
          <a:bodyPr wrap="square" lIns="0" tIns="0" rIns="0" bIns="0" anchor="t">
            <a:noAutofit/>
          </a:bodyPr>
          <a:lstStyle/>
          <a:p>
            <a:pPr algn="l">
              <a:lnSpc>
                <a:spcPct val="120000"/>
              </a:lnSpc>
              <a:spcAft>
                <a:spcPts val="0"/>
              </a:spcAft>
            </a:pPr>
            <a:r>
              <a:rPr lang="ko-KR" sz="2250" b="1" dirty="0">
                <a:solidFill>
                  <a:srgbClr val="101511"/>
                </a:solidFill>
                <a:latin typeface="Malgun Gothic"/>
                <a:ea typeface="Malgun Gothic"/>
                <a:cs typeface="Malgun Gothic"/>
              </a:rPr>
              <a:t>02   상세</a:t>
            </a:r>
            <a:r>
              <a:rPr lang="ko-KR" altLang="en-US" sz="2250" b="1" dirty="0">
                <a:solidFill>
                  <a:srgbClr val="101511"/>
                </a:solidFill>
                <a:latin typeface="Malgun Gothic"/>
                <a:ea typeface="Malgun Gothic"/>
                <a:cs typeface="Malgun Gothic"/>
              </a:rPr>
              <a:t> 화면</a:t>
            </a:r>
            <a:r>
              <a:rPr lang="en-US" altLang="ko-KR" sz="2250" b="1" dirty="0">
                <a:solidFill>
                  <a:srgbClr val="101511"/>
                </a:solidFill>
                <a:latin typeface="Malgun Gothic"/>
                <a:ea typeface="Malgun Gothic"/>
                <a:cs typeface="Malgun Gothic"/>
              </a:rPr>
              <a:t>:</a:t>
            </a:r>
            <a:r>
              <a:rPr lang="ko-KR" altLang="en-US" sz="2250" b="1" dirty="0">
                <a:solidFill>
                  <a:srgbClr val="101511"/>
                </a:solidFill>
                <a:latin typeface="Malgun Gothic"/>
                <a:ea typeface="Malgun Gothic"/>
                <a:cs typeface="Malgun Gothic"/>
              </a:rPr>
              <a:t> </a:t>
            </a:r>
            <a:r>
              <a:rPr lang="ko-KR" sz="2250" b="1" dirty="0">
                <a:solidFill>
                  <a:srgbClr val="101511"/>
                </a:solidFill>
                <a:latin typeface="Malgun Gothic"/>
                <a:ea typeface="Malgun Gothic"/>
                <a:cs typeface="Malgun Gothic"/>
              </a:rPr>
              <a:t> 지표 · AI 설명 확인</a:t>
            </a:r>
            <a:endParaRPr lang="ko-KR" sz="2250" dirty="0"/>
          </a:p>
        </p:txBody>
      </p:sp>
      <p:sp>
        <p:nvSpPr>
          <p:cNvPr id="11" name="03   후보 담기 · 나란히 비교"/>
          <p:cNvSpPr txBox="1"/>
          <p:nvPr/>
        </p:nvSpPr>
        <p:spPr>
          <a:xfrm>
            <a:off x="723900" y="6191250"/>
            <a:ext cx="5191125" cy="485775"/>
          </a:xfrm>
          <a:prstGeom prst="rect">
            <a:avLst/>
          </a:prstGeom>
          <a:noFill/>
          <a:ln>
            <a:noFill/>
          </a:ln>
        </p:spPr>
        <p:txBody>
          <a:bodyPr wrap="square" lIns="0" tIns="0" rIns="0" bIns="0" anchor="t">
            <a:noAutofit/>
          </a:bodyPr>
          <a:lstStyle/>
          <a:p>
            <a:pPr algn="l">
              <a:lnSpc>
                <a:spcPct val="120000"/>
              </a:lnSpc>
              <a:spcAft>
                <a:spcPts val="0"/>
              </a:spcAft>
            </a:pPr>
            <a:r>
              <a:rPr lang="ko-KR" sz="2250" b="1" dirty="0">
                <a:solidFill>
                  <a:srgbClr val="101511"/>
                </a:solidFill>
                <a:latin typeface="Malgun Gothic"/>
                <a:ea typeface="Malgun Gothic"/>
                <a:cs typeface="Malgun Gothic"/>
              </a:rPr>
              <a:t>03   </a:t>
            </a:r>
            <a:r>
              <a:rPr lang="ko-KR" altLang="en-US" sz="2250" b="1" dirty="0">
                <a:solidFill>
                  <a:srgbClr val="101511"/>
                </a:solidFill>
                <a:latin typeface="Malgun Gothic"/>
                <a:ea typeface="Malgun Gothic"/>
                <a:cs typeface="Malgun Gothic"/>
              </a:rPr>
              <a:t>비교 화면</a:t>
            </a:r>
            <a:r>
              <a:rPr lang="en-US" altLang="ko-KR" sz="2250" b="1" dirty="0">
                <a:solidFill>
                  <a:srgbClr val="101511"/>
                </a:solidFill>
                <a:latin typeface="Malgun Gothic"/>
                <a:ea typeface="Malgun Gothic"/>
                <a:cs typeface="Malgun Gothic"/>
              </a:rPr>
              <a:t>:</a:t>
            </a:r>
            <a:r>
              <a:rPr lang="ko-KR" altLang="en-US" sz="2250" b="1" dirty="0">
                <a:solidFill>
                  <a:srgbClr val="101511"/>
                </a:solidFill>
                <a:latin typeface="Malgun Gothic"/>
                <a:ea typeface="Malgun Gothic"/>
                <a:cs typeface="Malgun Gothic"/>
              </a:rPr>
              <a:t> </a:t>
            </a:r>
            <a:r>
              <a:rPr lang="ko-KR" sz="2250" b="1" dirty="0">
                <a:solidFill>
                  <a:srgbClr val="101511"/>
                </a:solidFill>
                <a:latin typeface="Malgun Gothic"/>
                <a:ea typeface="Malgun Gothic"/>
                <a:cs typeface="Malgun Gothic"/>
              </a:rPr>
              <a:t>나란히 비교</a:t>
            </a:r>
            <a:endParaRPr lang="ko-KR" sz="2250" dirty="0"/>
          </a:p>
        </p:txBody>
      </p:sp>
      <p:pic>
        <p:nvPicPr>
          <p:cNvPr id="13" name="준비자료/스크린샷/초기화면_시작.png" descr="준비자료/스크린샷/초기화면_시작.png"/>
          <p:cNvPicPr>
            <a:picLocks noChangeAspect="1"/>
          </p:cNvPicPr>
          <p:nvPr/>
        </p:nvPicPr>
        <p:blipFill>
          <a:blip r:embed="rId4"/>
          <a:stretch>
            <a:fillRect/>
          </a:stretch>
        </p:blipFill>
        <p:spPr>
          <a:xfrm>
            <a:off x="7056269" y="2105025"/>
            <a:ext cx="7090111" cy="5746488"/>
          </a:xfrm>
          <a:prstGeom prst="rect">
            <a:avLst/>
          </a:prstGeom>
          <a:ln>
            <a:noFill/>
          </a:ln>
        </p:spPr>
      </p:pic>
      <p:sp>
        <p:nvSpPr>
          <p:cNvPr id="14" name="Panel 14"/>
          <p:cNvSpPr/>
          <p:nvPr/>
        </p:nvSpPr>
        <p:spPr>
          <a:xfrm>
            <a:off x="685800" y="8077200"/>
            <a:ext cx="13868400" cy="14288"/>
          </a:xfrm>
          <a:prstGeom prst="rect">
            <a:avLst/>
          </a:prstGeom>
          <a:solidFill>
            <a:srgbClr val="CCD0C7"/>
          </a:solidFill>
          <a:ln w="0">
            <a:noFill/>
          </a:ln>
        </p:spPr>
      </p:sp>
      <p:sp>
        <p:nvSpPr>
          <p:cNvPr id="15"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6" name="02"/>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04</a:t>
            </a:r>
            <a:endParaRPr lang="ko-KR" sz="172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1"/>
          <p:cNvSpPr txBox="1"/>
          <p:nvPr/>
        </p:nvSpPr>
        <p:spPr>
          <a:xfrm>
            <a:off x="990600" y="1914525"/>
            <a:ext cx="3429000" cy="1381125"/>
          </a:xfrm>
          <a:prstGeom prst="rect">
            <a:avLst/>
          </a:prstGeom>
          <a:noFill/>
          <a:ln>
            <a:noFill/>
          </a:ln>
        </p:spPr>
        <p:txBody>
          <a:bodyPr wrap="square" lIns="0" tIns="0" rIns="0" bIns="0">
            <a:noAutofit/>
          </a:bodyPr>
          <a:lstStyle/>
          <a:p>
            <a:pPr algn="l">
              <a:lnSpc>
                <a:spcPct val="118000"/>
              </a:lnSpc>
              <a:spcAft>
                <a:spcPts val="0"/>
              </a:spcAft>
            </a:pPr>
            <a:r>
              <a:rPr lang="ko-KR" sz="8250" b="1">
                <a:solidFill>
                  <a:srgbClr val="CCFF00"/>
                </a:solidFill>
                <a:latin typeface="Malgun Gothic"/>
                <a:ea typeface="Malgun Gothic"/>
                <a:cs typeface="Malgun Gothic"/>
              </a:rPr>
              <a:t>01</a:t>
            </a:r>
            <a:endParaRPr lang="ko-KR" sz="8250"/>
          </a:p>
        </p:txBody>
      </p:sp>
      <p:sp>
        <p:nvSpPr>
          <p:cNvPr id="3" name="프로젝트 개요"/>
          <p:cNvSpPr txBox="1"/>
          <p:nvPr/>
        </p:nvSpPr>
        <p:spPr>
          <a:xfrm>
            <a:off x="952500" y="3629025"/>
            <a:ext cx="7953375" cy="2524125"/>
          </a:xfrm>
          <a:prstGeom prst="rect">
            <a:avLst/>
          </a:prstGeom>
          <a:noFill/>
          <a:ln>
            <a:noFill/>
          </a:ln>
        </p:spPr>
        <p:txBody>
          <a:bodyPr wrap="square" lIns="0" tIns="0" rIns="0" bIns="0">
            <a:noAutofit/>
          </a:bodyPr>
          <a:lstStyle/>
          <a:p>
            <a:pPr algn="l">
              <a:lnSpc>
                <a:spcPct val="118000"/>
              </a:lnSpc>
              <a:spcAft>
                <a:spcPts val="0"/>
              </a:spcAft>
            </a:pPr>
            <a:r>
              <a:rPr lang="ko-KR" sz="6525" b="1">
                <a:solidFill>
                  <a:srgbClr val="F8F7F2"/>
                </a:solidFill>
                <a:latin typeface="Malgun Gothic"/>
                <a:ea typeface="Malgun Gothic"/>
                <a:cs typeface="Malgun Gothic"/>
              </a:rPr>
              <a:t>프로젝트 개요</a:t>
            </a:r>
            <a:endParaRPr lang="ko-KR" sz="6525"/>
          </a:p>
        </p:txBody>
      </p:sp>
      <p:pic>
        <p:nvPicPr>
          <p:cNvPr id="4" name="01-overview" descr="장 주제를 표현한 AI 생성 개념 일러스트"/>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1  프로젝트 개요"/>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01  프로젝트 개요</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첫 매장을 준비하는 사람을 위한 상권 탐색"/>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첫 매장을 준비하는 사람을 위한 상권 탐색</a:t>
            </a:r>
            <a:endParaRPr lang="ko-KR" sz="3600"/>
          </a:p>
        </p:txBody>
      </p:sp>
      <p:sp>
        <p:nvSpPr>
          <p:cNvPr id="5" name="서비스가 대신 입지를 결정하기보다, 현장 조사 후보를 좁힐 근거를 제공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서비스가 대신 입지를 결정하기보다, 현장 조사 후보를 좁힐 근거를 제공합니다.</a:t>
            </a:r>
            <a:endParaRPr lang="ko-KR" sz="1650"/>
          </a:p>
        </p:txBody>
      </p:sp>
      <p:sp>
        <p:nvSpPr>
          <p:cNvPr id="6" name="김도윤"/>
          <p:cNvSpPr txBox="1"/>
          <p:nvPr/>
        </p:nvSpPr>
        <p:spPr>
          <a:xfrm>
            <a:off x="733425" y="2457450"/>
            <a:ext cx="6000750" cy="666750"/>
          </a:xfrm>
          <a:prstGeom prst="rect">
            <a:avLst/>
          </a:prstGeom>
          <a:noFill/>
          <a:ln>
            <a:noFill/>
          </a:ln>
        </p:spPr>
        <p:txBody>
          <a:bodyPr wrap="square" lIns="0" tIns="0" rIns="0" bIns="0" anchor="t">
            <a:noAutofit/>
          </a:bodyPr>
          <a:lstStyle/>
          <a:p>
            <a:pPr algn="l">
              <a:lnSpc>
                <a:spcPct val="120000"/>
              </a:lnSpc>
              <a:spcAft>
                <a:spcPts val="0"/>
              </a:spcAft>
            </a:pPr>
            <a:r>
              <a:rPr lang="ko-KR" sz="3900" b="1">
                <a:solidFill>
                  <a:srgbClr val="101511"/>
                </a:solidFill>
                <a:latin typeface="Malgun Gothic"/>
                <a:ea typeface="Malgun Gothic"/>
                <a:cs typeface="Malgun Gothic"/>
              </a:rPr>
              <a:t>김도윤</a:t>
            </a:r>
            <a:endParaRPr lang="ko-KR" sz="3900"/>
          </a:p>
        </p:txBody>
      </p:sp>
      <p:sp>
        <p:nvSpPr>
          <p:cNvPr id="7" name="32세 · 카페 프랜차이즈 매니저 출신"/>
          <p:cNvSpPr txBox="1"/>
          <p:nvPr/>
        </p:nvSpPr>
        <p:spPr>
          <a:xfrm>
            <a:off x="762000" y="3238500"/>
            <a:ext cx="6381750" cy="447675"/>
          </a:xfrm>
          <a:prstGeom prst="rect">
            <a:avLst/>
          </a:prstGeom>
          <a:noFill/>
          <a:ln>
            <a:noFill/>
          </a:ln>
        </p:spPr>
        <p:txBody>
          <a:bodyPr wrap="square" lIns="0" tIns="0" rIns="0" bIns="0" anchor="t">
            <a:noAutofit/>
          </a:bodyPr>
          <a:lstStyle/>
          <a:p>
            <a:pPr algn="l">
              <a:lnSpc>
                <a:spcPct val="120000"/>
              </a:lnSpc>
              <a:spcAft>
                <a:spcPts val="0"/>
              </a:spcAft>
            </a:pPr>
            <a:r>
              <a:rPr lang="ko-KR" sz="2100" b="0">
                <a:solidFill>
                  <a:srgbClr val="101511"/>
                </a:solidFill>
                <a:latin typeface="Malgun Gothic"/>
                <a:ea typeface="Malgun Gothic"/>
                <a:cs typeface="Malgun Gothic"/>
              </a:rPr>
              <a:t>32세 · 카페 프랜차이즈 매니저 출신</a:t>
            </a:r>
            <a:endParaRPr lang="ko-KR" sz="2100"/>
          </a:p>
        </p:txBody>
      </p:sp>
      <p:sp>
        <p:nvSpPr>
          <p:cNvPr id="8" name="첫 본인 매장을 준비하는 서울 예비 창업자"/>
          <p:cNvSpPr txBox="1"/>
          <p:nvPr/>
        </p:nvSpPr>
        <p:spPr>
          <a:xfrm>
            <a:off x="762000" y="3905250"/>
            <a:ext cx="6286500" cy="1038225"/>
          </a:xfrm>
          <a:prstGeom prst="rect">
            <a:avLst/>
          </a:prstGeom>
          <a:noFill/>
          <a:ln>
            <a:noFill/>
          </a:ln>
        </p:spPr>
        <p:txBody>
          <a:bodyPr wrap="square" lIns="0" tIns="0" rIns="0" bIns="0" anchor="t">
            <a:noAutofit/>
          </a:bodyPr>
          <a:lstStyle/>
          <a:p>
            <a:pPr algn="l">
              <a:lnSpc>
                <a:spcPct val="120000"/>
              </a:lnSpc>
              <a:spcAft>
                <a:spcPts val="0"/>
              </a:spcAft>
            </a:pPr>
            <a:r>
              <a:rPr lang="ko-KR" sz="2700" b="1">
                <a:solidFill>
                  <a:srgbClr val="101511"/>
                </a:solidFill>
                <a:latin typeface="Malgun Gothic"/>
                <a:ea typeface="Malgun Gothic"/>
                <a:cs typeface="Malgun Gothic"/>
              </a:rPr>
              <a:t>첫 본인 매장을 준비하는</a:t>
            </a:r>
            <a:endParaRPr lang="ko-KR" sz="2700"/>
          </a:p>
          <a:p>
            <a:pPr algn="l">
              <a:lnSpc>
                <a:spcPct val="120000"/>
              </a:lnSpc>
              <a:spcAft>
                <a:spcPts val="0"/>
              </a:spcAft>
            </a:pPr>
            <a:r>
              <a:rPr lang="ko-KR" sz="2700" b="1">
                <a:solidFill>
                  <a:srgbClr val="101511"/>
                </a:solidFill>
                <a:latin typeface="Malgun Gothic"/>
                <a:ea typeface="Malgun Gothic"/>
                <a:cs typeface="Malgun Gothic"/>
              </a:rPr>
              <a:t>서울 예비 창업자</a:t>
            </a:r>
            <a:endParaRPr lang="ko-KR" sz="2700"/>
          </a:p>
        </p:txBody>
      </p:sp>
      <p:sp>
        <p:nvSpPr>
          <p:cNvPr id="9" name="Panel 9"/>
          <p:cNvSpPr/>
          <p:nvPr/>
        </p:nvSpPr>
        <p:spPr>
          <a:xfrm>
            <a:off x="762000" y="5286375"/>
            <a:ext cx="6191250" cy="14288"/>
          </a:xfrm>
          <a:prstGeom prst="rect">
            <a:avLst/>
          </a:prstGeom>
          <a:solidFill>
            <a:srgbClr val="101511"/>
          </a:solidFill>
          <a:ln w="0">
            <a:noFill/>
          </a:ln>
        </p:spPr>
      </p:sp>
      <p:sp>
        <p:nvSpPr>
          <p:cNvPr id="10" name="창업 자금"/>
          <p:cNvSpPr txBox="1"/>
          <p:nvPr/>
        </p:nvSpPr>
        <p:spPr>
          <a:xfrm>
            <a:off x="771525" y="5600700"/>
            <a:ext cx="2095500" cy="34290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창업 자금</a:t>
            </a:r>
            <a:endParaRPr lang="ko-KR" sz="1650"/>
          </a:p>
        </p:txBody>
      </p:sp>
      <p:sp>
        <p:nvSpPr>
          <p:cNvPr id="11" name="1~2억 원"/>
          <p:cNvSpPr txBox="1"/>
          <p:nvPr/>
        </p:nvSpPr>
        <p:spPr>
          <a:xfrm>
            <a:off x="771525" y="6019800"/>
            <a:ext cx="5429250" cy="685800"/>
          </a:xfrm>
          <a:prstGeom prst="rect">
            <a:avLst/>
          </a:prstGeom>
          <a:noFill/>
          <a:ln>
            <a:noFill/>
          </a:ln>
        </p:spPr>
        <p:txBody>
          <a:bodyPr wrap="square" lIns="0" tIns="0" rIns="0" bIns="0" anchor="t">
            <a:noAutofit/>
          </a:bodyPr>
          <a:lstStyle/>
          <a:p>
            <a:pPr algn="l">
              <a:lnSpc>
                <a:spcPct val="120000"/>
              </a:lnSpc>
              <a:spcAft>
                <a:spcPts val="0"/>
              </a:spcAft>
            </a:pPr>
            <a:r>
              <a:rPr lang="ko-KR" sz="3525" b="1">
                <a:solidFill>
                  <a:srgbClr val="101511"/>
                </a:solidFill>
                <a:latin typeface="Malgun Gothic"/>
                <a:ea typeface="Malgun Gothic"/>
                <a:cs typeface="Malgun Gothic"/>
              </a:rPr>
              <a:t>1~2억 원</a:t>
            </a:r>
            <a:endParaRPr lang="ko-KR" sz="3525"/>
          </a:p>
        </p:txBody>
      </p:sp>
      <p:sp>
        <p:nvSpPr>
          <p:cNvPr id="12" name="프로젝트에서 정의한 설정 페르소나"/>
          <p:cNvSpPr txBox="1"/>
          <p:nvPr/>
        </p:nvSpPr>
        <p:spPr>
          <a:xfrm>
            <a:off x="781050" y="7286625"/>
            <a:ext cx="6191250" cy="285750"/>
          </a:xfrm>
          <a:prstGeom prst="rect">
            <a:avLst/>
          </a:prstGeom>
          <a:noFill/>
          <a:ln>
            <a:noFill/>
          </a:ln>
        </p:spPr>
        <p:txBody>
          <a:bodyPr wrap="square" lIns="0" tIns="0" rIns="0" bIns="0" anchor="t">
            <a:noAutofit/>
          </a:bodyPr>
          <a:lstStyle/>
          <a:p>
            <a:pPr algn="l">
              <a:lnSpc>
                <a:spcPct val="120000"/>
              </a:lnSpc>
              <a:spcAft>
                <a:spcPts val="0"/>
              </a:spcAft>
            </a:pPr>
            <a:r>
              <a:rPr lang="ko-KR" sz="1350" b="0">
                <a:solidFill>
                  <a:srgbClr val="66716B"/>
                </a:solidFill>
                <a:latin typeface="Malgun Gothic"/>
                <a:ea typeface="Malgun Gothic"/>
                <a:cs typeface="Malgun Gothic"/>
              </a:rPr>
              <a:t>프로젝트에서 정의한 설정 페르소나</a:t>
            </a:r>
            <a:endParaRPr lang="ko-KR" sz="1350"/>
          </a:p>
        </p:txBody>
      </p:sp>
      <p:sp>
        <p:nvSpPr>
          <p:cNvPr id="13" name="Panel 13"/>
          <p:cNvSpPr/>
          <p:nvPr/>
        </p:nvSpPr>
        <p:spPr>
          <a:xfrm>
            <a:off x="7600950" y="2333625"/>
            <a:ext cx="6934200" cy="5286375"/>
          </a:xfrm>
          <a:prstGeom prst="rect">
            <a:avLst/>
          </a:prstGeom>
          <a:solidFill>
            <a:srgbClr val="111713"/>
          </a:solidFill>
          <a:ln w="0">
            <a:noFill/>
          </a:ln>
        </p:spPr>
      </p:sp>
      <p:sp>
        <p:nvSpPr>
          <p:cNvPr id="14" name="목표"/>
          <p:cNvSpPr txBox="1"/>
          <p:nvPr/>
        </p:nvSpPr>
        <p:spPr>
          <a:xfrm>
            <a:off x="8001000" y="2714625"/>
            <a:ext cx="5905500" cy="381000"/>
          </a:xfrm>
          <a:prstGeom prst="rect">
            <a:avLst/>
          </a:prstGeom>
          <a:noFill/>
          <a:ln>
            <a:noFill/>
          </a:ln>
        </p:spPr>
        <p:txBody>
          <a:bodyPr wrap="square" lIns="0" tIns="0" rIns="0" bIns="0" anchor="t">
            <a:noAutofit/>
          </a:bodyPr>
          <a:lstStyle/>
          <a:p>
            <a:pPr algn="l">
              <a:lnSpc>
                <a:spcPct val="120000"/>
              </a:lnSpc>
              <a:spcAft>
                <a:spcPts val="0"/>
              </a:spcAft>
            </a:pPr>
            <a:r>
              <a:rPr lang="ko-KR" sz="1875" b="1">
                <a:solidFill>
                  <a:srgbClr val="CCFF00"/>
                </a:solidFill>
                <a:latin typeface="Malgun Gothic"/>
                <a:ea typeface="Malgun Gothic"/>
                <a:cs typeface="Malgun Gothic"/>
              </a:rPr>
              <a:t>목표</a:t>
            </a:r>
            <a:endParaRPr lang="ko-KR" sz="1875"/>
          </a:p>
        </p:txBody>
      </p:sp>
      <p:sp>
        <p:nvSpPr>
          <p:cNvPr id="15" name="현장에 가볼 후보 2~3곳"/>
          <p:cNvSpPr txBox="1"/>
          <p:nvPr/>
        </p:nvSpPr>
        <p:spPr>
          <a:xfrm>
            <a:off x="7981950" y="3276600"/>
            <a:ext cx="6000750" cy="1381125"/>
          </a:xfrm>
          <a:prstGeom prst="rect">
            <a:avLst/>
          </a:prstGeom>
          <a:noFill/>
          <a:ln>
            <a:noFill/>
          </a:ln>
        </p:spPr>
        <p:txBody>
          <a:bodyPr wrap="square" lIns="0" tIns="0" rIns="0" bIns="0" anchor="t">
            <a:noAutofit/>
          </a:bodyPr>
          <a:lstStyle/>
          <a:p>
            <a:pPr algn="l">
              <a:lnSpc>
                <a:spcPct val="120000"/>
              </a:lnSpc>
              <a:spcAft>
                <a:spcPts val="0"/>
              </a:spcAft>
            </a:pPr>
            <a:r>
              <a:rPr lang="ko-KR" sz="3825" b="1">
                <a:solidFill>
                  <a:srgbClr val="F8F7F2"/>
                </a:solidFill>
                <a:latin typeface="Malgun Gothic"/>
                <a:ea typeface="Malgun Gothic"/>
                <a:cs typeface="Malgun Gothic"/>
              </a:rPr>
              <a:t>현장에 가볼</a:t>
            </a:r>
            <a:endParaRPr lang="ko-KR" sz="3825"/>
          </a:p>
          <a:p>
            <a:pPr algn="l">
              <a:lnSpc>
                <a:spcPct val="120000"/>
              </a:lnSpc>
              <a:spcAft>
                <a:spcPts val="0"/>
              </a:spcAft>
            </a:pPr>
            <a:r>
              <a:rPr lang="ko-KR" sz="3825" b="1">
                <a:solidFill>
                  <a:srgbClr val="F8F7F2"/>
                </a:solidFill>
                <a:latin typeface="Malgun Gothic"/>
                <a:ea typeface="Malgun Gothic"/>
                <a:cs typeface="Malgun Gothic"/>
              </a:rPr>
              <a:t>후보 2~3곳</a:t>
            </a:r>
            <a:endParaRPr lang="ko-KR" sz="3825"/>
          </a:p>
        </p:txBody>
      </p:sp>
      <p:sp>
        <p:nvSpPr>
          <p:cNvPr id="16" name="복잡한 원자료 대신 등급과 짧은 해석 매출·소비 패턴·경쟁 여건을 함께 확인 임대료와 실제 주변 환경은 직접 조사"/>
          <p:cNvSpPr txBox="1"/>
          <p:nvPr/>
        </p:nvSpPr>
        <p:spPr>
          <a:xfrm>
            <a:off x="8001000" y="5200650"/>
            <a:ext cx="5886450" cy="1809750"/>
          </a:xfrm>
          <a:prstGeom prst="rect">
            <a:avLst/>
          </a:prstGeom>
          <a:noFill/>
          <a:ln>
            <a:noFill/>
          </a:ln>
        </p:spPr>
        <p:txBody>
          <a:bodyPr wrap="square" lIns="0" tIns="0" rIns="0" bIns="0" anchor="t">
            <a:noAutofit/>
          </a:bodyPr>
          <a:lstStyle/>
          <a:p>
            <a:pPr algn="l">
              <a:lnSpc>
                <a:spcPct val="155000"/>
              </a:lnSpc>
              <a:spcAft>
                <a:spcPts val="0"/>
              </a:spcAft>
            </a:pPr>
            <a:r>
              <a:rPr lang="ko-KR" sz="1950" b="0">
                <a:solidFill>
                  <a:srgbClr val="F8F7F2"/>
                </a:solidFill>
                <a:latin typeface="Malgun Gothic"/>
                <a:ea typeface="Malgun Gothic"/>
                <a:cs typeface="Malgun Gothic"/>
              </a:rPr>
              <a:t>복잡한 원자료 대신 등급과 짧은 해석</a:t>
            </a:r>
            <a:endParaRPr lang="ko-KR" sz="1950"/>
          </a:p>
          <a:p>
            <a:pPr algn="l">
              <a:lnSpc>
                <a:spcPct val="155000"/>
              </a:lnSpc>
              <a:spcAft>
                <a:spcPts val="0"/>
              </a:spcAft>
            </a:pPr>
            <a:r>
              <a:rPr lang="ko-KR" sz="1950" b="0">
                <a:solidFill>
                  <a:srgbClr val="F8F7F2"/>
                </a:solidFill>
                <a:latin typeface="Malgun Gothic"/>
                <a:ea typeface="Malgun Gothic"/>
                <a:cs typeface="Malgun Gothic"/>
              </a:rPr>
              <a:t>매출·소비 패턴·경쟁 여건을 함께 확인</a:t>
            </a:r>
            <a:endParaRPr lang="ko-KR" sz="1950"/>
          </a:p>
          <a:p>
            <a:pPr algn="l">
              <a:lnSpc>
                <a:spcPct val="155000"/>
              </a:lnSpc>
              <a:spcAft>
                <a:spcPts val="0"/>
              </a:spcAft>
            </a:pPr>
            <a:r>
              <a:rPr lang="ko-KR" sz="1950" b="0">
                <a:solidFill>
                  <a:srgbClr val="F8F7F2"/>
                </a:solidFill>
                <a:latin typeface="Malgun Gothic"/>
                <a:ea typeface="Malgun Gothic"/>
                <a:cs typeface="Malgun Gothic"/>
              </a:rPr>
              <a:t>임대료와 실제 주변 환경은 직접 조사</a:t>
            </a:r>
            <a:endParaRPr lang="ko-KR" sz="1950"/>
          </a:p>
        </p:txBody>
      </p:sp>
      <p:sp>
        <p:nvSpPr>
          <p:cNvPr id="17" name="Panel 17"/>
          <p:cNvSpPr/>
          <p:nvPr/>
        </p:nvSpPr>
        <p:spPr>
          <a:xfrm>
            <a:off x="685800" y="8077200"/>
            <a:ext cx="13868400" cy="14288"/>
          </a:xfrm>
          <a:prstGeom prst="rect">
            <a:avLst/>
          </a:prstGeom>
          <a:solidFill>
            <a:srgbClr val="CCD0C7"/>
          </a:solidFill>
          <a:ln w="0">
            <a:noFill/>
          </a:ln>
        </p:spPr>
      </p:sp>
      <p:sp>
        <p:nvSpPr>
          <p:cNvPr id="1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9" name="03"/>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06</a:t>
            </a:r>
            <a:endParaRPr lang="ko-KR" sz="172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01  프로젝트 개요"/>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01  프로젝트 개요</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예비 창업자의 페인포인트"/>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예비 창업자의 </a:t>
            </a:r>
            <a:r>
              <a:rPr lang="ko-KR" altLang="en-US" sz="3600" b="1" dirty="0">
                <a:solidFill>
                  <a:srgbClr val="101511"/>
                </a:solidFill>
                <a:latin typeface="Malgun Gothic"/>
                <a:ea typeface="Malgun Gothic"/>
                <a:cs typeface="Malgun Gothic"/>
              </a:rPr>
              <a:t>고민은 무엇일까</a:t>
            </a:r>
            <a:r>
              <a:rPr lang="en-US" altLang="ko-KR" sz="3600" b="1" dirty="0">
                <a:solidFill>
                  <a:srgbClr val="101511"/>
                </a:solidFill>
                <a:latin typeface="Malgun Gothic"/>
                <a:ea typeface="Malgun Gothic"/>
                <a:cs typeface="Malgun Gothic"/>
              </a:rPr>
              <a:t>?</a:t>
            </a:r>
            <a:endParaRPr lang="ko-KR" sz="3600" dirty="0"/>
          </a:p>
        </p:txBody>
      </p:sp>
      <p:sp>
        <p:nvSpPr>
          <p:cNvPr id="5" name="설정 페르소나 김도윤을 기준으로 정리한 문제 가설과 서비스의 대응"/>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dirty="0">
                <a:solidFill>
                  <a:srgbClr val="66716B"/>
                </a:solidFill>
                <a:latin typeface="Malgun Gothic"/>
                <a:ea typeface="Malgun Gothic"/>
                <a:cs typeface="Malgun Gothic"/>
              </a:rPr>
              <a:t>설정 페르소나 기준으로 정리한 </a:t>
            </a:r>
            <a:r>
              <a:rPr lang="ko-KR" altLang="en-US" sz="1650" b="0" dirty="0">
                <a:solidFill>
                  <a:srgbClr val="66716B"/>
                </a:solidFill>
                <a:latin typeface="Malgun Gothic"/>
                <a:ea typeface="Malgun Gothic"/>
                <a:cs typeface="Malgun Gothic"/>
              </a:rPr>
              <a:t>페인 포인트와</a:t>
            </a:r>
            <a:r>
              <a:rPr lang="ko-KR" sz="1650" b="0" dirty="0">
                <a:solidFill>
                  <a:srgbClr val="66716B"/>
                </a:solidFill>
                <a:latin typeface="Malgun Gothic"/>
                <a:ea typeface="Malgun Gothic"/>
                <a:cs typeface="Malgun Gothic"/>
              </a:rPr>
              <a:t> 서비스의 대응</a:t>
            </a:r>
            <a:endParaRPr lang="ko-KR" sz="1650" dirty="0"/>
          </a:p>
        </p:txBody>
      </p:sp>
      <p:graphicFrame>
        <p:nvGraphicFramePr>
          <p:cNvPr id="6" name="Editable table 6"/>
          <p:cNvGraphicFramePr/>
          <p:nvPr>
            <p:extLst>
              <p:ext uri="{D42A27DB-BD31-4B8C-83A1-F6EECF244321}">
                <p14:modId xmlns:p14="http://schemas.microsoft.com/office/powerpoint/2010/main" val="1507659214"/>
              </p:ext>
            </p:extLst>
          </p:nvPr>
        </p:nvGraphicFramePr>
        <p:xfrm>
          <a:off x="704850" y="2381250"/>
          <a:ext cx="13849350" cy="4469210"/>
        </p:xfrm>
        <a:graphic>
          <a:graphicData uri="http://schemas.openxmlformats.org/drawingml/2006/table">
            <a:tbl>
              <a:tblPr firstRow="1">
                <a:tableStyleId>{5C22544A-7EE6-4342-B048-85BDC9FD1C3A}</a:tableStyleId>
              </a:tblPr>
              <a:tblGrid>
                <a:gridCol w="6877050">
                  <a:extLst>
                    <a:ext uri="{9D8B030D-6E8A-4147-A177-3AD203B41FA5}">
                      <a16:colId xmlns:a16="http://schemas.microsoft.com/office/drawing/2014/main" val="20000"/>
                    </a:ext>
                  </a:extLst>
                </a:gridCol>
                <a:gridCol w="6972300">
                  <a:extLst>
                    <a:ext uri="{9D8B030D-6E8A-4147-A177-3AD203B41FA5}">
                      <a16:colId xmlns:a16="http://schemas.microsoft.com/office/drawing/2014/main" val="20001"/>
                    </a:ext>
                  </a:extLst>
                </a:gridCol>
              </a:tblGrid>
              <a:tr h="610650">
                <a:tc>
                  <a:txBody>
                    <a:bodyPr/>
                    <a:lstStyle/>
                    <a:p>
                      <a:pPr algn="l">
                        <a:lnSpc>
                          <a:spcPct val="120000"/>
                        </a:lnSpc>
                        <a:spcAft>
                          <a:spcPts val="0"/>
                        </a:spcAft>
                      </a:pPr>
                      <a:r>
                        <a:rPr lang="ko-KR" sz="1950" b="1">
                          <a:solidFill>
                            <a:srgbClr val="FFFFFF"/>
                          </a:solidFill>
                          <a:latin typeface="Malgun Gothic"/>
                          <a:ea typeface="Malgun Gothic"/>
                          <a:cs typeface="Malgun Gothic"/>
                        </a:rPr>
                        <a:t>사용자의 불편</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dirty="0">
                          <a:solidFill>
                            <a:srgbClr val="101511"/>
                          </a:solidFill>
                          <a:latin typeface="Malgun Gothic"/>
                          <a:ea typeface="Malgun Gothic"/>
                          <a:cs typeface="Malgun Gothic"/>
                        </a:rPr>
                        <a:t>SPOT </a:t>
                      </a:r>
                      <a:r>
                        <a:rPr lang="ko-KR" sz="1950" b="1" dirty="0" err="1">
                          <a:solidFill>
                            <a:srgbClr val="101511"/>
                          </a:solidFill>
                          <a:latin typeface="Malgun Gothic"/>
                          <a:ea typeface="Malgun Gothic"/>
                          <a:cs typeface="Malgun Gothic"/>
                        </a:rPr>
                        <a:t>RADAR의</a:t>
                      </a:r>
                      <a:r>
                        <a:rPr lang="ko-KR" sz="1950" b="1" dirty="0">
                          <a:solidFill>
                            <a:srgbClr val="101511"/>
                          </a:solidFill>
                          <a:latin typeface="Malgun Gothic"/>
                          <a:ea typeface="Malgun Gothic"/>
                          <a:cs typeface="Malgun Gothic"/>
                        </a:rPr>
                        <a:t> </a:t>
                      </a:r>
                      <a:r>
                        <a:rPr lang="ko-KR" altLang="en-US" sz="1950" b="1" dirty="0">
                          <a:solidFill>
                            <a:srgbClr val="101511"/>
                          </a:solidFill>
                          <a:latin typeface="Malgun Gothic"/>
                          <a:ea typeface="Malgun Gothic"/>
                          <a:cs typeface="Malgun Gothic"/>
                        </a:rPr>
                        <a:t>솔루션</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CCFF00"/>
                    </a:solidFill>
                  </a:tcPr>
                </a:tc>
                <a:extLst>
                  <a:ext uri="{0D108BD9-81ED-4DB2-BD59-A6C34878D82A}">
                    <a16:rowId xmlns:a16="http://schemas.microsoft.com/office/drawing/2014/main" val="10000"/>
                  </a:ext>
                </a:extLst>
              </a:tr>
              <a:tr h="894293">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어디부터 봐야 하지</a:t>
                      </a:r>
                      <a:r>
                        <a:rPr lang="en-US" altLang="ko-KR" sz="1950" b="1" dirty="0">
                          <a:solidFill>
                            <a:srgbClr val="101511"/>
                          </a:solidFill>
                          <a:latin typeface="Malgun Gothic"/>
                          <a:ea typeface="Malgun Gothic"/>
                          <a:cs typeface="Malgun Gothic"/>
                        </a:rPr>
                        <a:t>?</a:t>
                      </a:r>
                    </a:p>
                    <a:p>
                      <a:pPr algn="l">
                        <a:lnSpc>
                          <a:spcPct val="120000"/>
                        </a:lnSpc>
                        <a:spcAft>
                          <a:spcPts val="0"/>
                        </a:spcAft>
                      </a:pPr>
                      <a:r>
                        <a:rPr lang="ko-KR" altLang="en-US" sz="1950" b="1" dirty="0">
                          <a:solidFill>
                            <a:srgbClr val="101511"/>
                          </a:solidFill>
                          <a:latin typeface="Malgun Gothic"/>
                          <a:ea typeface="Malgun Gothic"/>
                        </a:rPr>
                        <a:t>상권과 조건이 많네</a:t>
                      </a:r>
                      <a:r>
                        <a:rPr lang="en-US" altLang="ko-KR" sz="1950" b="1" dirty="0">
                          <a:solidFill>
                            <a:srgbClr val="101511"/>
                          </a:solidFill>
                          <a:latin typeface="Malgun Gothic"/>
                          <a:ea typeface="Malgun Gothic"/>
                        </a:rPr>
                        <a:t>…</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업종·지역·분기로 탐색 범위 설정</a:t>
                      </a:r>
                      <a:endParaRPr lang="ko-KR" sz="1950"/>
                    </a:p>
                    <a:p>
                      <a:pPr algn="l">
                        <a:lnSpc>
                          <a:spcPct val="120000"/>
                        </a:lnSpc>
                        <a:spcAft>
                          <a:spcPts val="0"/>
                        </a:spcAft>
                      </a:pPr>
                      <a:r>
                        <a:rPr lang="ko-KR" sz="1950" b="0">
                          <a:solidFill>
                            <a:srgbClr val="101511"/>
                          </a:solidFill>
                          <a:latin typeface="Malgun Gothic"/>
                          <a:ea typeface="Malgun Gothic"/>
                          <a:cs typeface="Malgun Gothic"/>
                        </a:rPr>
                        <a:t>추천 목록에서 먼저 살펴볼 후보 확인</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014442">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자료를 제공하는 곳은 있지만</a:t>
                      </a:r>
                      <a:r>
                        <a:rPr lang="en-US" altLang="ko-KR" sz="1950" b="1" dirty="0">
                          <a:solidFill>
                            <a:srgbClr val="101511"/>
                          </a:solidFill>
                          <a:latin typeface="Malgun Gothic"/>
                          <a:ea typeface="Malgun Gothic"/>
                          <a:cs typeface="Malgun Gothic"/>
                        </a:rPr>
                        <a:t>,</a:t>
                      </a:r>
                      <a:r>
                        <a:rPr lang="ko-KR" altLang="en-US" sz="1950" b="1" dirty="0">
                          <a:solidFill>
                            <a:srgbClr val="101511"/>
                          </a:solidFill>
                          <a:latin typeface="Malgun Gothic"/>
                          <a:ea typeface="Malgun Gothic"/>
                          <a:cs typeface="Malgun Gothic"/>
                        </a:rPr>
                        <a:t> </a:t>
                      </a:r>
                      <a:endParaRPr lang="en-US" altLang="ko-KR" sz="1950" b="1" dirty="0">
                        <a:solidFill>
                          <a:srgbClr val="101511"/>
                        </a:solidFill>
                        <a:latin typeface="Malgun Gothic"/>
                        <a:ea typeface="Malgun Gothic"/>
                        <a:cs typeface="Malgun Gothic"/>
                      </a:endParaRPr>
                    </a:p>
                    <a:p>
                      <a:pPr algn="l">
                        <a:lnSpc>
                          <a:spcPct val="120000"/>
                        </a:lnSpc>
                        <a:spcAft>
                          <a:spcPts val="0"/>
                        </a:spcAft>
                      </a:pPr>
                      <a:r>
                        <a:rPr lang="ko-KR" altLang="en-US" sz="1950" b="1" dirty="0">
                          <a:solidFill>
                            <a:srgbClr val="101511"/>
                          </a:solidFill>
                          <a:latin typeface="Malgun Gothic"/>
                          <a:ea typeface="Malgun Gothic"/>
                          <a:cs typeface="Malgun Gothic"/>
                        </a:rPr>
                        <a:t>자료가 제공하는 숫자의 의미는 뭐지</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지표별</a:t>
                      </a:r>
                      <a:r>
                        <a:rPr lang="ko-KR" sz="1950" b="0" dirty="0">
                          <a:solidFill>
                            <a:srgbClr val="101511"/>
                          </a:solidFill>
                          <a:latin typeface="Malgun Gothic"/>
                          <a:ea typeface="Malgun Gothic"/>
                          <a:cs typeface="Malgun Gothic"/>
                        </a:rPr>
                        <a:t> 등급과 짧은 해석 제공</a:t>
                      </a:r>
                      <a:endParaRPr lang="ko-KR" sz="1950" dirty="0"/>
                    </a:p>
                    <a:p>
                      <a:pPr algn="l">
                        <a:lnSpc>
                          <a:spcPct val="120000"/>
                        </a:lnSpc>
                        <a:spcAft>
                          <a:spcPts val="0"/>
                        </a:spcAft>
                      </a:pPr>
                      <a:r>
                        <a:rPr lang="ko-KR" sz="1950" b="0" dirty="0">
                          <a:solidFill>
                            <a:srgbClr val="101511"/>
                          </a:solidFill>
                          <a:latin typeface="Malgun Gothic"/>
                          <a:ea typeface="Malgun Gothic"/>
                          <a:cs typeface="Malgun Gothic"/>
                        </a:rPr>
                        <a:t>AI 요약으로 계산된 지표의 이해 지원</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882543">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상권 후보의 장단점은 무엇일까</a:t>
                      </a:r>
                      <a:endParaRPr lang="en-US" altLang="ko-KR" sz="1950" b="1" dirty="0">
                        <a:solidFill>
                          <a:srgbClr val="101511"/>
                        </a:solidFill>
                        <a:latin typeface="Malgun Gothic"/>
                        <a:ea typeface="Malgun Gothic"/>
                        <a:cs typeface="Malgun Gothic"/>
                      </a:endParaRPr>
                    </a:p>
                    <a:p>
                      <a:pPr algn="l">
                        <a:lnSpc>
                          <a:spcPct val="120000"/>
                        </a:lnSpc>
                        <a:spcAft>
                          <a:spcPts val="0"/>
                        </a:spcAft>
                      </a:pPr>
                      <a:r>
                        <a:rPr lang="ko-KR" altLang="en-US" sz="1950" b="1" dirty="0">
                          <a:solidFill>
                            <a:srgbClr val="101511"/>
                          </a:solidFill>
                          <a:latin typeface="Malgun Gothic"/>
                          <a:ea typeface="Malgun Gothic"/>
                          <a:cs typeface="Malgun Gothic"/>
                        </a:rPr>
                        <a:t>비교해 볼 수 있음 좋겠네</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같은 업종·분기의 주요 지표를</a:t>
                      </a:r>
                      <a:endParaRPr lang="ko-KR" sz="1950"/>
                    </a:p>
                    <a:p>
                      <a:pPr algn="l">
                        <a:lnSpc>
                          <a:spcPct val="120000"/>
                        </a:lnSpc>
                        <a:spcAft>
                          <a:spcPts val="0"/>
                        </a:spcAft>
                      </a:pPr>
                      <a:r>
                        <a:rPr lang="ko-KR" sz="1950" b="0">
                          <a:solidFill>
                            <a:srgbClr val="101511"/>
                          </a:solidFill>
                          <a:latin typeface="Malgun Gothic"/>
                          <a:ea typeface="Malgun Gothic"/>
                          <a:cs typeface="Malgun Gothic"/>
                        </a:rPr>
                        <a:t>후보별로 나란히 비교</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1027002">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입지를 결정할 근거가 있었음 좋겠어</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a:solidFill>
                            <a:srgbClr val="101511"/>
                          </a:solidFill>
                          <a:latin typeface="Malgun Gothic"/>
                          <a:ea typeface="Malgun Gothic"/>
                          <a:cs typeface="Malgun Gothic"/>
                        </a:rPr>
                        <a:t>점수 산식과 기준 분기 안내</a:t>
                      </a:r>
                      <a:endParaRPr lang="ko-KR" sz="1950" dirty="0"/>
                    </a:p>
                    <a:p>
                      <a:pPr algn="l">
                        <a:lnSpc>
                          <a:spcPct val="120000"/>
                        </a:lnSpc>
                        <a:spcAft>
                          <a:spcPts val="0"/>
                        </a:spcAft>
                      </a:pPr>
                      <a:r>
                        <a:rPr lang="ko-KR" sz="1950" b="0" dirty="0" err="1">
                          <a:solidFill>
                            <a:srgbClr val="101511"/>
                          </a:solidFill>
                          <a:latin typeface="Malgun Gothic"/>
                          <a:ea typeface="Malgun Gothic"/>
                          <a:cs typeface="Malgun Gothic"/>
                        </a:rPr>
                        <a:t>임대료·매장</a:t>
                      </a:r>
                      <a:r>
                        <a:rPr lang="ko-KR" sz="1950" b="0" dirty="0">
                          <a:solidFill>
                            <a:srgbClr val="101511"/>
                          </a:solidFill>
                          <a:latin typeface="Malgun Gothic"/>
                          <a:ea typeface="Malgun Gothic"/>
                          <a:cs typeface="Malgun Gothic"/>
                        </a:rPr>
                        <a:t> 상태는 현장에서 확인</a:t>
                      </a:r>
                      <a:r>
                        <a:rPr lang="ko-KR" altLang="en-US" sz="1950" b="0" dirty="0">
                          <a:solidFill>
                            <a:srgbClr val="101511"/>
                          </a:solidFill>
                          <a:latin typeface="Malgun Gothic"/>
                          <a:ea typeface="Malgun Gothic"/>
                          <a:cs typeface="Malgun Gothic"/>
                        </a:rPr>
                        <a:t>할 수 있게 유도</a:t>
                      </a:r>
                      <a:endParaRPr lang="ko-KR" sz="1950"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직접 확인할 후보를 좁히도록, 탐색과 판단의 부담을 줄입니다."/>
          <p:cNvSpPr txBox="1"/>
          <p:nvPr/>
        </p:nvSpPr>
        <p:spPr>
          <a:xfrm>
            <a:off x="762000" y="7477125"/>
            <a:ext cx="13811250" cy="371475"/>
          </a:xfrm>
          <a:prstGeom prst="rect">
            <a:avLst/>
          </a:prstGeom>
          <a:noFill/>
          <a:ln>
            <a:noFill/>
          </a:ln>
        </p:spPr>
        <p:txBody>
          <a:bodyPr wrap="square" lIns="0" tIns="0" rIns="0" bIns="0" anchor="t">
            <a:noAutofit/>
          </a:bodyPr>
          <a:lstStyle/>
          <a:p>
            <a:pPr algn="l">
              <a:lnSpc>
                <a:spcPct val="120000"/>
              </a:lnSpc>
              <a:spcAft>
                <a:spcPts val="0"/>
              </a:spcAft>
            </a:pPr>
            <a:r>
              <a:rPr lang="ko-KR" sz="2025" b="1">
                <a:solidFill>
                  <a:srgbClr val="101511"/>
                </a:solidFill>
                <a:latin typeface="Malgun Gothic"/>
                <a:ea typeface="Malgun Gothic"/>
                <a:cs typeface="Malgun Gothic"/>
              </a:rPr>
              <a:t>직접 확인할 후보를 좁히도록, 탐색과 판단의 부담을 줄입니다.</a:t>
            </a:r>
            <a:endParaRPr lang="ko-KR" sz="2025"/>
          </a:p>
        </p:txBody>
      </p:sp>
      <p:sp>
        <p:nvSpPr>
          <p:cNvPr id="8" name="Panel 8"/>
          <p:cNvSpPr/>
          <p:nvPr/>
        </p:nvSpPr>
        <p:spPr>
          <a:xfrm>
            <a:off x="685800" y="8077200"/>
            <a:ext cx="13868400" cy="14288"/>
          </a:xfrm>
          <a:prstGeom prst="rect">
            <a:avLst/>
          </a:prstGeom>
          <a:solidFill>
            <a:srgbClr val="CCD0C7"/>
          </a:solidFill>
          <a:ln w="0">
            <a:noFill/>
          </a:ln>
        </p:spPr>
      </p:sp>
      <p:sp>
        <p:nvSpPr>
          <p:cNvPr id="9"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2차 발표</a:t>
            </a:r>
            <a:endParaRPr lang="ko-KR" sz="1200"/>
          </a:p>
        </p:txBody>
      </p:sp>
      <p:sp>
        <p:nvSpPr>
          <p:cNvPr id="10" name="01"/>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05</a:t>
            </a:r>
            <a:endParaRPr lang="ko-KR" sz="1725"/>
          </a:p>
        </p:txBody>
      </p:sp>
    </p:spTree>
    <p:extLst>
      <p:ext uri="{BB962C8B-B14F-4D97-AF65-F5344CB8AC3E}">
        <p14:creationId xmlns:p14="http://schemas.microsoft.com/office/powerpoint/2010/main" val="1679467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1"/>
          <p:cNvSpPr txBox="1"/>
          <p:nvPr/>
        </p:nvSpPr>
        <p:spPr>
          <a:xfrm>
            <a:off x="990600" y="1914525"/>
            <a:ext cx="3429000" cy="1381125"/>
          </a:xfrm>
          <a:prstGeom prst="rect">
            <a:avLst/>
          </a:prstGeom>
          <a:noFill/>
          <a:ln>
            <a:noFill/>
          </a:ln>
        </p:spPr>
        <p:txBody>
          <a:bodyPr wrap="square" lIns="0" tIns="0" rIns="0" bIns="0">
            <a:noAutofit/>
          </a:bodyPr>
          <a:lstStyle/>
          <a:p>
            <a:pPr algn="l">
              <a:lnSpc>
                <a:spcPct val="118000"/>
              </a:lnSpc>
              <a:spcAft>
                <a:spcPts val="0"/>
              </a:spcAft>
            </a:pPr>
            <a:r>
              <a:rPr lang="ko-KR" sz="8250" b="1">
                <a:solidFill>
                  <a:srgbClr val="CCFF00"/>
                </a:solidFill>
                <a:latin typeface="Malgun Gothic"/>
                <a:ea typeface="Malgun Gothic"/>
                <a:cs typeface="Malgun Gothic"/>
              </a:rPr>
              <a:t>02</a:t>
            </a:r>
            <a:endParaRPr lang="ko-KR" sz="8250"/>
          </a:p>
        </p:txBody>
      </p:sp>
      <p:sp>
        <p:nvSpPr>
          <p:cNvPr id="3" name="프로젝트 개요"/>
          <p:cNvSpPr txBox="1"/>
          <p:nvPr/>
        </p:nvSpPr>
        <p:spPr>
          <a:xfrm>
            <a:off x="952500" y="3629025"/>
            <a:ext cx="7953375" cy="2524125"/>
          </a:xfrm>
          <a:prstGeom prst="rect">
            <a:avLst/>
          </a:prstGeom>
          <a:noFill/>
          <a:ln>
            <a:noFill/>
          </a:ln>
        </p:spPr>
        <p:txBody>
          <a:bodyPr wrap="square" lIns="0" tIns="0" rIns="0" bIns="0">
            <a:noAutofit/>
          </a:bodyPr>
          <a:lstStyle/>
          <a:p>
            <a:pPr algn="l">
              <a:lnSpc>
                <a:spcPct val="118000"/>
              </a:lnSpc>
              <a:spcAft>
                <a:spcPts val="0"/>
              </a:spcAft>
            </a:pPr>
            <a:r>
              <a:rPr lang="ko-KR" sz="6525" b="1">
                <a:solidFill>
                  <a:srgbClr val="F8F7F2"/>
                </a:solidFill>
                <a:latin typeface="Malgun Gothic"/>
                <a:ea typeface="Malgun Gothic"/>
                <a:cs typeface="Malgun Gothic"/>
              </a:rPr>
              <a:t>주요 업데이트</a:t>
            </a:r>
            <a:endParaRPr lang="ko-KR" sz="6525"/>
          </a:p>
        </p:txBody>
      </p:sp>
      <p:pic>
        <p:nvPicPr>
          <p:cNvPr id="4" name="02-updates" descr="주요 업데이트를 표현한 AI 생성 일러스트: 앱 화면과 새로고침 화살표"/>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endParaRPr lang="ko-K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프론트엔드와 백엔드의 역할 분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지난 발표 이후의 개선: 탐색과 비교</a:t>
            </a:r>
            <a:r>
              <a:rPr lang="ko-KR" altLang="en-US" sz="3600" b="1" dirty="0">
                <a:solidFill>
                  <a:srgbClr val="101511"/>
                </a:solidFill>
                <a:latin typeface="Malgun Gothic"/>
                <a:ea typeface="Malgun Gothic"/>
                <a:cs typeface="Malgun Gothic"/>
              </a:rPr>
              <a:t> 화면</a:t>
            </a:r>
            <a:endParaRPr lang="ko-KR" dirty="0"/>
          </a:p>
        </p:txBody>
      </p:sp>
      <p:sp>
        <p:nvSpPr>
          <p:cNvPr id="5" name="화면은 조회·선택·표현을, 서버는 데이터 검증·계산·AI 호출을 담당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화면을 사용하는 과정에서 막히거나 헷갈렸던 부분을 정리했습니다.</a:t>
            </a:r>
            <a:endParaRPr lang="ko-KR"/>
          </a:p>
        </p:txBody>
      </p:sp>
      <p:graphicFrame>
        <p:nvGraphicFramePr>
          <p:cNvPr id="6" name="Editable table 6"/>
          <p:cNvGraphicFramePr/>
          <p:nvPr>
            <p:extLst>
              <p:ext uri="{D42A27DB-BD31-4B8C-83A1-F6EECF244321}">
                <p14:modId xmlns:p14="http://schemas.microsoft.com/office/powerpoint/2010/main" val="1165995324"/>
              </p:ext>
            </p:extLst>
          </p:nvPr>
        </p:nvGraphicFramePr>
        <p:xfrm>
          <a:off x="704850" y="2381250"/>
          <a:ext cx="13849350" cy="5276850"/>
        </p:xfrm>
        <a:graphic>
          <a:graphicData uri="http://schemas.openxmlformats.org/drawingml/2006/table">
            <a:tbl>
              <a:tblPr firstRow="1">
                <a:tableStyleId>{5C22544A-7EE6-4342-B048-85BDC9FD1C3A}</a:tableStyleId>
              </a:tblPr>
              <a:tblGrid>
                <a:gridCol w="238125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6705600">
                  <a:extLst>
                    <a:ext uri="{9D8B030D-6E8A-4147-A177-3AD203B41FA5}">
                      <a16:colId xmlns:a16="http://schemas.microsoft.com/office/drawing/2014/main" val="20002"/>
                    </a:ext>
                  </a:extLst>
                </a:gridCol>
              </a:tblGrid>
              <a:tr h="628650">
                <a:tc>
                  <a:txBody>
                    <a:bodyPr/>
                    <a:lstStyle/>
                    <a:p>
                      <a:pPr algn="l">
                        <a:lnSpc>
                          <a:spcPct val="120000"/>
                        </a:lnSpc>
                        <a:spcAft>
                          <a:spcPts val="0"/>
                        </a:spcAft>
                      </a:pPr>
                      <a:r>
                        <a:rPr lang="ko-KR" sz="1950" b="1">
                          <a:solidFill>
                            <a:srgbClr val="FFFFFF"/>
                          </a:solidFill>
                          <a:latin typeface="Malgun Gothic"/>
                          <a:ea typeface="Malgun Gothic"/>
                          <a:cs typeface="Malgun Gothic"/>
                        </a:rPr>
                        <a:t>개선 영역</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달라진 점</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사용자에게 주는 변화</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162050">
                <a:tc>
                  <a:txBody>
                    <a:bodyPr/>
                    <a:lstStyle/>
                    <a:p>
                      <a:pPr algn="l">
                        <a:lnSpc>
                          <a:spcPct val="120000"/>
                        </a:lnSpc>
                        <a:spcAft>
                          <a:spcPts val="0"/>
                        </a:spcAft>
                      </a:pPr>
                      <a:r>
                        <a:rPr lang="ko-KR" sz="1950" b="1" dirty="0" err="1">
                          <a:solidFill>
                            <a:srgbClr val="101511"/>
                          </a:solidFill>
                          <a:latin typeface="Malgun Gothic"/>
                          <a:ea typeface="Malgun Gothic"/>
                          <a:cs typeface="Malgun Gothic"/>
                        </a:rPr>
                        <a:t>도움말·</a:t>
                      </a:r>
                      <a:r>
                        <a:rPr lang="ko-KR" altLang="en-US" sz="1950" b="1" dirty="0" err="1">
                          <a:solidFill>
                            <a:srgbClr val="101511"/>
                          </a:solidFill>
                          <a:latin typeface="Malgun Gothic"/>
                          <a:ea typeface="Malgun Gothic"/>
                          <a:cs typeface="Malgun Gothic"/>
                        </a:rPr>
                        <a:t>산출</a:t>
                      </a:r>
                      <a:r>
                        <a:rPr lang="ko-KR" altLang="en-US" sz="1950" b="1" dirty="0">
                          <a:solidFill>
                            <a:srgbClr val="101511"/>
                          </a:solidFill>
                          <a:latin typeface="Malgun Gothic"/>
                          <a:ea typeface="Malgun Gothic"/>
                          <a:cs typeface="Malgun Gothic"/>
                        </a:rPr>
                        <a:t> </a:t>
                      </a:r>
                      <a:r>
                        <a:rPr lang="ko-KR" sz="1950" b="1" dirty="0">
                          <a:solidFill>
                            <a:srgbClr val="101511"/>
                          </a:solidFill>
                          <a:latin typeface="Malgun Gothic"/>
                          <a:ea typeface="Malgun Gothic"/>
                          <a:cs typeface="Malgun Gothic"/>
                        </a:rPr>
                        <a:t>근거</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도움말 화면 추가</a:t>
                      </a:r>
                      <a:endParaRPr lang="ko-KR" b="1" dirty="0"/>
                    </a:p>
                    <a:p>
                      <a:pPr algn="l">
                        <a:lnSpc>
                          <a:spcPct val="120000"/>
                        </a:lnSpc>
                        <a:spcAft>
                          <a:spcPts val="0"/>
                        </a:spcAft>
                      </a:pPr>
                      <a:r>
                        <a:rPr lang="ko-KR" sz="1950" b="1" dirty="0">
                          <a:solidFill>
                            <a:srgbClr val="101511"/>
                          </a:solidFill>
                          <a:latin typeface="Malgun Gothic"/>
                          <a:ea typeface="Malgun Gothic"/>
                          <a:cs typeface="Malgun Gothic"/>
                        </a:rPr>
                        <a:t>산출 </a:t>
                      </a:r>
                      <a:r>
                        <a:rPr lang="ko-KR" sz="1950" b="1" dirty="0" err="1">
                          <a:solidFill>
                            <a:srgbClr val="101511"/>
                          </a:solidFill>
                          <a:latin typeface="Malgun Gothic"/>
                          <a:ea typeface="Malgun Gothic"/>
                          <a:cs typeface="Malgun Gothic"/>
                        </a:rPr>
                        <a:t>로직의</a:t>
                      </a:r>
                      <a:r>
                        <a:rPr lang="ko-KR" sz="1950" b="1" dirty="0">
                          <a:solidFill>
                            <a:srgbClr val="101511"/>
                          </a:solidFill>
                          <a:latin typeface="Malgun Gothic"/>
                          <a:ea typeface="Malgun Gothic"/>
                          <a:cs typeface="Malgun Gothic"/>
                        </a:rPr>
                        <a:t> 자세한 설명</a:t>
                      </a:r>
                      <a:r>
                        <a:rPr lang="ko-KR" altLang="en-US" sz="1950" b="1" dirty="0">
                          <a:solidFill>
                            <a:srgbClr val="101511"/>
                          </a:solidFill>
                          <a:latin typeface="Malgun Gothic"/>
                          <a:ea typeface="Malgun Gothic"/>
                          <a:cs typeface="Malgun Gothic"/>
                        </a:rPr>
                        <a:t> 추가</a:t>
                      </a:r>
                      <a:endParaRPr lang="ko-KR" b="1"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dirty="0">
                          <a:solidFill>
                            <a:srgbClr val="101511"/>
                          </a:solidFill>
                          <a:latin typeface="Malgun Gothic"/>
                          <a:ea typeface="Malgun Gothic"/>
                          <a:cs typeface="Malgun Gothic"/>
                        </a:rPr>
                        <a:t>현재 화면의 사용법과</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점수</a:t>
                      </a:r>
                      <a:r>
                        <a:rPr lang="ko-KR" altLang="en-US" sz="1950" b="0" dirty="0">
                          <a:solidFill>
                            <a:srgbClr val="101511"/>
                          </a:solidFill>
                          <a:latin typeface="Malgun Gothic"/>
                          <a:ea typeface="Malgun Gothic"/>
                          <a:cs typeface="Malgun Gothic"/>
                        </a:rPr>
                        <a:t> 산출</a:t>
                      </a:r>
                      <a:r>
                        <a:rPr lang="ko-KR" sz="1950" b="0" dirty="0">
                          <a:solidFill>
                            <a:srgbClr val="101511"/>
                          </a:solidFill>
                          <a:latin typeface="Malgun Gothic"/>
                          <a:ea typeface="Malgun Gothic"/>
                          <a:cs typeface="Malgun Gothic"/>
                        </a:rPr>
                        <a:t> 기준을 직접 확인</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상권 검색</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드롭다운</a:t>
                      </a:r>
                      <a:r>
                        <a:rPr lang="ko-KR" sz="1950" b="0" dirty="0">
                          <a:solidFill>
                            <a:srgbClr val="101511"/>
                          </a:solidFill>
                          <a:latin typeface="Malgun Gothic"/>
                          <a:ea typeface="Malgun Gothic"/>
                          <a:cs typeface="Malgun Gothic"/>
                        </a:rPr>
                        <a:t> </a:t>
                      </a:r>
                      <a:r>
                        <a:rPr lang="ko-KR" sz="1950" b="0" dirty="0" err="1">
                          <a:solidFill>
                            <a:srgbClr val="101511"/>
                          </a:solidFill>
                          <a:latin typeface="Malgun Gothic"/>
                          <a:ea typeface="Malgun Gothic"/>
                          <a:cs typeface="Malgun Gothic"/>
                        </a:rPr>
                        <a:t>목록·건수</a:t>
                      </a:r>
                      <a:r>
                        <a:rPr lang="ko-KR" sz="1950" b="0" dirty="0">
                          <a:solidFill>
                            <a:srgbClr val="101511"/>
                          </a:solidFill>
                          <a:latin typeface="Malgun Gothic"/>
                          <a:ea typeface="Malgun Gothic"/>
                          <a:cs typeface="Malgun Gothic"/>
                        </a:rPr>
                        <a:t> 표시</a:t>
                      </a:r>
                      <a:r>
                        <a:rPr lang="ko-KR" altLang="en-US" sz="1950" b="0" dirty="0">
                          <a:solidFill>
                            <a:srgbClr val="101511"/>
                          </a:solidFill>
                          <a:latin typeface="Malgun Gothic"/>
                          <a:ea typeface="Malgun Gothic"/>
                          <a:cs typeface="Malgun Gothic"/>
                        </a:rPr>
                        <a:t> 위치</a:t>
                      </a:r>
                      <a:r>
                        <a:rPr lang="ko-KR" sz="1950" b="0" dirty="0">
                          <a:solidFill>
                            <a:srgbClr val="101511"/>
                          </a:solidFill>
                          <a:latin typeface="Malgun Gothic"/>
                          <a:ea typeface="Malgun Gothic"/>
                          <a:cs typeface="Malgun Gothic"/>
                        </a:rPr>
                        <a:t> 정리</a:t>
                      </a:r>
                      <a:endParaRPr lang="ko-KR" dirty="0"/>
                    </a:p>
                    <a:p>
                      <a:pPr algn="l">
                        <a:lnSpc>
                          <a:spcPct val="120000"/>
                        </a:lnSpc>
                        <a:spcAft>
                          <a:spcPts val="0"/>
                        </a:spcAft>
                      </a:pPr>
                      <a:r>
                        <a:rPr lang="ko-KR" sz="1950" b="1" dirty="0">
                          <a:solidFill>
                            <a:srgbClr val="101511"/>
                          </a:solidFill>
                          <a:latin typeface="Malgun Gothic"/>
                          <a:ea typeface="Malgun Gothic"/>
                          <a:cs typeface="Malgun Gothic"/>
                        </a:rPr>
                        <a:t>상권 이름 선택 방식 개선</a:t>
                      </a:r>
                      <a:endParaRPr lang="ko-KR" b="1"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입력한 이름으로 후보를 찾고</a:t>
                      </a:r>
                      <a:endParaRPr lang="ko-KR"/>
                    </a:p>
                    <a:p>
                      <a:pPr algn="l">
                        <a:lnSpc>
                          <a:spcPct val="120000"/>
                        </a:lnSpc>
                        <a:spcAft>
                          <a:spcPts val="0"/>
                        </a:spcAft>
                      </a:pPr>
                      <a:r>
                        <a:rPr lang="ko-KR" sz="1950" b="0">
                          <a:solidFill>
                            <a:srgbClr val="101511"/>
                          </a:solidFill>
                          <a:latin typeface="Malgun Gothic"/>
                          <a:ea typeface="Malgun Gothic"/>
                          <a:cs typeface="Malgun Gothic"/>
                        </a:rPr>
                        <a:t>검색 버튼으로 결과 확정</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비교 조건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업종·분기</a:t>
                      </a:r>
                      <a:r>
                        <a:rPr lang="ko-KR" sz="1950" b="0" dirty="0">
                          <a:solidFill>
                            <a:srgbClr val="101511"/>
                          </a:solidFill>
                          <a:latin typeface="Malgun Gothic"/>
                          <a:ea typeface="Malgun Gothic"/>
                          <a:cs typeface="Malgun Gothic"/>
                        </a:rPr>
                        <a:t> 변경 시</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비교 목록 초기화 확인</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서로 다른 분석 조건이</a:t>
                      </a:r>
                      <a:endParaRPr lang="ko-KR"/>
                    </a:p>
                    <a:p>
                      <a:pPr algn="l">
                        <a:lnSpc>
                          <a:spcPct val="120000"/>
                        </a:lnSpc>
                        <a:spcAft>
                          <a:spcPts val="0"/>
                        </a:spcAft>
                      </a:pPr>
                      <a:r>
                        <a:rPr lang="ko-KR" sz="1950" b="0">
                          <a:solidFill>
                            <a:srgbClr val="101511"/>
                          </a:solidFill>
                          <a:latin typeface="Malgun Gothic"/>
                          <a:ea typeface="Malgun Gothic"/>
                          <a:cs typeface="Malgun Gothic"/>
                        </a:rPr>
                        <a:t>비교표에 섞이지 않도록 보호</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화면 맥락</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altLang="en-US" sz="1950" b="0" dirty="0">
                          <a:solidFill>
                            <a:srgbClr val="101511"/>
                          </a:solidFill>
                          <a:latin typeface="Malgun Gothic"/>
                          <a:ea typeface="Malgun Gothic"/>
                          <a:cs typeface="Malgun Gothic"/>
                        </a:rPr>
                        <a:t>상세 화면의 </a:t>
                      </a:r>
                      <a:r>
                        <a:rPr lang="ko-KR" sz="1950" b="0" dirty="0">
                          <a:solidFill>
                            <a:srgbClr val="101511"/>
                          </a:solidFill>
                          <a:latin typeface="Malgun Gothic"/>
                          <a:ea typeface="Malgun Gothic"/>
                          <a:cs typeface="Malgun Gothic"/>
                        </a:rPr>
                        <a:t>스크롤 중 조회 조건 표시</a:t>
                      </a:r>
                      <a:endParaRPr lang="ko-KR" dirty="0"/>
                    </a:p>
                    <a:p>
                      <a:pPr algn="l">
                        <a:lnSpc>
                          <a:spcPct val="120000"/>
                        </a:lnSpc>
                        <a:spcAft>
                          <a:spcPts val="0"/>
                        </a:spcAft>
                      </a:pPr>
                      <a:r>
                        <a:rPr lang="ko-KR" altLang="en-US" sz="1950" b="0" dirty="0">
                          <a:solidFill>
                            <a:srgbClr val="101511"/>
                          </a:solidFill>
                          <a:latin typeface="Malgun Gothic"/>
                          <a:ea typeface="Malgun Gothic"/>
                          <a:cs typeface="Malgun Gothic"/>
                        </a:rPr>
                        <a:t>비교 화면의 </a:t>
                      </a:r>
                      <a:r>
                        <a:rPr lang="ko-KR" sz="1950" b="0" dirty="0">
                          <a:solidFill>
                            <a:srgbClr val="101511"/>
                          </a:solidFill>
                          <a:latin typeface="Malgun Gothic"/>
                          <a:ea typeface="Malgun Gothic"/>
                          <a:cs typeface="Malgun Gothic"/>
                        </a:rPr>
                        <a:t>로딩 표시</a:t>
                      </a:r>
                      <a:r>
                        <a:rPr lang="ko-KR" altLang="en-US" sz="1950" b="0" dirty="0">
                          <a:solidFill>
                            <a:srgbClr val="101511"/>
                          </a:solidFill>
                          <a:latin typeface="Malgun Gothic"/>
                          <a:ea typeface="Malgun Gothic"/>
                          <a:cs typeface="Malgun Gothic"/>
                        </a:rPr>
                        <a:t>를 표 중앙으로</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dirty="0">
                          <a:solidFill>
                            <a:srgbClr val="101511"/>
                          </a:solidFill>
                          <a:latin typeface="Malgun Gothic"/>
                          <a:ea typeface="Malgun Gothic"/>
                          <a:cs typeface="Malgun Gothic"/>
                        </a:rPr>
                        <a:t>분석 대상을 놓치지 않고</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데이터를 기다리는 상태 확인</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Panel 7"/>
          <p:cNvSpPr/>
          <p:nvPr/>
        </p:nvSpPr>
        <p:spPr>
          <a:xfrm>
            <a:off x="685800" y="8077200"/>
            <a:ext cx="13868400" cy="14288"/>
          </a:xfrm>
          <a:prstGeom prst="rect">
            <a:avLst/>
          </a:prstGeom>
          <a:solidFill>
            <a:srgbClr val="CCD0C7"/>
          </a:solidFill>
          <a:ln w="0">
            <a:noFill/>
          </a:ln>
        </p:spPr>
      </p:sp>
      <p:sp>
        <p:nvSpPr>
          <p:cNvPr id="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9" name="08"/>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09</a:t>
            </a:r>
            <a:endParaRPr 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endParaRPr lang="ko-K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프론트엔드와 백엔드의 역할 분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지난 발표 이후의 개선: </a:t>
            </a:r>
            <a:r>
              <a:rPr lang="ko-KR" altLang="en-US" sz="3600" b="1" dirty="0">
                <a:solidFill>
                  <a:srgbClr val="101511"/>
                </a:solidFill>
                <a:latin typeface="Malgun Gothic"/>
                <a:ea typeface="Malgun Gothic"/>
                <a:cs typeface="Malgun Gothic"/>
              </a:rPr>
              <a:t>상세 화면</a:t>
            </a:r>
            <a:endParaRPr lang="ko-KR" dirty="0"/>
          </a:p>
        </p:txBody>
      </p:sp>
      <p:sp>
        <p:nvSpPr>
          <p:cNvPr id="5" name="화면은 조회·선택·표현을, 서버는 데이터 검증·계산·AI 호출을 담당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지표의 의미와 AI 설명의 근거를 맞췄습니다.</a:t>
            </a:r>
            <a:endParaRPr lang="ko-KR"/>
          </a:p>
        </p:txBody>
      </p:sp>
      <p:graphicFrame>
        <p:nvGraphicFramePr>
          <p:cNvPr id="6" name="Editable table 6"/>
          <p:cNvGraphicFramePr/>
          <p:nvPr>
            <p:extLst>
              <p:ext uri="{D42A27DB-BD31-4B8C-83A1-F6EECF244321}">
                <p14:modId xmlns:p14="http://schemas.microsoft.com/office/powerpoint/2010/main" val="2499449106"/>
              </p:ext>
            </p:extLst>
          </p:nvPr>
        </p:nvGraphicFramePr>
        <p:xfrm>
          <a:off x="704850" y="2381250"/>
          <a:ext cx="13849350" cy="5379974"/>
        </p:xfrm>
        <a:graphic>
          <a:graphicData uri="http://schemas.openxmlformats.org/drawingml/2006/table">
            <a:tbl>
              <a:tblPr firstRow="1">
                <a:tableStyleId>{5C22544A-7EE6-4342-B048-85BDC9FD1C3A}</a:tableStyleId>
              </a:tblPr>
              <a:tblGrid>
                <a:gridCol w="238125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6705600">
                  <a:extLst>
                    <a:ext uri="{9D8B030D-6E8A-4147-A177-3AD203B41FA5}">
                      <a16:colId xmlns:a16="http://schemas.microsoft.com/office/drawing/2014/main" val="20002"/>
                    </a:ext>
                  </a:extLst>
                </a:gridCol>
              </a:tblGrid>
              <a:tr h="628650">
                <a:tc>
                  <a:txBody>
                    <a:bodyPr/>
                    <a:lstStyle/>
                    <a:p>
                      <a:pPr algn="l">
                        <a:lnSpc>
                          <a:spcPct val="120000"/>
                        </a:lnSpc>
                        <a:spcAft>
                          <a:spcPts val="0"/>
                        </a:spcAft>
                      </a:pPr>
                      <a:r>
                        <a:rPr lang="ko-KR" sz="1950" b="1">
                          <a:solidFill>
                            <a:srgbClr val="FFFFFF"/>
                          </a:solidFill>
                          <a:latin typeface="Malgun Gothic"/>
                          <a:ea typeface="Malgun Gothic"/>
                          <a:cs typeface="Malgun Gothic"/>
                        </a:rPr>
                        <a:t>개선 영역</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달라진 점</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개선한 이유</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경쟁 여건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1" dirty="0" err="1">
                          <a:solidFill>
                            <a:srgbClr val="101511"/>
                          </a:solidFill>
                          <a:latin typeface="Malgun Gothic"/>
                          <a:ea typeface="Malgun Gothic"/>
                          <a:cs typeface="Malgun Gothic"/>
                        </a:rPr>
                        <a:t>좋음·보통·나쁨으로</a:t>
                      </a:r>
                      <a:r>
                        <a:rPr lang="ko-KR" sz="1950" b="1" dirty="0">
                          <a:solidFill>
                            <a:srgbClr val="101511"/>
                          </a:solidFill>
                          <a:latin typeface="Malgun Gothic"/>
                          <a:ea typeface="Malgun Gothic"/>
                          <a:cs typeface="Malgun Gothic"/>
                        </a:rPr>
                        <a:t> 구분</a:t>
                      </a:r>
                      <a:endParaRPr lang="ko-KR" b="1" dirty="0"/>
                    </a:p>
                    <a:p>
                      <a:pPr algn="l">
                        <a:lnSpc>
                          <a:spcPct val="120000"/>
                        </a:lnSpc>
                        <a:spcAft>
                          <a:spcPts val="0"/>
                        </a:spcAft>
                      </a:pPr>
                      <a:r>
                        <a:rPr lang="ko-KR" sz="1950" b="0" dirty="0">
                          <a:solidFill>
                            <a:srgbClr val="101511"/>
                          </a:solidFill>
                          <a:latin typeface="Malgun Gothic"/>
                          <a:ea typeface="Malgun Gothic"/>
                          <a:cs typeface="Malgun Gothic"/>
                        </a:rPr>
                        <a:t>불리한 여건의 색상 강조</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경쟁이 강하다는 의미와</a:t>
                      </a:r>
                      <a:endParaRPr lang="ko-KR"/>
                    </a:p>
                    <a:p>
                      <a:pPr algn="l">
                        <a:lnSpc>
                          <a:spcPct val="120000"/>
                        </a:lnSpc>
                        <a:spcAft>
                          <a:spcPts val="0"/>
                        </a:spcAft>
                      </a:pPr>
                      <a:r>
                        <a:rPr lang="ko-KR" sz="1950" b="0">
                          <a:solidFill>
                            <a:srgbClr val="101511"/>
                          </a:solidFill>
                          <a:latin typeface="Malgun Gothic"/>
                          <a:ea typeface="Malgun Gothic"/>
                          <a:cs typeface="Malgun Gothic"/>
                        </a:rPr>
                        <a:t>여건이 좋다는 의미를 구분</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162050">
                <a:tc>
                  <a:txBody>
                    <a:bodyPr/>
                    <a:lstStyle/>
                    <a:p>
                      <a:pPr algn="l">
                        <a:lnSpc>
                          <a:spcPct val="120000"/>
                        </a:lnSpc>
                        <a:spcAft>
                          <a:spcPts val="0"/>
                        </a:spcAft>
                      </a:pPr>
                      <a:r>
                        <a:rPr lang="ko-KR" sz="1950" b="1" dirty="0" err="1">
                          <a:solidFill>
                            <a:srgbClr val="101511"/>
                          </a:solidFill>
                          <a:latin typeface="Malgun Gothic"/>
                          <a:ea typeface="Malgun Gothic"/>
                          <a:cs typeface="Malgun Gothic"/>
                        </a:rPr>
                        <a:t>차트·백분위</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탭별</a:t>
                      </a:r>
                      <a:r>
                        <a:rPr lang="ko-KR" sz="1950" b="0" dirty="0">
                          <a:solidFill>
                            <a:srgbClr val="101511"/>
                          </a:solidFill>
                          <a:latin typeface="Malgun Gothic"/>
                          <a:ea typeface="Malgun Gothic"/>
                          <a:cs typeface="Malgun Gothic"/>
                        </a:rPr>
                        <a:t> </a:t>
                      </a:r>
                      <a:r>
                        <a:rPr lang="ko-KR" sz="1950" b="0" dirty="0" err="1">
                          <a:solidFill>
                            <a:srgbClr val="101511"/>
                          </a:solidFill>
                          <a:latin typeface="Malgun Gothic"/>
                          <a:ea typeface="Malgun Gothic"/>
                          <a:cs typeface="Malgun Gothic"/>
                        </a:rPr>
                        <a:t>값·상위</a:t>
                      </a:r>
                      <a:r>
                        <a:rPr lang="ko-KR" sz="1950" b="0" dirty="0">
                          <a:solidFill>
                            <a:srgbClr val="101511"/>
                          </a:solidFill>
                          <a:latin typeface="Malgun Gothic"/>
                          <a:ea typeface="Malgun Gothic"/>
                          <a:cs typeface="Malgun Gothic"/>
                        </a:rPr>
                        <a:t> 비율 연결</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100점 기준과 요일 평균선</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dirty="0">
                          <a:solidFill>
                            <a:srgbClr val="101511"/>
                          </a:solidFill>
                          <a:latin typeface="Malgun Gothic"/>
                          <a:ea typeface="Malgun Gothic"/>
                          <a:cs typeface="Malgun Gothic"/>
                        </a:rPr>
                        <a:t>숫자와 그림이 같은 기준을</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표현하도록 정합성 보완</a:t>
                      </a:r>
                      <a:endParaRPr lang="ko-KR"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1162050">
                <a:tc>
                  <a:txBody>
                    <a:bodyPr/>
                    <a:lstStyle/>
                    <a:p>
                      <a:pPr algn="l">
                        <a:lnSpc>
                          <a:spcPct val="120000"/>
                        </a:lnSpc>
                        <a:spcAft>
                          <a:spcPts val="0"/>
                        </a:spcAft>
                      </a:pPr>
                      <a:r>
                        <a:rPr lang="ko-KR" sz="1950" b="1" dirty="0">
                          <a:solidFill>
                            <a:srgbClr val="101511"/>
                          </a:solidFill>
                          <a:latin typeface="Malgun Gothic"/>
                          <a:ea typeface="Malgun Gothic"/>
                          <a:cs typeface="Malgun Gothic"/>
                        </a:rPr>
                        <a:t>AI </a:t>
                      </a:r>
                      <a:r>
                        <a:rPr lang="ko-KR" sz="1950" b="1" dirty="0" err="1">
                          <a:solidFill>
                            <a:srgbClr val="101511"/>
                          </a:solidFill>
                          <a:latin typeface="Malgun Gothic"/>
                          <a:ea typeface="Malgun Gothic"/>
                          <a:cs typeface="Malgun Gothic"/>
                        </a:rPr>
                        <a:t>인사이트</a:t>
                      </a:r>
                      <a:endParaRPr lang="ko-KR" dirty="0"/>
                    </a:p>
                  </a:txBody>
                  <a:tcPr marL="209550" marR="209550" marT="114300" marB="114300">
                    <a:lnL w="9525">
                      <a:solidFill>
                        <a:srgbClr val="CCD0C7"/>
                      </a:solidFill>
                      <a:prstDash val="solid"/>
                    </a:lnL>
                    <a:lnR w="9525" cap="flat" cmpd="sng" algn="ctr">
                      <a:solidFill>
                        <a:srgbClr val="CCD0C7"/>
                      </a:solidFill>
                      <a:prstDash val="solid"/>
                      <a:round/>
                      <a:headEnd type="none" w="med" len="med"/>
                      <a:tailEnd type="none" w="med" len="med"/>
                    </a:lnR>
                    <a:lnT w="9525" cap="flat" cmpd="sng" algn="ctr">
                      <a:solidFill>
                        <a:srgbClr val="CCD0C7"/>
                      </a:solidFill>
                      <a:prstDash val="solid"/>
                      <a:round/>
                      <a:headEnd type="none" w="med" len="med"/>
                      <a:tailEnd type="none" w="med" len="med"/>
                    </a:lnT>
                    <a:lnB w="9525" cap="flat" cmpd="sng" algn="ctr">
                      <a:solidFill>
                        <a:srgbClr val="CCD0C7"/>
                      </a:solidFill>
                      <a:prstDash val="solid"/>
                      <a:round/>
                      <a:headEnd type="none" w="med" len="med"/>
                      <a:tailEnd type="none" w="med" len="med"/>
                    </a:lnB>
                    <a:solidFill>
                      <a:srgbClr val="ECEEE6"/>
                    </a:solidFill>
                  </a:tcPr>
                </a:tc>
                <a:tc>
                  <a:txBody>
                    <a:bodyPr/>
                    <a:lstStyle/>
                    <a:p>
                      <a:pPr algn="l">
                        <a:lnSpc>
                          <a:spcPct val="120000"/>
                        </a:lnSpc>
                        <a:spcAft>
                          <a:spcPts val="0"/>
                        </a:spcAft>
                      </a:pPr>
                      <a:r>
                        <a:rPr lang="ko-KR" sz="1950" b="1" dirty="0">
                          <a:solidFill>
                            <a:srgbClr val="101511"/>
                          </a:solidFill>
                          <a:latin typeface="Malgun Gothic"/>
                          <a:ea typeface="Malgun Gothic"/>
                          <a:cs typeface="Malgun Gothic"/>
                        </a:rPr>
                        <a:t>지표 사이의 관계 중심 요약</a:t>
                      </a:r>
                      <a:endParaRPr lang="ko-KR" b="1" dirty="0"/>
                    </a:p>
                    <a:p>
                      <a:pPr algn="l">
                        <a:lnSpc>
                          <a:spcPct val="120000"/>
                        </a:lnSpc>
                        <a:spcAft>
                          <a:spcPts val="0"/>
                        </a:spcAft>
                      </a:pPr>
                      <a:r>
                        <a:rPr lang="ko-KR" sz="1950" b="1" dirty="0" err="1">
                          <a:solidFill>
                            <a:srgbClr val="101511"/>
                          </a:solidFill>
                          <a:latin typeface="Malgun Gothic"/>
                          <a:ea typeface="Malgun Gothic"/>
                          <a:cs typeface="Malgun Gothic"/>
                        </a:rPr>
                        <a:t>숫자·단위·등급</a:t>
                      </a:r>
                      <a:r>
                        <a:rPr lang="ko-KR" sz="1950" b="1" dirty="0">
                          <a:solidFill>
                            <a:srgbClr val="101511"/>
                          </a:solidFill>
                          <a:latin typeface="Malgun Gothic"/>
                          <a:ea typeface="Malgun Gothic"/>
                          <a:cs typeface="Malgun Gothic"/>
                        </a:rPr>
                        <a:t> 검증 강화</a:t>
                      </a:r>
                      <a:endParaRPr lang="ko-KR" b="1" dirty="0"/>
                    </a:p>
                  </a:txBody>
                  <a:tcPr marL="209550" marR="209550" marT="114300" marB="114300">
                    <a:lnL w="9525" cap="flat" cmpd="sng" algn="ctr">
                      <a:solidFill>
                        <a:srgbClr val="CCD0C7"/>
                      </a:solidFill>
                      <a:prstDash val="solid"/>
                      <a:round/>
                      <a:headEnd type="none" w="med" len="med"/>
                      <a:tailEnd type="none" w="med" len="med"/>
                    </a:lnL>
                    <a:lnR w="9525" cap="flat" cmpd="sng" algn="ctr">
                      <a:solidFill>
                        <a:srgbClr val="CCD0C7"/>
                      </a:solidFill>
                      <a:prstDash val="solid"/>
                      <a:round/>
                      <a:headEnd type="none" w="med" len="med"/>
                      <a:tailEnd type="none" w="med" len="med"/>
                    </a:lnR>
                    <a:lnT w="9525" cap="flat" cmpd="sng" algn="ctr">
                      <a:solidFill>
                        <a:srgbClr val="CCD0C7"/>
                      </a:solidFill>
                      <a:prstDash val="solid"/>
                      <a:round/>
                      <a:headEnd type="none" w="med" len="med"/>
                      <a:tailEnd type="none" w="med" len="med"/>
                    </a:lnT>
                    <a:lnB w="9525" cap="flat" cmpd="sng" algn="ctr">
                      <a:solidFill>
                        <a:srgbClr val="CCD0C7"/>
                      </a:solidFill>
                      <a:prstDash val="solid"/>
                      <a:round/>
                      <a:headEnd type="none" w="med" len="med"/>
                      <a:tailEnd type="none" w="med" len="med"/>
                    </a:lnB>
                    <a:solidFill>
                      <a:srgbClr val="FFFFFF"/>
                    </a:solidFill>
                  </a:tcPr>
                </a:tc>
                <a:tc>
                  <a:txBody>
                    <a:bodyPr/>
                    <a:lstStyle/>
                    <a:p>
                      <a:pPr algn="l">
                        <a:lnSpc>
                          <a:spcPct val="120000"/>
                        </a:lnSpc>
                        <a:spcAft>
                          <a:spcPts val="0"/>
                        </a:spcAft>
                      </a:pPr>
                      <a:r>
                        <a:rPr lang="ko-KR" sz="1950" b="0" dirty="0">
                          <a:solidFill>
                            <a:srgbClr val="101511"/>
                          </a:solidFill>
                          <a:latin typeface="Malgun Gothic"/>
                          <a:ea typeface="Malgun Gothic"/>
                          <a:cs typeface="Malgun Gothic"/>
                        </a:rPr>
                        <a:t>단순 나열을 줄이고</a:t>
                      </a:r>
                      <a:endParaRPr lang="ko-KR" dirty="0"/>
                    </a:p>
                    <a:p>
                      <a:pPr algn="l">
                        <a:lnSpc>
                          <a:spcPct val="120000"/>
                        </a:lnSpc>
                        <a:spcAft>
                          <a:spcPts val="0"/>
                        </a:spcAft>
                      </a:pPr>
                      <a:r>
                        <a:rPr lang="ko-KR" sz="1950" b="0" dirty="0">
                          <a:solidFill>
                            <a:srgbClr val="101511"/>
                          </a:solidFill>
                          <a:latin typeface="Malgun Gothic"/>
                          <a:ea typeface="Malgun Gothic"/>
                          <a:cs typeface="Malgun Gothic"/>
                        </a:rPr>
                        <a:t>근거에 맞는 설명 제공</a:t>
                      </a:r>
                      <a:endParaRPr lang="ko-KR" dirty="0"/>
                    </a:p>
                  </a:txBody>
                  <a:tcPr marL="209550" marR="209550" marT="114300" marB="114300">
                    <a:lnL w="9525" cap="flat" cmpd="sng" algn="ctr">
                      <a:solidFill>
                        <a:srgbClr val="CCD0C7"/>
                      </a:solidFill>
                      <a:prstDash val="solid"/>
                      <a:round/>
                      <a:headEnd type="none" w="med" len="med"/>
                      <a:tailEnd type="none" w="med" len="med"/>
                    </a:lnL>
                    <a:lnR w="9525">
                      <a:solidFill>
                        <a:srgbClr val="CCD0C7"/>
                      </a:solidFill>
                      <a:prstDash val="solid"/>
                    </a:lnR>
                    <a:lnT w="9525" cap="flat" cmpd="sng" algn="ctr">
                      <a:solidFill>
                        <a:srgbClr val="CCD0C7"/>
                      </a:solidFill>
                      <a:prstDash val="solid"/>
                      <a:round/>
                      <a:headEnd type="none" w="med" len="med"/>
                      <a:tailEnd type="none" w="med" len="med"/>
                    </a:lnT>
                    <a:lnB w="9525" cap="flat" cmpd="sng" algn="ctr">
                      <a:solidFill>
                        <a:srgbClr val="CCD0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62050">
                <a:tc>
                  <a:txBody>
                    <a:bodyPr/>
                    <a:lstStyle/>
                    <a:p>
                      <a:pPr algn="l">
                        <a:lnSpc>
                          <a:spcPct val="120000"/>
                        </a:lnSpc>
                        <a:spcAft>
                          <a:spcPts val="0"/>
                        </a:spcAft>
                      </a:pPr>
                      <a:r>
                        <a:rPr lang="ko-KR" altLang="en-US" sz="1950" b="1" dirty="0">
                          <a:solidFill>
                            <a:srgbClr val="101511"/>
                          </a:solidFill>
                          <a:latin typeface="Malgun Gothic"/>
                          <a:ea typeface="Malgun Gothic"/>
                          <a:cs typeface="Malgun Gothic"/>
                        </a:rPr>
                        <a:t>로고 적용</a:t>
                      </a:r>
                      <a:endParaRPr lang="ko-KR" dirty="0"/>
                    </a:p>
                  </a:txBody>
                  <a:tcPr marL="209550" marR="209550" marT="114300" marB="114300">
                    <a:lnL w="9525">
                      <a:solidFill>
                        <a:srgbClr val="CCD0C7"/>
                      </a:solidFill>
                      <a:prstDash val="solid"/>
                    </a:lnL>
                    <a:lnR w="9525" cap="flat" cmpd="sng" algn="ctr">
                      <a:solidFill>
                        <a:srgbClr val="CCD0C7"/>
                      </a:solidFill>
                      <a:prstDash val="solid"/>
                      <a:round/>
                      <a:headEnd type="none" w="med" len="med"/>
                      <a:tailEnd type="none" w="med" len="me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altLang="en-US" sz="1950" b="0" dirty="0">
                          <a:solidFill>
                            <a:srgbClr val="101511"/>
                          </a:solidFill>
                          <a:latin typeface="Malgun Gothic"/>
                          <a:ea typeface="Malgun Gothic"/>
                          <a:cs typeface="Malgun Gothic"/>
                        </a:rPr>
                        <a:t>좌측 상단과 좌측 하단에 </a:t>
                      </a:r>
                      <a:r>
                        <a:rPr lang="ko-KR" altLang="en-US" sz="1950" b="1" dirty="0" err="1">
                          <a:solidFill>
                            <a:srgbClr val="101511"/>
                          </a:solidFill>
                          <a:latin typeface="Malgun Gothic"/>
                          <a:ea typeface="Malgun Gothic"/>
                          <a:cs typeface="Malgun Gothic"/>
                        </a:rPr>
                        <a:t>에니메이션</a:t>
                      </a:r>
                      <a:r>
                        <a:rPr lang="ko-KR" altLang="en-US" sz="1950" b="1" dirty="0">
                          <a:solidFill>
                            <a:srgbClr val="101511"/>
                          </a:solidFill>
                          <a:latin typeface="Malgun Gothic"/>
                          <a:ea typeface="Malgun Gothic"/>
                          <a:cs typeface="Malgun Gothic"/>
                        </a:rPr>
                        <a:t> 로고 적용</a:t>
                      </a:r>
                      <a:endParaRPr lang="en-US" altLang="ko-KR" sz="1950" b="1" dirty="0">
                        <a:solidFill>
                          <a:srgbClr val="101511"/>
                        </a:solidFill>
                        <a:latin typeface="Malgun Gothic"/>
                        <a:ea typeface="Malgun Gothic"/>
                        <a:cs typeface="Malgun Gothic"/>
                      </a:endParaRPr>
                    </a:p>
                    <a:p>
                      <a:pPr algn="l">
                        <a:lnSpc>
                          <a:spcPct val="120000"/>
                        </a:lnSpc>
                        <a:spcAft>
                          <a:spcPts val="0"/>
                        </a:spcAft>
                      </a:pPr>
                      <a:r>
                        <a:rPr lang="ko-KR" altLang="en-US" sz="1950" b="0" dirty="0">
                          <a:solidFill>
                            <a:srgbClr val="101511"/>
                          </a:solidFill>
                          <a:latin typeface="Malgun Gothic"/>
                          <a:ea typeface="Malgun Gothic"/>
                        </a:rPr>
                        <a:t>로고 </a:t>
                      </a:r>
                      <a:r>
                        <a:rPr lang="ko-KR" altLang="en-US" sz="1950" b="0" dirty="0" err="1">
                          <a:solidFill>
                            <a:srgbClr val="101511"/>
                          </a:solidFill>
                          <a:latin typeface="Malgun Gothic"/>
                          <a:ea typeface="Malgun Gothic"/>
                        </a:rPr>
                        <a:t>패비콘</a:t>
                      </a:r>
                      <a:r>
                        <a:rPr lang="ko-KR" altLang="en-US" sz="1950" b="0" dirty="0">
                          <a:solidFill>
                            <a:srgbClr val="101511"/>
                          </a:solidFill>
                          <a:latin typeface="Malgun Gothic"/>
                          <a:ea typeface="Malgun Gothic"/>
                        </a:rPr>
                        <a:t> 적용</a:t>
                      </a:r>
                      <a:endParaRPr lang="ko-KR" dirty="0"/>
                    </a:p>
                  </a:txBody>
                  <a:tcPr marL="209550" marR="209550" marT="114300" marB="114300">
                    <a:lnL w="9525" cap="flat" cmpd="sng" algn="ctr">
                      <a:solidFill>
                        <a:srgbClr val="CCD0C7"/>
                      </a:solidFill>
                      <a:prstDash val="solid"/>
                      <a:round/>
                      <a:headEnd type="none" w="med" len="med"/>
                      <a:tailEnd type="none" w="med" len="med"/>
                    </a:lnL>
                    <a:lnR w="9525" cap="flat" cmpd="sng" algn="ctr">
                      <a:solidFill>
                        <a:srgbClr val="CCD0C7"/>
                      </a:solidFill>
                      <a:prstDash val="solid"/>
                      <a:round/>
                      <a:headEnd type="none" w="med" len="med"/>
                      <a:tailEnd type="none" w="med" len="me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altLang="en-US" sz="1950" b="0" dirty="0">
                          <a:solidFill>
                            <a:srgbClr val="101511"/>
                          </a:solidFill>
                          <a:latin typeface="Malgun Gothic"/>
                          <a:ea typeface="Malgun Gothic"/>
                          <a:cs typeface="Malgun Gothic"/>
                        </a:rPr>
                        <a:t>디자인 및 브랜드 평판에 도움</a:t>
                      </a:r>
                      <a:endParaRPr lang="ko-KR" dirty="0"/>
                    </a:p>
                  </a:txBody>
                  <a:tcPr marL="209550" marR="209550" marT="114300" marB="114300">
                    <a:lnL w="9525" cap="flat" cmpd="sng" algn="ctr">
                      <a:solidFill>
                        <a:srgbClr val="CCD0C7"/>
                      </a:solidFill>
                      <a:prstDash val="solid"/>
                      <a:round/>
                      <a:headEnd type="none" w="med" len="med"/>
                      <a:tailEnd type="none" w="med" len="me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2337420017"/>
                  </a:ext>
                </a:extLst>
              </a:tr>
            </a:tbl>
          </a:graphicData>
        </a:graphic>
      </p:graphicFrame>
      <p:sp>
        <p:nvSpPr>
          <p:cNvPr id="7" name="Panel 7"/>
          <p:cNvSpPr/>
          <p:nvPr/>
        </p:nvSpPr>
        <p:spPr>
          <a:xfrm>
            <a:off x="685800" y="8077200"/>
            <a:ext cx="13868400" cy="14288"/>
          </a:xfrm>
          <a:prstGeom prst="rect">
            <a:avLst/>
          </a:prstGeom>
          <a:solidFill>
            <a:srgbClr val="CCD0C7"/>
          </a:solidFill>
          <a:ln w="0">
            <a:noFill/>
          </a:ln>
        </p:spPr>
      </p:sp>
      <p:sp>
        <p:nvSpPr>
          <p:cNvPr id="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9" name="08"/>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10</a:t>
            </a:r>
            <a:endParaRPr lang="ko-K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2  주요 업데이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산출 로직 안내 화면"/>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산출 </a:t>
            </a:r>
            <a:r>
              <a:rPr lang="ko-KR" sz="3600" b="1" dirty="0" err="1">
                <a:solidFill>
                  <a:srgbClr val="101511"/>
                </a:solidFill>
                <a:latin typeface="Malgun Gothic"/>
                <a:ea typeface="Malgun Gothic"/>
                <a:cs typeface="Malgun Gothic"/>
              </a:rPr>
              <a:t>로직</a:t>
            </a:r>
            <a:r>
              <a:rPr lang="ko-KR" sz="3600" b="1" dirty="0">
                <a:solidFill>
                  <a:srgbClr val="101511"/>
                </a:solidFill>
                <a:latin typeface="Malgun Gothic"/>
                <a:ea typeface="Malgun Gothic"/>
                <a:cs typeface="Malgun Gothic"/>
              </a:rPr>
              <a:t> </a:t>
            </a:r>
            <a:r>
              <a:rPr lang="ko-KR" altLang="en-US" sz="3600" b="1" dirty="0">
                <a:solidFill>
                  <a:srgbClr val="101511"/>
                </a:solidFill>
                <a:latin typeface="Malgun Gothic"/>
                <a:ea typeface="Malgun Gothic"/>
                <a:cs typeface="Malgun Gothic"/>
              </a:rPr>
              <a:t>상세 </a:t>
            </a:r>
            <a:r>
              <a:rPr lang="ko-KR" sz="3600" b="1" dirty="0">
                <a:solidFill>
                  <a:srgbClr val="101511"/>
                </a:solidFill>
                <a:latin typeface="Malgun Gothic"/>
                <a:ea typeface="Malgun Gothic"/>
                <a:cs typeface="Malgun Gothic"/>
              </a:rPr>
              <a:t>안내 화면</a:t>
            </a:r>
          </a:p>
        </p:txBody>
      </p:sp>
      <p:sp>
        <p:nvSpPr>
          <p:cNvPr id="5" name="상단 버튼에서 요약 안내와 상세 설명으로 이어집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상단 버튼에서 요약 안내와 상세 설명으로 이어집니다.</a:t>
            </a:r>
          </a:p>
        </p:txBody>
      </p:sp>
      <p:pic>
        <p:nvPicPr>
          <p:cNvPr id="6" name="준비자료/스크린샷/초기화면_시작.png" descr="사용자 제공 산출로직 화면. 상단 버튼에서 가중치 안내와 상세 산출 예시로 연결되는 흐름."/>
          <p:cNvPicPr>
            <a:picLocks noChangeAspect="1"/>
          </p:cNvPicPr>
          <p:nvPr/>
        </p:nvPicPr>
        <p:blipFill>
          <a:blip r:embed="rId3"/>
          <a:srcRect b="32032"/>
          <a:stretch>
            <a:fillRect/>
          </a:stretch>
        </p:blipFill>
        <p:spPr>
          <a:xfrm>
            <a:off x="704850" y="2209800"/>
            <a:ext cx="13830300" cy="5465025"/>
          </a:xfrm>
          <a:prstGeom prst="rect">
            <a:avLst/>
          </a:prstGeom>
          <a:ln>
            <a:noFill/>
          </a:ln>
        </p:spPr>
      </p:pic>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1"/>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11</a:t>
            </a:r>
          </a:p>
        </p:txBody>
      </p:sp>
      <p:pic>
        <p:nvPicPr>
          <p:cNvPr id="7" name="그림 6">
            <a:extLst>
              <a:ext uri="{FF2B5EF4-FFF2-40B4-BE49-F238E27FC236}">
                <a16:creationId xmlns:a16="http://schemas.microsoft.com/office/drawing/2014/main" id="{92C1519A-BEF5-954E-B208-4D9E3215AC9F}"/>
              </a:ext>
            </a:extLst>
          </p:cNvPr>
          <p:cNvPicPr>
            <a:picLocks noChangeAspect="1"/>
          </p:cNvPicPr>
          <p:nvPr/>
        </p:nvPicPr>
        <p:blipFill>
          <a:blip r:embed="rId4"/>
          <a:stretch>
            <a:fillRect/>
          </a:stretch>
        </p:blipFill>
        <p:spPr>
          <a:xfrm>
            <a:off x="0" y="0"/>
            <a:ext cx="15240000" cy="8572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2  주요 업데이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성장 점수: 극단적인 증가율의 영향 줄이기"/>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성장 점수: 극단적인 증가율의 영향 줄이기</a:t>
            </a:r>
          </a:p>
        </p:txBody>
      </p:sp>
      <p:sp>
        <p:nvSpPr>
          <p:cNvPr id="5" name="일부 상권의 급격한 성장률 때문에 다른 상권의 차이가 묻히지 않도록 보정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일부 상권의 급격한 성장률 때문에 다른 상권의 차이가 묻히지 않도록 보정합니다.</a:t>
            </a:r>
          </a:p>
        </p:txBody>
      </p:sp>
      <p:pic>
        <p:nvPicPr>
          <p:cNvPr id="6" name="준비자료/스크린샷/초기화면_시작.png" descr="사용자 제공 산출 로직 상세 화면 중 성장 점수: 극단적인 증가율의 영향 줄이기 부분"/>
          <p:cNvPicPr>
            <a:picLocks noChangeAspect="1"/>
          </p:cNvPicPr>
          <p:nvPr/>
        </p:nvPicPr>
        <p:blipFill>
          <a:blip r:embed="rId3"/>
          <a:srcRect l="2530" t="9043" r="2530" b="72587"/>
          <a:stretch>
            <a:fillRect/>
          </a:stretch>
        </p:blipFill>
        <p:spPr>
          <a:xfrm>
            <a:off x="704850" y="2276475"/>
            <a:ext cx="13830300" cy="4909973"/>
          </a:xfrm>
          <a:prstGeom prst="rect">
            <a:avLst/>
          </a:prstGeom>
          <a:ln>
            <a:noFill/>
          </a:ln>
        </p:spPr>
      </p:pic>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3"/>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13</a:t>
            </a:r>
          </a:p>
        </p:txBody>
      </p:sp>
      <p:sp>
        <p:nvSpPr>
          <p:cNvPr id="20" name="윈저라이징: 양끝의 극단값을 경계값으로 바꾼 뒤 점수로 환산"/>
          <p:cNvSpPr txBox="1"/>
          <p:nvPr/>
        </p:nvSpPr>
        <p:spPr>
          <a:xfrm>
            <a:off x="762000" y="7477125"/>
            <a:ext cx="13716000" cy="323850"/>
          </a:xfrm>
          <a:prstGeom prst="rect">
            <a:avLst/>
          </a:prstGeom>
          <a:noFill/>
          <a:ln>
            <a:noFill/>
          </a:ln>
        </p:spPr>
        <p:txBody>
          <a:bodyPr wrap="square" lIns="0" tIns="0" rIns="0" bIns="0" anchor="t">
            <a:noAutofit/>
          </a:bodyPr>
          <a:lstStyle/>
          <a:p>
            <a:pPr algn="l">
              <a:lnSpc>
                <a:spcPct val="120000"/>
              </a:lnSpc>
              <a:spcAft>
                <a:spcPts val="0"/>
              </a:spcAft>
            </a:pPr>
            <a:r>
              <a:rPr lang="ko-KR" sz="1700" b="1">
                <a:solidFill>
                  <a:srgbClr val="101511"/>
                </a:solidFill>
                <a:latin typeface="Malgun Gothic"/>
                <a:ea typeface="Malgun Gothic"/>
                <a:cs typeface="Malgun Gothic"/>
              </a:rPr>
              <a:t>윈저라이징: 양끝의 극단값을 경계값으로 바꾼 뒤 점수로 환산</a:t>
            </a:r>
          </a:p>
        </p:txBody>
      </p:sp>
      <p:sp>
        <p:nvSpPr>
          <p:cNvPr id="21" name="화면의 상권명과 수치는 원리를 설명하기 위한 예시입니다."/>
          <p:cNvSpPr txBox="1"/>
          <p:nvPr/>
        </p:nvSpPr>
        <p:spPr>
          <a:xfrm>
            <a:off x="762000" y="7810500"/>
            <a:ext cx="13716000" cy="219075"/>
          </a:xfrm>
          <a:prstGeom prst="rect">
            <a:avLst/>
          </a:prstGeom>
          <a:noFill/>
          <a:ln>
            <a:noFill/>
          </a:ln>
        </p:spPr>
        <p:txBody>
          <a:bodyPr wrap="square" lIns="0" tIns="0" rIns="0" bIns="0" anchor="t">
            <a:noAutofit/>
          </a:bodyPr>
          <a:lstStyle/>
          <a:p>
            <a:pPr algn="l">
              <a:lnSpc>
                <a:spcPct val="120000"/>
              </a:lnSpc>
              <a:spcAft>
                <a:spcPts val="0"/>
              </a:spcAft>
            </a:pPr>
            <a:r>
              <a:rPr lang="ko-KR" sz="1050" b="0">
                <a:solidFill>
                  <a:srgbClr val="66716B"/>
                </a:solidFill>
                <a:latin typeface="Malgun Gothic"/>
                <a:ea typeface="Malgun Gothic"/>
                <a:cs typeface="Malgun Gothic"/>
              </a:rPr>
              <a:t>화면의 상권명과 수치는 원리를 설명하기 위한 예시입니다.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2  주요 업데이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거래 활성도: 상권 간 규모 차이 완화"/>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거래 활성도: 상권 간 규모 차이 완화</a:t>
            </a:r>
          </a:p>
        </p:txBody>
      </p:sp>
      <p:sp>
        <p:nvSpPr>
          <p:cNvPr id="5" name="거래가 많은 상권의 강점을 반영하면서, 큰 규모 차이가 점수를 압도하지 않도록 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거래가 많은 상권의 강점을 반영하면서, 큰 규모 차이가 점수를 압도하지 않도록 합니다.</a:t>
            </a:r>
          </a:p>
        </p:txBody>
      </p:sp>
      <p:pic>
        <p:nvPicPr>
          <p:cNvPr id="6" name="준비자료/스크린샷/초기화면_시작.png" descr="사용자 제공 산출 로직 상세 화면 중 거래 활성도: 상권 간 규모 차이 완화 부분"/>
          <p:cNvPicPr>
            <a:picLocks noChangeAspect="1"/>
          </p:cNvPicPr>
          <p:nvPr/>
        </p:nvPicPr>
        <p:blipFill>
          <a:blip r:embed="rId3"/>
          <a:srcRect l="2530" t="28670" r="2530" b="53001"/>
          <a:stretch>
            <a:fillRect/>
          </a:stretch>
        </p:blipFill>
        <p:spPr>
          <a:xfrm>
            <a:off x="704850" y="2276475"/>
            <a:ext cx="13830300" cy="4899134"/>
          </a:xfrm>
          <a:prstGeom prst="rect">
            <a:avLst/>
          </a:prstGeom>
          <a:ln>
            <a:noFill/>
          </a:ln>
        </p:spPr>
      </p:pic>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4"/>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14</a:t>
            </a:r>
          </a:p>
        </p:txBody>
      </p:sp>
      <p:sp>
        <p:nvSpPr>
          <p:cNvPr id="20" name="로그 변환: 큰 수 사이의 간격을 압축한 뒤 점수로 환산"/>
          <p:cNvSpPr txBox="1"/>
          <p:nvPr/>
        </p:nvSpPr>
        <p:spPr>
          <a:xfrm>
            <a:off x="762000" y="7477125"/>
            <a:ext cx="13716000" cy="323850"/>
          </a:xfrm>
          <a:prstGeom prst="rect">
            <a:avLst/>
          </a:prstGeom>
          <a:noFill/>
          <a:ln>
            <a:noFill/>
          </a:ln>
        </p:spPr>
        <p:txBody>
          <a:bodyPr wrap="square" lIns="0" tIns="0" rIns="0" bIns="0" anchor="t">
            <a:noAutofit/>
          </a:bodyPr>
          <a:lstStyle/>
          <a:p>
            <a:pPr algn="l">
              <a:lnSpc>
                <a:spcPct val="120000"/>
              </a:lnSpc>
              <a:spcAft>
                <a:spcPts val="0"/>
              </a:spcAft>
            </a:pPr>
            <a:r>
              <a:rPr lang="ko-KR" sz="1700" b="1">
                <a:solidFill>
                  <a:srgbClr val="101511"/>
                </a:solidFill>
                <a:latin typeface="Malgun Gothic"/>
                <a:ea typeface="Malgun Gothic"/>
                <a:cs typeface="Malgun Gothic"/>
              </a:rPr>
              <a:t>로그 변환: 큰 수 사이의 간격을 압축한 뒤 점수로 환산</a:t>
            </a:r>
          </a:p>
        </p:txBody>
      </p:sp>
      <p:sp>
        <p:nvSpPr>
          <p:cNvPr id="21" name="표의 변환 점수는 설명 예시이며, 모든 데이터에서 같은 압축 비율이 나오지는 않습니다."/>
          <p:cNvSpPr txBox="1"/>
          <p:nvPr/>
        </p:nvSpPr>
        <p:spPr>
          <a:xfrm>
            <a:off x="762000" y="7810500"/>
            <a:ext cx="13716000" cy="219075"/>
          </a:xfrm>
          <a:prstGeom prst="rect">
            <a:avLst/>
          </a:prstGeom>
          <a:noFill/>
          <a:ln>
            <a:noFill/>
          </a:ln>
        </p:spPr>
        <p:txBody>
          <a:bodyPr wrap="square" lIns="0" tIns="0" rIns="0" bIns="0" anchor="t">
            <a:noAutofit/>
          </a:bodyPr>
          <a:lstStyle/>
          <a:p>
            <a:pPr algn="l">
              <a:lnSpc>
                <a:spcPct val="120000"/>
              </a:lnSpc>
              <a:spcAft>
                <a:spcPts val="0"/>
              </a:spcAft>
            </a:pPr>
            <a:r>
              <a:rPr lang="ko-KR" sz="1050" b="0">
                <a:solidFill>
                  <a:srgbClr val="66716B"/>
                </a:solidFill>
                <a:latin typeface="Malgun Gothic"/>
                <a:ea typeface="Malgun Gothic"/>
                <a:cs typeface="Malgun Gothic"/>
              </a:rPr>
              <a:t>표의 변환 점수는 설명 예시이며, 모든 데이터에서 같은 압축 비율이 나오지는 않습니다.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2  주요 업데이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경쟁 점수: 세 가지 경쟁 여건을 함께 평가"/>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경쟁 점수: 세 가지 경쟁 여건을 함께 평가</a:t>
            </a:r>
          </a:p>
        </p:txBody>
      </p:sp>
      <p:sp>
        <p:nvSpPr>
          <p:cNvPr id="5" name="점포 수 50%, 점포당 거래 건수 30%, 폐업률 20%를 반영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점포 수 50%, 점포당 거래 건수 30%, 폐업률 20%를 반영합니다.</a:t>
            </a:r>
          </a:p>
        </p:txBody>
      </p:sp>
      <p:pic>
        <p:nvPicPr>
          <p:cNvPr id="6" name="준비자료/스크린샷/초기화면_시작.png" descr="사용자 제공 산출 로직 상세 화면 중 경쟁 점수: 세 가지 경쟁 여건을 함께 평가 부분"/>
          <p:cNvPicPr>
            <a:picLocks noChangeAspect="1"/>
          </p:cNvPicPr>
          <p:nvPr/>
        </p:nvPicPr>
        <p:blipFill>
          <a:blip r:embed="rId3"/>
          <a:srcRect l="2530" t="48256" r="2530" b="29765"/>
          <a:stretch>
            <a:fillRect/>
          </a:stretch>
        </p:blipFill>
        <p:spPr>
          <a:xfrm>
            <a:off x="1257300" y="2209800"/>
            <a:ext cx="12725400" cy="5405303"/>
          </a:xfrm>
          <a:prstGeom prst="rect">
            <a:avLst/>
          </a:prstGeom>
          <a:ln>
            <a:noFill/>
          </a:ln>
        </p:spPr>
      </p:pic>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5"/>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15</a:t>
            </a:r>
          </a:p>
        </p:txBody>
      </p:sp>
      <p:sp>
        <p:nvSpPr>
          <p:cNvPr id="21" name="표는 설명 예시입니다. 실제 점포당 수요는 선택 분기의 거래 건수÷점포 수로 계산합니다."/>
          <p:cNvSpPr txBox="1"/>
          <p:nvPr/>
        </p:nvSpPr>
        <p:spPr>
          <a:xfrm>
            <a:off x="762000" y="7810500"/>
            <a:ext cx="13716000" cy="219075"/>
          </a:xfrm>
          <a:prstGeom prst="rect">
            <a:avLst/>
          </a:prstGeom>
          <a:noFill/>
          <a:ln>
            <a:noFill/>
          </a:ln>
        </p:spPr>
        <p:txBody>
          <a:bodyPr wrap="square" lIns="0" tIns="0" rIns="0" bIns="0" anchor="t">
            <a:noAutofit/>
          </a:bodyPr>
          <a:lstStyle/>
          <a:p>
            <a:pPr algn="l">
              <a:lnSpc>
                <a:spcPct val="120000"/>
              </a:lnSpc>
              <a:spcAft>
                <a:spcPts val="0"/>
              </a:spcAft>
            </a:pPr>
            <a:r>
              <a:rPr lang="ko-KR" sz="1050" b="0">
                <a:solidFill>
                  <a:srgbClr val="66716B"/>
                </a:solidFill>
                <a:latin typeface="Malgun Gothic"/>
                <a:ea typeface="Malgun Gothic"/>
                <a:cs typeface="Malgun Gothic"/>
              </a:rPr>
              <a:t>표는 설명 예시입니다. 실제 점포당 수요는 선택 분기의 거래 건수÷점포 수로 계산합니다.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2  주요 업데이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02  주요 업데이트</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최종 탐색 점수: 가중치로 탐색 우선순위 계산"/>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최종 탐색 점수: 가중치로 탐색 우선순위 계산</a:t>
            </a:r>
          </a:p>
        </p:txBody>
      </p:sp>
      <p:sp>
        <p:nvSpPr>
          <p:cNvPr id="5" name="성장성 40%, 거래 활성도 35%, 경쟁 여건 25%를 합산해 후보를 비교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성장성 40%, 거래 활성도 35%, 경쟁 여건 25%를 합산해 후보를 비교합니다.</a:t>
            </a:r>
          </a:p>
        </p:txBody>
      </p:sp>
      <p:pic>
        <p:nvPicPr>
          <p:cNvPr id="6" name="준비자료/스크린샷/초기화면_시작.png" descr="사용자 제공 산출 로직 상세 화면 중 최종 탐색 점수: 가중치로 탐색 우선순위 계산 부분"/>
          <p:cNvPicPr>
            <a:picLocks noChangeAspect="1"/>
          </p:cNvPicPr>
          <p:nvPr/>
        </p:nvPicPr>
        <p:blipFill>
          <a:blip r:embed="rId3"/>
          <a:srcRect l="2530" t="71452" r="2530" b="3771"/>
          <a:stretch>
            <a:fillRect/>
          </a:stretch>
        </p:blipFill>
        <p:spPr>
          <a:xfrm>
            <a:off x="1962150" y="2114550"/>
            <a:ext cx="11315700" cy="5418411"/>
          </a:xfrm>
          <a:prstGeom prst="rect">
            <a:avLst/>
          </a:prstGeom>
          <a:ln>
            <a:noFill/>
          </a:ln>
        </p:spPr>
      </p:pic>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6"/>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16</a:t>
            </a:r>
          </a:p>
        </p:txBody>
      </p:sp>
      <p:sp>
        <p:nvSpPr>
          <p:cNvPr id="20" name="등급: 70점 이상 높음·좋음 / 40점 이상 70점 미만 보통 / 40점 미만 낮음·나쁨"/>
          <p:cNvSpPr txBox="1"/>
          <p:nvPr/>
        </p:nvSpPr>
        <p:spPr>
          <a:xfrm>
            <a:off x="762000" y="7648575"/>
            <a:ext cx="13716000" cy="323850"/>
          </a:xfrm>
          <a:prstGeom prst="rect">
            <a:avLst/>
          </a:prstGeom>
          <a:noFill/>
          <a:ln>
            <a:noFill/>
          </a:ln>
        </p:spPr>
        <p:txBody>
          <a:bodyPr wrap="square" lIns="0" tIns="0" rIns="0" bIns="0" anchor="t">
            <a:noAutofit/>
          </a:bodyPr>
          <a:lstStyle/>
          <a:p>
            <a:pPr algn="l">
              <a:lnSpc>
                <a:spcPct val="120000"/>
              </a:lnSpc>
              <a:spcAft>
                <a:spcPts val="0"/>
              </a:spcAft>
            </a:pPr>
            <a:r>
              <a:rPr lang="ko-KR" sz="1250" b="1">
                <a:solidFill>
                  <a:srgbClr val="101511"/>
                </a:solidFill>
                <a:latin typeface="Malgun Gothic"/>
                <a:ea typeface="Malgun Gothic"/>
                <a:cs typeface="Malgun Gothic"/>
              </a:rPr>
              <a:t>등급: 70점 이상 높음·좋음 / 40점 이상 70점 미만 보통 / 40점 미만 낮음·나쁨</a:t>
            </a:r>
          </a:p>
        </p:txBody>
      </p:sp>
      <p:sp>
        <p:nvSpPr>
          <p:cNvPr id="21" name="화면의 유형과 점수는 가중치의 의미를 보여주는 예시이며, 특정 상권의 실제 평가가 아닙니다."/>
          <p:cNvSpPr txBox="1"/>
          <p:nvPr/>
        </p:nvSpPr>
        <p:spPr>
          <a:xfrm>
            <a:off x="762000" y="7934325"/>
            <a:ext cx="13716000" cy="219075"/>
          </a:xfrm>
          <a:prstGeom prst="rect">
            <a:avLst/>
          </a:prstGeom>
          <a:noFill/>
          <a:ln>
            <a:noFill/>
          </a:ln>
        </p:spPr>
        <p:txBody>
          <a:bodyPr wrap="square" lIns="0" tIns="0" rIns="0" bIns="0" anchor="t">
            <a:noAutofit/>
          </a:bodyPr>
          <a:lstStyle/>
          <a:p>
            <a:pPr algn="l">
              <a:lnSpc>
                <a:spcPct val="120000"/>
              </a:lnSpc>
              <a:spcAft>
                <a:spcPts val="0"/>
              </a:spcAft>
            </a:pPr>
            <a:r>
              <a:rPr lang="ko-KR" sz="1050" b="0">
                <a:solidFill>
                  <a:srgbClr val="66716B"/>
                </a:solidFill>
                <a:latin typeface="Malgun Gothic"/>
                <a:ea typeface="Malgun Gothic"/>
                <a:cs typeface="Malgun Gothic"/>
              </a:rPr>
              <a:t>화면의 유형과 점수는 가중치의 의미를 보여주는 예시이며, 특정 상권의 실제 평가가 아닙니다.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2"/>
          <p:cNvSpPr txBox="1"/>
          <p:nvPr/>
        </p:nvSpPr>
        <p:spPr>
          <a:xfrm>
            <a:off x="990600" y="1914525"/>
            <a:ext cx="3429000" cy="1381125"/>
          </a:xfrm>
          <a:prstGeom prst="rect">
            <a:avLst/>
          </a:prstGeom>
          <a:noFill/>
          <a:ln>
            <a:noFill/>
          </a:ln>
        </p:spPr>
        <p:txBody>
          <a:bodyPr wrap="square" lIns="0" tIns="0" rIns="0" bIns="0">
            <a:noAutofit/>
          </a:bodyPr>
          <a:lstStyle/>
          <a:p>
            <a:pPr algn="l">
              <a:lnSpc>
                <a:spcPct val="118000"/>
              </a:lnSpc>
              <a:spcAft>
                <a:spcPts val="0"/>
              </a:spcAft>
            </a:pPr>
            <a:r>
              <a:rPr lang="ko-KR" sz="8250" b="1">
                <a:solidFill>
                  <a:srgbClr val="CCFF00"/>
                </a:solidFill>
                <a:latin typeface="Malgun Gothic"/>
                <a:ea typeface="Malgun Gothic"/>
                <a:cs typeface="Malgun Gothic"/>
              </a:rPr>
              <a:t>03</a:t>
            </a:r>
            <a:endParaRPr lang="ko-KR" sz="8250"/>
          </a:p>
        </p:txBody>
      </p:sp>
      <p:sp>
        <p:nvSpPr>
          <p:cNvPr id="3" name="서비스 흐름과 주요 기능"/>
          <p:cNvSpPr txBox="1"/>
          <p:nvPr/>
        </p:nvSpPr>
        <p:spPr>
          <a:xfrm>
            <a:off x="952500" y="3629025"/>
            <a:ext cx="7953375" cy="2524125"/>
          </a:xfrm>
          <a:prstGeom prst="rect">
            <a:avLst/>
          </a:prstGeom>
          <a:noFill/>
          <a:ln>
            <a:noFill/>
          </a:ln>
        </p:spPr>
        <p:txBody>
          <a:bodyPr wrap="square" lIns="0" tIns="0" rIns="0" bIns="0">
            <a:noAutofit/>
          </a:bodyPr>
          <a:lstStyle/>
          <a:p>
            <a:pPr algn="l">
              <a:lnSpc>
                <a:spcPct val="118000"/>
              </a:lnSpc>
              <a:spcAft>
                <a:spcPts val="0"/>
              </a:spcAft>
            </a:pPr>
            <a:r>
              <a:rPr lang="ko-KR" sz="6525" b="1">
                <a:solidFill>
                  <a:srgbClr val="F8F7F2"/>
                </a:solidFill>
                <a:latin typeface="Malgun Gothic"/>
                <a:ea typeface="Malgun Gothic"/>
                <a:cs typeface="Malgun Gothic"/>
              </a:rPr>
              <a:t>서비스 흐름과</a:t>
            </a:r>
            <a:endParaRPr lang="ko-KR" sz="6525"/>
          </a:p>
          <a:p>
            <a:pPr algn="l">
              <a:lnSpc>
                <a:spcPct val="118000"/>
              </a:lnSpc>
              <a:spcAft>
                <a:spcPts val="0"/>
              </a:spcAft>
            </a:pPr>
            <a:r>
              <a:rPr lang="ko-KR" sz="6525" b="1">
                <a:solidFill>
                  <a:srgbClr val="F8F7F2"/>
                </a:solidFill>
                <a:latin typeface="Malgun Gothic"/>
                <a:ea typeface="Malgun Gothic"/>
                <a:cs typeface="Malgun Gothic"/>
              </a:rPr>
              <a:t>주요 기능</a:t>
            </a:r>
            <a:endParaRPr lang="ko-KR" sz="6525"/>
          </a:p>
        </p:txBody>
      </p:sp>
      <p:pic>
        <p:nvPicPr>
          <p:cNvPr id="4" name="02-service" descr="장 주제를 표현한 AI 생성 개념 일러스트"/>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2  서비스 흐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서비스 흐름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조건 선택부터 현장 조사 후보까지"/>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조건 선택부터 현장 조사 후보까지</a:t>
            </a:r>
            <a:endParaRPr lang="ko-KR" sz="3600"/>
          </a:p>
        </p:txBody>
      </p:sp>
      <p:sp>
        <p:nvSpPr>
          <p:cNvPr id="5" name="탐색·분석·비교를 연결하고, 최종 확인은 사용자의 현장 조사로 이어집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탐색·분석·비교를 연결하고, 최종 확인은 사용자의 현장 조사로 이어집니다.</a:t>
            </a:r>
            <a:endParaRPr lang="ko-KR" sz="1650"/>
          </a:p>
        </p:txBody>
      </p:sp>
      <p:graphicFrame>
        <p:nvGraphicFramePr>
          <p:cNvPr id="6" name="Editable table 6"/>
          <p:cNvGraphicFramePr/>
          <p:nvPr>
            <p:extLst>
              <p:ext uri="{D42A27DB-BD31-4B8C-83A1-F6EECF244321}">
                <p14:modId xmlns:p14="http://schemas.microsoft.com/office/powerpoint/2010/main" val="4080976283"/>
              </p:ext>
            </p:extLst>
          </p:nvPr>
        </p:nvGraphicFramePr>
        <p:xfrm>
          <a:off x="704850" y="2714625"/>
          <a:ext cx="13830300" cy="2724150"/>
        </p:xfrm>
        <a:graphic>
          <a:graphicData uri="http://schemas.openxmlformats.org/drawingml/2006/table">
            <a:tbl>
              <a:tblPr firstRow="1">
                <a:tableStyleId>{5C22544A-7EE6-4342-B048-85BDC9FD1C3A}</a:tableStyleId>
              </a:tblPr>
              <a:tblGrid>
                <a:gridCol w="2305050">
                  <a:extLst>
                    <a:ext uri="{9D8B030D-6E8A-4147-A177-3AD203B41FA5}">
                      <a16:colId xmlns:a16="http://schemas.microsoft.com/office/drawing/2014/main" val="20000"/>
                    </a:ext>
                  </a:extLst>
                </a:gridCol>
                <a:gridCol w="230505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2305050">
                  <a:extLst>
                    <a:ext uri="{9D8B030D-6E8A-4147-A177-3AD203B41FA5}">
                      <a16:colId xmlns:a16="http://schemas.microsoft.com/office/drawing/2014/main" val="20004"/>
                    </a:ext>
                  </a:extLst>
                </a:gridCol>
                <a:gridCol w="2305050">
                  <a:extLst>
                    <a:ext uri="{9D8B030D-6E8A-4147-A177-3AD203B41FA5}">
                      <a16:colId xmlns:a16="http://schemas.microsoft.com/office/drawing/2014/main" val="20005"/>
                    </a:ext>
                  </a:extLst>
                </a:gridCol>
              </a:tblGrid>
              <a:tr h="1257300">
                <a:tc>
                  <a:txBody>
                    <a:bodyPr/>
                    <a:lstStyle/>
                    <a:p>
                      <a:pPr algn="l">
                        <a:lnSpc>
                          <a:spcPct val="120000"/>
                        </a:lnSpc>
                        <a:spcAft>
                          <a:spcPts val="0"/>
                        </a:spcAft>
                      </a:pPr>
                      <a:r>
                        <a:rPr lang="ko-KR" sz="2025" b="1">
                          <a:solidFill>
                            <a:srgbClr val="FFFFFF"/>
                          </a:solidFill>
                          <a:latin typeface="Malgun Gothic"/>
                          <a:ea typeface="Malgun Gothic"/>
                          <a:cs typeface="Malgun Gothic"/>
                        </a:rPr>
                        <a:t>01</a:t>
                      </a:r>
                      <a:endParaRPr lang="ko-KR" sz="2025"/>
                    </a:p>
                    <a:p>
                      <a:pPr algn="l">
                        <a:lnSpc>
                          <a:spcPct val="120000"/>
                        </a:lnSpc>
                        <a:spcAft>
                          <a:spcPts val="0"/>
                        </a:spcAft>
                      </a:pPr>
                      <a:r>
                        <a:rPr lang="ko-KR" sz="2025" b="1">
                          <a:solidFill>
                            <a:srgbClr val="FFFFFF"/>
                          </a:solidFill>
                          <a:latin typeface="Malgun Gothic"/>
                          <a:ea typeface="Malgun Gothic"/>
                          <a:cs typeface="Malgun Gothic"/>
                        </a:rPr>
                        <a:t>업종 선택</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dirty="0">
                          <a:solidFill>
                            <a:srgbClr val="FFFFFF"/>
                          </a:solidFill>
                          <a:latin typeface="Malgun Gothic"/>
                          <a:ea typeface="Malgun Gothic"/>
                          <a:cs typeface="Malgun Gothic"/>
                        </a:rPr>
                        <a:t>02</a:t>
                      </a:r>
                      <a:endParaRPr lang="ko-KR" sz="2025" dirty="0"/>
                    </a:p>
                    <a:p>
                      <a:pPr algn="l">
                        <a:lnSpc>
                          <a:spcPct val="120000"/>
                        </a:lnSpc>
                        <a:spcAft>
                          <a:spcPts val="0"/>
                        </a:spcAft>
                      </a:pPr>
                      <a:r>
                        <a:rPr lang="ko-KR" sz="2025" b="1" dirty="0" err="1">
                          <a:solidFill>
                            <a:srgbClr val="FFFFFF"/>
                          </a:solidFill>
                          <a:latin typeface="Malgun Gothic"/>
                          <a:ea typeface="Malgun Gothic"/>
                          <a:cs typeface="Malgun Gothic"/>
                        </a:rPr>
                        <a:t>지역·분기</a:t>
                      </a:r>
                      <a:r>
                        <a:rPr lang="ko-KR" altLang="en-US" sz="2025" b="1" dirty="0">
                          <a:solidFill>
                            <a:srgbClr val="FFFFFF"/>
                          </a:solidFill>
                          <a:latin typeface="Malgun Gothic"/>
                          <a:ea typeface="Malgun Gothic"/>
                          <a:cs typeface="Malgun Gothic"/>
                        </a:rPr>
                        <a:t> 선택</a:t>
                      </a:r>
                      <a:endParaRPr lang="ko-KR" sz="2025"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03</a:t>
                      </a:r>
                      <a:endParaRPr lang="ko-KR" sz="2025"/>
                    </a:p>
                    <a:p>
                      <a:pPr algn="l">
                        <a:lnSpc>
                          <a:spcPct val="120000"/>
                        </a:lnSpc>
                        <a:spcAft>
                          <a:spcPts val="0"/>
                        </a:spcAft>
                      </a:pPr>
                      <a:r>
                        <a:rPr lang="ko-KR" sz="2025" b="1">
                          <a:solidFill>
                            <a:srgbClr val="FFFFFF"/>
                          </a:solidFill>
                          <a:latin typeface="Malgun Gothic"/>
                          <a:ea typeface="Malgun Gothic"/>
                          <a:cs typeface="Malgun Gothic"/>
                        </a:rPr>
                        <a:t>후보 탐색</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04</a:t>
                      </a:r>
                      <a:endParaRPr lang="ko-KR" sz="2025"/>
                    </a:p>
                    <a:p>
                      <a:pPr algn="l">
                        <a:lnSpc>
                          <a:spcPct val="120000"/>
                        </a:lnSpc>
                        <a:spcAft>
                          <a:spcPts val="0"/>
                        </a:spcAft>
                      </a:pPr>
                      <a:r>
                        <a:rPr lang="ko-KR" sz="2025" b="1">
                          <a:solidFill>
                            <a:srgbClr val="FFFFFF"/>
                          </a:solidFill>
                          <a:latin typeface="Malgun Gothic"/>
                          <a:ea typeface="Malgun Gothic"/>
                          <a:cs typeface="Malgun Gothic"/>
                        </a:rPr>
                        <a:t>상세 분석</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05</a:t>
                      </a:r>
                      <a:endParaRPr lang="ko-KR" sz="2025"/>
                    </a:p>
                    <a:p>
                      <a:pPr algn="l">
                        <a:lnSpc>
                          <a:spcPct val="120000"/>
                        </a:lnSpc>
                        <a:spcAft>
                          <a:spcPts val="0"/>
                        </a:spcAft>
                      </a:pPr>
                      <a:r>
                        <a:rPr lang="ko-KR" sz="2025" b="1">
                          <a:solidFill>
                            <a:srgbClr val="FFFFFF"/>
                          </a:solidFill>
                          <a:latin typeface="Malgun Gothic"/>
                          <a:ea typeface="Malgun Gothic"/>
                          <a:cs typeface="Malgun Gothic"/>
                        </a:rPr>
                        <a:t>후보 비교</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06</a:t>
                      </a:r>
                      <a:endParaRPr lang="ko-KR" sz="2025"/>
                    </a:p>
                    <a:p>
                      <a:pPr algn="l">
                        <a:lnSpc>
                          <a:spcPct val="120000"/>
                        </a:lnSpc>
                        <a:spcAft>
                          <a:spcPts val="0"/>
                        </a:spcAft>
                      </a:pPr>
                      <a:r>
                        <a:rPr lang="ko-KR" sz="2025" b="1">
                          <a:solidFill>
                            <a:srgbClr val="FFFFFF"/>
                          </a:solidFill>
                          <a:latin typeface="Malgun Gothic"/>
                          <a:ea typeface="Malgun Gothic"/>
                          <a:cs typeface="Malgun Gothic"/>
                        </a:rPr>
                        <a:t>현장 조사</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65716A"/>
                    </a:solidFill>
                  </a:tcPr>
                </a:tc>
                <a:extLst>
                  <a:ext uri="{0D108BD9-81ED-4DB2-BD59-A6C34878D82A}">
                    <a16:rowId xmlns:a16="http://schemas.microsoft.com/office/drawing/2014/main" val="10000"/>
                  </a:ext>
                </a:extLst>
              </a:tr>
              <a:tr h="1466850">
                <a:tc>
                  <a:txBody>
                    <a:bodyPr/>
                    <a:lstStyle/>
                    <a:p>
                      <a:pPr algn="l">
                        <a:lnSpc>
                          <a:spcPct val="120000"/>
                        </a:lnSpc>
                        <a:spcAft>
                          <a:spcPts val="0"/>
                        </a:spcAft>
                      </a:pPr>
                      <a:r>
                        <a:rPr lang="ko-KR" sz="2025" b="1">
                          <a:solidFill>
                            <a:srgbClr val="101511"/>
                          </a:solidFill>
                          <a:latin typeface="Malgun Gothic"/>
                          <a:ea typeface="Malgun Gothic"/>
                          <a:cs typeface="Malgun Gothic"/>
                        </a:rPr>
                        <a:t>관심 업종</a:t>
                      </a:r>
                      <a:endParaRPr lang="ko-KR" sz="2025"/>
                    </a:p>
                    <a:p>
                      <a:pPr algn="l">
                        <a:lnSpc>
                          <a:spcPct val="120000"/>
                        </a:lnSpc>
                        <a:spcAft>
                          <a:spcPts val="0"/>
                        </a:spcAft>
                      </a:pPr>
                      <a:r>
                        <a:rPr lang="ko-KR" sz="2025" b="1">
                          <a:solidFill>
                            <a:srgbClr val="101511"/>
                          </a:solidFill>
                          <a:latin typeface="Malgun Gothic"/>
                          <a:ea typeface="Malgun Gothic"/>
                          <a:cs typeface="Malgun Gothic"/>
                        </a:rPr>
                        <a:t>선택</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2025" b="0" dirty="0">
                          <a:solidFill>
                            <a:srgbClr val="101511"/>
                          </a:solidFill>
                          <a:latin typeface="Malgun Gothic"/>
                          <a:ea typeface="Malgun Gothic"/>
                          <a:cs typeface="Malgun Gothic"/>
                        </a:rPr>
                        <a:t>자치구와</a:t>
                      </a:r>
                      <a:endParaRPr lang="ko-KR" sz="2025" dirty="0"/>
                    </a:p>
                    <a:p>
                      <a:pPr algn="l">
                        <a:lnSpc>
                          <a:spcPct val="120000"/>
                        </a:lnSpc>
                        <a:spcAft>
                          <a:spcPts val="0"/>
                        </a:spcAft>
                      </a:pPr>
                      <a:r>
                        <a:rPr lang="ko-KR" sz="2025" b="0" dirty="0">
                          <a:solidFill>
                            <a:srgbClr val="101511"/>
                          </a:solidFill>
                          <a:latin typeface="Malgun Gothic"/>
                          <a:ea typeface="Malgun Gothic"/>
                          <a:cs typeface="Malgun Gothic"/>
                        </a:rPr>
                        <a:t>기준 분기</a:t>
                      </a:r>
                      <a:r>
                        <a:rPr lang="ko-KR" altLang="en-US" sz="2025" b="0" dirty="0">
                          <a:solidFill>
                            <a:srgbClr val="101511"/>
                          </a:solidFill>
                          <a:latin typeface="Malgun Gothic"/>
                          <a:ea typeface="Malgun Gothic"/>
                          <a:cs typeface="Malgun Gothic"/>
                        </a:rPr>
                        <a:t> 선택</a:t>
                      </a:r>
                      <a:endParaRPr lang="ko-KR" sz="2025"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추천 목록</a:t>
                      </a:r>
                      <a:endParaRPr lang="ko-KR" sz="2025"/>
                    </a:p>
                    <a:p>
                      <a:pPr algn="l">
                        <a:lnSpc>
                          <a:spcPct val="120000"/>
                        </a:lnSpc>
                        <a:spcAft>
                          <a:spcPts val="0"/>
                        </a:spcAft>
                      </a:pPr>
                      <a:r>
                        <a:rPr lang="ko-KR" sz="2025" b="0">
                          <a:solidFill>
                            <a:srgbClr val="101511"/>
                          </a:solidFill>
                          <a:latin typeface="Malgun Gothic"/>
                          <a:ea typeface="Malgun Gothic"/>
                          <a:cs typeface="Malgun Gothic"/>
                        </a:rPr>
                        <a:t>이름 검색</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지표·패턴</a:t>
                      </a:r>
                      <a:endParaRPr lang="ko-KR" sz="2025"/>
                    </a:p>
                    <a:p>
                      <a:pPr algn="l">
                        <a:lnSpc>
                          <a:spcPct val="120000"/>
                        </a:lnSpc>
                        <a:spcAft>
                          <a:spcPts val="0"/>
                        </a:spcAft>
                      </a:pPr>
                      <a:r>
                        <a:rPr lang="ko-KR" sz="2025" b="0">
                          <a:solidFill>
                            <a:srgbClr val="101511"/>
                          </a:solidFill>
                          <a:latin typeface="Malgun Gothic"/>
                          <a:ea typeface="Malgun Gothic"/>
                          <a:cs typeface="Malgun Gothic"/>
                        </a:rPr>
                        <a:t>AI 인사이트</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최대 7개 선택</a:t>
                      </a:r>
                      <a:endParaRPr lang="ko-KR" sz="2025"/>
                    </a:p>
                    <a:p>
                      <a:pPr algn="l">
                        <a:lnSpc>
                          <a:spcPct val="120000"/>
                        </a:lnSpc>
                        <a:spcAft>
                          <a:spcPts val="0"/>
                        </a:spcAft>
                      </a:pPr>
                      <a:r>
                        <a:rPr lang="ko-KR" sz="2025" b="0">
                          <a:solidFill>
                            <a:srgbClr val="101511"/>
                          </a:solidFill>
                          <a:latin typeface="Malgun Gothic"/>
                          <a:ea typeface="Malgun Gothic"/>
                          <a:cs typeface="Malgun Gothic"/>
                        </a:rPr>
                        <a:t>3개씩 비교</a:t>
                      </a:r>
                      <a:endParaRPr lang="ko-KR" sz="2025"/>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dirty="0">
                          <a:solidFill>
                            <a:srgbClr val="101511"/>
                          </a:solidFill>
                          <a:latin typeface="Malgun Gothic"/>
                          <a:ea typeface="Malgun Gothic"/>
                          <a:cs typeface="Malgun Gothic"/>
                        </a:rPr>
                        <a:t>직접 방문</a:t>
                      </a:r>
                      <a:endParaRPr lang="ko-KR" sz="2025" dirty="0"/>
                    </a:p>
                    <a:p>
                      <a:pPr algn="l">
                        <a:lnSpc>
                          <a:spcPct val="120000"/>
                        </a:lnSpc>
                        <a:spcAft>
                          <a:spcPts val="0"/>
                        </a:spcAft>
                      </a:pPr>
                      <a:r>
                        <a:rPr lang="ko-KR" sz="2025" b="0" dirty="0">
                          <a:solidFill>
                            <a:srgbClr val="101511"/>
                          </a:solidFill>
                          <a:latin typeface="Malgun Gothic"/>
                          <a:ea typeface="Malgun Gothic"/>
                          <a:cs typeface="Malgun Gothic"/>
                        </a:rPr>
                        <a:t>추가 확인</a:t>
                      </a:r>
                      <a:endParaRPr lang="ko-KR" sz="2025" dirty="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7EAE2"/>
                    </a:solidFill>
                  </a:tcPr>
                </a:tc>
                <a:extLst>
                  <a:ext uri="{0D108BD9-81ED-4DB2-BD59-A6C34878D82A}">
                    <a16:rowId xmlns:a16="http://schemas.microsoft.com/office/drawing/2014/main" val="10001"/>
                  </a:ext>
                </a:extLst>
              </a:tr>
            </a:tbl>
          </a:graphicData>
        </a:graphic>
      </p:graphicFrame>
      <p:sp>
        <p:nvSpPr>
          <p:cNvPr id="7" name="서비스에서 제공"/>
          <p:cNvSpPr txBox="1"/>
          <p:nvPr/>
        </p:nvSpPr>
        <p:spPr>
          <a:xfrm>
            <a:off x="771525" y="6019800"/>
            <a:ext cx="10953750" cy="447675"/>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101511"/>
                </a:solidFill>
                <a:latin typeface="Malgun Gothic"/>
                <a:ea typeface="Malgun Gothic"/>
                <a:cs typeface="Malgun Gothic"/>
              </a:rPr>
              <a:t>서비스에서 제공</a:t>
            </a:r>
            <a:endParaRPr lang="ko-KR" sz="2400"/>
          </a:p>
        </p:txBody>
      </p:sp>
      <p:sp>
        <p:nvSpPr>
          <p:cNvPr id="8" name="검색한 후보를 상세 분석과 비교로 연결합니다."/>
          <p:cNvSpPr txBox="1"/>
          <p:nvPr/>
        </p:nvSpPr>
        <p:spPr>
          <a:xfrm>
            <a:off x="771525" y="6610350"/>
            <a:ext cx="10953750" cy="561975"/>
          </a:xfrm>
          <a:prstGeom prst="rect">
            <a:avLst/>
          </a:prstGeom>
          <a:noFill/>
          <a:ln>
            <a:noFill/>
          </a:ln>
        </p:spPr>
        <p:txBody>
          <a:bodyPr wrap="square" lIns="0" tIns="0" rIns="0" bIns="0" anchor="t">
            <a:noAutofit/>
          </a:bodyPr>
          <a:lstStyle/>
          <a:p>
            <a:pPr algn="l">
              <a:lnSpc>
                <a:spcPct val="120000"/>
              </a:lnSpc>
              <a:spcAft>
                <a:spcPts val="0"/>
              </a:spcAft>
            </a:pPr>
            <a:r>
              <a:rPr lang="ko-KR" sz="2175" b="0">
                <a:solidFill>
                  <a:srgbClr val="101511"/>
                </a:solidFill>
                <a:latin typeface="Malgun Gothic"/>
                <a:ea typeface="Malgun Gothic"/>
                <a:cs typeface="Malgun Gothic"/>
              </a:rPr>
              <a:t>검색한 후보를 상세 분석과 비교로 연결합니다.</a:t>
            </a:r>
            <a:endParaRPr lang="ko-KR" sz="2175"/>
          </a:p>
        </p:txBody>
      </p:sp>
      <p:sp>
        <p:nvSpPr>
          <p:cNvPr id="9" name="필요성 안내 조사는 직접 수행"/>
          <p:cNvSpPr txBox="1"/>
          <p:nvPr/>
        </p:nvSpPr>
        <p:spPr>
          <a:xfrm>
            <a:off x="12382500" y="6019800"/>
            <a:ext cx="2171700" cy="1133475"/>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필요성 안내</a:t>
            </a:r>
            <a:endParaRPr lang="ko-KR" sz="1650"/>
          </a:p>
          <a:p>
            <a:pPr algn="l">
              <a:lnSpc>
                <a:spcPct val="120000"/>
              </a:lnSpc>
              <a:spcAft>
                <a:spcPts val="0"/>
              </a:spcAft>
            </a:pPr>
            <a:r>
              <a:rPr lang="ko-KR" sz="1650" b="0">
                <a:solidFill>
                  <a:srgbClr val="66716B"/>
                </a:solidFill>
                <a:latin typeface="Malgun Gothic"/>
                <a:ea typeface="Malgun Gothic"/>
                <a:cs typeface="Malgun Gothic"/>
              </a:rPr>
              <a:t>조사는 직접 수행</a:t>
            </a:r>
            <a:endParaRPr lang="ko-KR" sz="1650"/>
          </a:p>
        </p:txBody>
      </p:sp>
      <p:sp>
        <p:nvSpPr>
          <p:cNvPr id="10" name="Panel 10"/>
          <p:cNvSpPr/>
          <p:nvPr/>
        </p:nvSpPr>
        <p:spPr>
          <a:xfrm>
            <a:off x="685800" y="8077200"/>
            <a:ext cx="13868400" cy="14288"/>
          </a:xfrm>
          <a:prstGeom prst="rect">
            <a:avLst/>
          </a:prstGeom>
          <a:solidFill>
            <a:srgbClr val="CCD0C7"/>
          </a:solidFill>
          <a:ln w="0">
            <a:noFill/>
          </a:ln>
        </p:spPr>
      </p:sp>
      <p:sp>
        <p:nvSpPr>
          <p:cNvPr id="11"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2" name="04"/>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18</a:t>
            </a:r>
            <a:endParaRPr lang="ko-KR" sz="172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탐색"/>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탐색</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첫 화면: 탐색을 시작하는 공통 구성"/>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첫 화면: 탐색을 시작하는 공통 구성</a:t>
            </a:r>
            <a:endParaRPr lang="ko-KR" sz="3600"/>
          </a:p>
        </p:txBody>
      </p:sp>
      <p:sp>
        <p:nvSpPr>
          <p:cNvPr id="5" name="제공 화면 전체 · 커피·음료 / 서울 전체 / 2026 Q2"/>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최신 배포 화면의 주요 영역 · 커피·음료 / 서울 전체 / 2026 Q2</a:t>
            </a:r>
            <a:endParaRPr lang="ko-KR"/>
          </a:p>
        </p:txBody>
      </p:sp>
      <p:pic>
        <p:nvPicPr>
          <p:cNvPr id="6" name="준비자료/스크린샷/초기화면_시작.png" descr="준비자료/스크린샷/초기화면_시작.png"/>
          <p:cNvPicPr>
            <a:picLocks noChangeAspect="1"/>
          </p:cNvPicPr>
          <p:nvPr/>
        </p:nvPicPr>
        <p:blipFill>
          <a:blip r:embed="rId3"/>
          <a:stretch>
            <a:fillRect/>
          </a:stretch>
        </p:blipFill>
        <p:spPr>
          <a:xfrm>
            <a:off x="704850" y="2215157"/>
            <a:ext cx="6858000" cy="5505915"/>
          </a:xfrm>
          <a:prstGeom prst="rect">
            <a:avLst/>
          </a:prstGeom>
          <a:ln>
            <a:noFill/>
          </a:ln>
        </p:spPr>
      </p:pic>
      <p:sp>
        <p:nvSpPr>
          <p:cNvPr id="7" name="헤더와 서비스 소개"/>
          <p:cNvSpPr txBox="1"/>
          <p:nvPr/>
        </p:nvSpPr>
        <p:spPr>
          <a:xfrm>
            <a:off x="8096250" y="2247900"/>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헤더와 서비스 소개</a:t>
            </a:r>
            <a:endParaRPr lang="ko-KR" sz="2325"/>
          </a:p>
        </p:txBody>
      </p:sp>
      <p:sp>
        <p:nvSpPr>
          <p:cNvPr id="8" name="탐색·비교 메뉴와 선택 개수 표시 산출 로직에서 점수의 기준 확인"/>
          <p:cNvSpPr txBox="1"/>
          <p:nvPr/>
        </p:nvSpPr>
        <p:spPr>
          <a:xfrm>
            <a:off x="8096250" y="2771775"/>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선정한 돋보기 로고와 탐색·비교 메뉴</a:t>
            </a:r>
            <a:endParaRPr lang="ko-KR"/>
          </a:p>
          <a:p>
            <a:pPr algn="l">
              <a:lnSpc>
                <a:spcPct val="125000"/>
              </a:lnSpc>
              <a:spcAft>
                <a:spcPts val="0"/>
              </a:spcAft>
            </a:pPr>
            <a:r>
              <a:rPr lang="ko-KR" sz="1950" b="0">
                <a:solidFill>
                  <a:srgbClr val="101511"/>
                </a:solidFill>
                <a:latin typeface="Malgun Gothic"/>
                <a:ea typeface="Malgun Gothic"/>
                <a:cs typeface="Malgun Gothic"/>
              </a:rPr>
              <a:t>산출 로직과 화면별 도움말 제공</a:t>
            </a:r>
            <a:endParaRPr lang="ko-KR"/>
          </a:p>
        </p:txBody>
      </p:sp>
      <p:sp>
        <p:nvSpPr>
          <p:cNvPr id="9" name="업종·지역·분기 필터"/>
          <p:cNvSpPr txBox="1"/>
          <p:nvPr/>
        </p:nvSpPr>
        <p:spPr>
          <a:xfrm>
            <a:off x="8096250" y="3714750"/>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업종·지역·분기 필터</a:t>
            </a:r>
            <a:endParaRPr lang="ko-KR" sz="2325"/>
          </a:p>
        </p:txBody>
      </p:sp>
      <p:sp>
        <p:nvSpPr>
          <p:cNvPr id="10" name="분석할 업종과 자치구, 기간 선택 상권 이름 검색으로 후보 범위 축소"/>
          <p:cNvSpPr txBox="1"/>
          <p:nvPr/>
        </p:nvSpPr>
        <p:spPr>
          <a:xfrm>
            <a:off x="8096250" y="4238625"/>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분석할 업종과 자치구, 기간 선택</a:t>
            </a:r>
            <a:endParaRPr lang="ko-KR" sz="1950"/>
          </a:p>
          <a:p>
            <a:pPr algn="l">
              <a:lnSpc>
                <a:spcPct val="125000"/>
              </a:lnSpc>
              <a:spcAft>
                <a:spcPts val="0"/>
              </a:spcAft>
            </a:pPr>
            <a:r>
              <a:rPr lang="ko-KR" sz="1950" b="0">
                <a:solidFill>
                  <a:srgbClr val="101511"/>
                </a:solidFill>
                <a:latin typeface="Malgun Gothic"/>
                <a:ea typeface="Malgun Gothic"/>
                <a:cs typeface="Malgun Gothic"/>
              </a:rPr>
              <a:t>상권 이름 검색으로 후보 범위 축소</a:t>
            </a:r>
            <a:endParaRPr lang="ko-KR" sz="1950"/>
          </a:p>
        </p:txBody>
      </p:sp>
      <p:sp>
        <p:nvSpPr>
          <p:cNvPr id="11" name="후보 목록과 추천 기준"/>
          <p:cNvSpPr txBox="1"/>
          <p:nvPr/>
        </p:nvSpPr>
        <p:spPr>
          <a:xfrm>
            <a:off x="8096250" y="5181600"/>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후보 목록과 추천 기준</a:t>
            </a:r>
            <a:endParaRPr lang="ko-KR" sz="2325"/>
          </a:p>
        </p:txBody>
      </p:sp>
      <p:sp>
        <p:nvSpPr>
          <p:cNvPr id="12" name="상권별 점수·신호·요약을 확인 성장 40%·거래 35%·경쟁 여건 25%"/>
          <p:cNvSpPr txBox="1"/>
          <p:nvPr/>
        </p:nvSpPr>
        <p:spPr>
          <a:xfrm>
            <a:off x="8096250" y="5705475"/>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상권별 점수·신호·요약을 확인</a:t>
            </a:r>
            <a:endParaRPr lang="ko-KR" sz="1950"/>
          </a:p>
          <a:p>
            <a:pPr algn="l">
              <a:lnSpc>
                <a:spcPct val="125000"/>
              </a:lnSpc>
              <a:spcAft>
                <a:spcPts val="0"/>
              </a:spcAft>
            </a:pPr>
            <a:r>
              <a:rPr lang="ko-KR" sz="1950" b="0">
                <a:solidFill>
                  <a:srgbClr val="101511"/>
                </a:solidFill>
                <a:latin typeface="Malgun Gothic"/>
                <a:ea typeface="Malgun Gothic"/>
                <a:cs typeface="Malgun Gothic"/>
              </a:rPr>
              <a:t>성장 40%·거래 35%·경쟁 여건 25%</a:t>
            </a:r>
            <a:endParaRPr lang="ko-KR" sz="1950"/>
          </a:p>
        </p:txBody>
      </p:sp>
      <p:sp>
        <p:nvSpPr>
          <p:cNvPr id="13" name="비교 트레이"/>
          <p:cNvSpPr txBox="1"/>
          <p:nvPr/>
        </p:nvSpPr>
        <p:spPr>
          <a:xfrm>
            <a:off x="8096250" y="6648450"/>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비교 트레이</a:t>
            </a:r>
            <a:endParaRPr lang="ko-KR" sz="2325"/>
          </a:p>
        </p:txBody>
      </p:sp>
      <p:sp>
        <p:nvSpPr>
          <p:cNvPr id="14" name="관심 후보를 최대 7개까지 보관 선택한 상권을 비교 화면으로 연결"/>
          <p:cNvSpPr txBox="1"/>
          <p:nvPr/>
        </p:nvSpPr>
        <p:spPr>
          <a:xfrm>
            <a:off x="8096250" y="7172325"/>
            <a:ext cx="6419850" cy="809625"/>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관심 후보를 최대 7개까지 보관</a:t>
            </a:r>
            <a:endParaRPr lang="ko-KR" sz="1950"/>
          </a:p>
          <a:p>
            <a:pPr algn="l">
              <a:lnSpc>
                <a:spcPct val="125000"/>
              </a:lnSpc>
              <a:spcAft>
                <a:spcPts val="0"/>
              </a:spcAft>
            </a:pPr>
            <a:r>
              <a:rPr lang="ko-KR" sz="1950" b="0">
                <a:solidFill>
                  <a:srgbClr val="101511"/>
                </a:solidFill>
                <a:latin typeface="Malgun Gothic"/>
                <a:ea typeface="Malgun Gothic"/>
                <a:cs typeface="Malgun Gothic"/>
              </a:rPr>
              <a:t>선택한 상권을 비교 화면으로 연결</a:t>
            </a:r>
            <a:endParaRPr lang="ko-KR" sz="1950"/>
          </a:p>
        </p:txBody>
      </p:sp>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06"/>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19</a:t>
            </a:r>
            <a:endParaRPr lang="ko-KR" sz="172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탐색"/>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탐색</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상권 검색: 후보 목록과 입력 이력"/>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상권 검색과 </a:t>
            </a:r>
            <a:r>
              <a:rPr lang="ko-KR" sz="3600" b="1" dirty="0" err="1">
                <a:solidFill>
                  <a:srgbClr val="101511"/>
                </a:solidFill>
                <a:latin typeface="Malgun Gothic"/>
                <a:ea typeface="Malgun Gothic"/>
                <a:cs typeface="Malgun Gothic"/>
              </a:rPr>
              <a:t>화면별</a:t>
            </a:r>
            <a:r>
              <a:rPr lang="ko-KR" sz="3600" b="1" dirty="0">
                <a:solidFill>
                  <a:srgbClr val="101511"/>
                </a:solidFill>
                <a:latin typeface="Malgun Gothic"/>
                <a:ea typeface="Malgun Gothic"/>
                <a:cs typeface="Malgun Gothic"/>
              </a:rPr>
              <a:t> 사용 가이드</a:t>
            </a:r>
            <a:endParaRPr lang="ko-KR" dirty="0"/>
          </a:p>
        </p:txBody>
      </p:sp>
      <p:sp>
        <p:nvSpPr>
          <p:cNvPr id="5" name="입력 중 후보를 확인하고, 검색 버튼 또는 Enter로 결과를 확정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이름으로 후보를 찾고, 필요한 순간 현재 화면의 사용법을 확인합니다.</a:t>
            </a:r>
            <a:endParaRPr lang="ko-KR"/>
          </a:p>
        </p:txBody>
      </p:sp>
      <p:sp>
        <p:nvSpPr>
          <p:cNvPr id="6" name="상권 후보 목록"/>
          <p:cNvSpPr txBox="1"/>
          <p:nvPr/>
        </p:nvSpPr>
        <p:spPr>
          <a:xfrm>
            <a:off x="742950" y="2171700"/>
            <a:ext cx="6572250" cy="409575"/>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101511"/>
                </a:solidFill>
                <a:latin typeface="Malgun Gothic"/>
                <a:ea typeface="Malgun Gothic"/>
                <a:cs typeface="Malgun Gothic"/>
              </a:rPr>
              <a:t>상권 후보 목록</a:t>
            </a:r>
            <a:endParaRPr lang="ko-KR" sz="2400"/>
          </a:p>
        </p:txBody>
      </p:sp>
      <p:sp>
        <p:nvSpPr>
          <p:cNvPr id="7" name="입력 이력 표시"/>
          <p:cNvSpPr txBox="1"/>
          <p:nvPr/>
        </p:nvSpPr>
        <p:spPr>
          <a:xfrm>
            <a:off x="7943850" y="2171700"/>
            <a:ext cx="6572250" cy="409575"/>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101511"/>
                </a:solidFill>
                <a:latin typeface="Malgun Gothic"/>
                <a:ea typeface="Malgun Gothic"/>
                <a:cs typeface="Malgun Gothic"/>
              </a:rPr>
              <a:t>화면별 사용 가이드</a:t>
            </a:r>
            <a:endParaRPr lang="ko-KR"/>
          </a:p>
        </p:txBody>
      </p:sp>
      <p:pic>
        <p:nvPicPr>
          <p:cNvPr id="8" name="준비자료/스크린샷/초기화면_검색.png" descr="준비자료/스크린샷/초기화면_검색.png"/>
          <p:cNvPicPr>
            <a:picLocks noChangeAspect="1"/>
          </p:cNvPicPr>
          <p:nvPr/>
        </p:nvPicPr>
        <p:blipFill>
          <a:blip r:embed="rId3"/>
          <a:stretch>
            <a:fillRect/>
          </a:stretch>
        </p:blipFill>
        <p:spPr>
          <a:xfrm>
            <a:off x="1142018" y="2752725"/>
            <a:ext cx="5774115" cy="4560337"/>
          </a:xfrm>
          <a:prstGeom prst="rect">
            <a:avLst/>
          </a:prstGeom>
          <a:ln>
            <a:noFill/>
          </a:ln>
        </p:spPr>
      </p:pic>
      <p:pic>
        <p:nvPicPr>
          <p:cNvPr id="9" name="준비자료/스크린샷/초기화면_히스토리.png" descr="준비자료/스크린샷/초기화면_히스토리.png"/>
          <p:cNvPicPr>
            <a:picLocks noChangeAspect="1"/>
          </p:cNvPicPr>
          <p:nvPr/>
        </p:nvPicPr>
        <p:blipFill>
          <a:blip r:embed="rId4"/>
          <a:stretch>
            <a:fillRect/>
          </a:stretch>
        </p:blipFill>
        <p:spPr>
          <a:xfrm>
            <a:off x="7943850" y="3049983"/>
            <a:ext cx="6572250" cy="3969548"/>
          </a:xfrm>
          <a:prstGeom prst="rect">
            <a:avLst/>
          </a:prstGeom>
          <a:ln>
            <a:noFill/>
          </a:ln>
        </p:spPr>
      </p:pic>
      <p:sp>
        <p:nvSpPr>
          <p:cNvPr id="10" name="상권명·자치구명과 일치 건수 표시 20개씩 표시하고 스크롤로 추가 확인"/>
          <p:cNvSpPr txBox="1"/>
          <p:nvPr/>
        </p:nvSpPr>
        <p:spPr>
          <a:xfrm>
            <a:off x="762000" y="7458075"/>
            <a:ext cx="6572250" cy="590550"/>
          </a:xfrm>
          <a:prstGeom prst="rect">
            <a:avLst/>
          </a:prstGeom>
          <a:noFill/>
          <a:ln>
            <a:noFill/>
          </a:ln>
        </p:spPr>
        <p:txBody>
          <a:bodyPr wrap="square" lIns="0" tIns="0" rIns="0" bIns="0" anchor="t">
            <a:noAutofit/>
          </a:bodyPr>
          <a:lstStyle/>
          <a:p>
            <a:pPr algn="l">
              <a:lnSpc>
                <a:spcPct val="115000"/>
              </a:lnSpc>
              <a:spcAft>
                <a:spcPts val="0"/>
              </a:spcAft>
            </a:pPr>
            <a:r>
              <a:rPr lang="ko-KR" sz="1800" b="0">
                <a:solidFill>
                  <a:srgbClr val="101511"/>
                </a:solidFill>
                <a:latin typeface="Malgun Gothic"/>
                <a:ea typeface="Malgun Gothic"/>
                <a:cs typeface="Malgun Gothic"/>
              </a:rPr>
              <a:t>상권명·자치구와 일치 건수 확인</a:t>
            </a:r>
            <a:endParaRPr lang="ko-KR"/>
          </a:p>
          <a:p>
            <a:pPr algn="l">
              <a:lnSpc>
                <a:spcPct val="115000"/>
              </a:lnSpc>
              <a:spcAft>
                <a:spcPts val="0"/>
              </a:spcAft>
            </a:pPr>
            <a:r>
              <a:rPr lang="ko-KR" sz="1800" b="0">
                <a:solidFill>
                  <a:srgbClr val="101511"/>
                </a:solidFill>
                <a:latin typeface="Malgun Gothic"/>
                <a:ea typeface="Malgun Gothic"/>
                <a:cs typeface="Malgun Gothic"/>
              </a:rPr>
              <a:t>선택 후 검색 버튼 또는 Enter로 조회</a:t>
            </a:r>
            <a:endParaRPr lang="ko-KR"/>
          </a:p>
        </p:txBody>
      </p:sp>
      <p:sp>
        <p:nvSpPr>
          <p:cNvPr id="11" name="브라우저에 저장된 입력값이 보이는 상태 앱은 선택한 검색어로 상권 후보를 조회"/>
          <p:cNvSpPr txBox="1"/>
          <p:nvPr/>
        </p:nvSpPr>
        <p:spPr>
          <a:xfrm>
            <a:off x="7962900" y="7458075"/>
            <a:ext cx="6572250" cy="590550"/>
          </a:xfrm>
          <a:prstGeom prst="rect">
            <a:avLst/>
          </a:prstGeom>
          <a:noFill/>
          <a:ln>
            <a:noFill/>
          </a:ln>
        </p:spPr>
        <p:txBody>
          <a:bodyPr wrap="square" lIns="0" tIns="0" rIns="0" bIns="0" anchor="t">
            <a:noAutofit/>
          </a:bodyPr>
          <a:lstStyle/>
          <a:p>
            <a:pPr algn="l">
              <a:lnSpc>
                <a:spcPct val="115000"/>
              </a:lnSpc>
              <a:spcAft>
                <a:spcPts val="0"/>
              </a:spcAft>
            </a:pPr>
            <a:r>
              <a:rPr lang="ko-KR" sz="1800" b="0">
                <a:solidFill>
                  <a:srgbClr val="101511"/>
                </a:solidFill>
                <a:latin typeface="Malgun Gothic"/>
                <a:ea typeface="Malgun Gothic"/>
                <a:cs typeface="Malgun Gothic"/>
              </a:rPr>
              <a:t>질문을 펼쳐 순서와 예시 화면 확인</a:t>
            </a:r>
            <a:endParaRPr lang="ko-KR"/>
          </a:p>
          <a:p>
            <a:pPr algn="l">
              <a:lnSpc>
                <a:spcPct val="115000"/>
              </a:lnSpc>
              <a:spcAft>
                <a:spcPts val="0"/>
              </a:spcAft>
            </a:pPr>
            <a:r>
              <a:rPr lang="ko-KR" sz="1800" b="0">
                <a:solidFill>
                  <a:srgbClr val="101511"/>
                </a:solidFill>
                <a:latin typeface="Malgun Gothic"/>
                <a:ea typeface="Malgun Gothic"/>
                <a:cs typeface="Malgun Gothic"/>
              </a:rPr>
              <a:t>헤더의 도움말 버튼으로 직접 열기</a:t>
            </a:r>
            <a:endParaRPr lang="ko-KR"/>
          </a:p>
        </p:txBody>
      </p:sp>
      <p:sp>
        <p:nvSpPr>
          <p:cNvPr id="12" name="Panel 12"/>
          <p:cNvSpPr/>
          <p:nvPr/>
        </p:nvSpPr>
        <p:spPr>
          <a:xfrm>
            <a:off x="685800" y="8077200"/>
            <a:ext cx="13868400" cy="14288"/>
          </a:xfrm>
          <a:prstGeom prst="rect">
            <a:avLst/>
          </a:prstGeom>
          <a:solidFill>
            <a:srgbClr val="CCD0C7"/>
          </a:solidFill>
          <a:ln w="0">
            <a:noFill/>
          </a:ln>
        </p:spPr>
      </p:sp>
      <p:sp>
        <p:nvSpPr>
          <p:cNvPr id="13"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4" name="07"/>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20</a:t>
            </a:r>
            <a:endParaRPr lang="ko-KR" sz="172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탐색"/>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탐색</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추천 목록: 점수와 근거를 함께 확인"/>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추천 목록: 점수와 근거를 함께 확인</a:t>
            </a:r>
            <a:endParaRPr lang="ko-KR" sz="3600"/>
          </a:p>
        </p:txBody>
      </p:sp>
      <p:sp>
        <p:nvSpPr>
          <p:cNvPr id="5" name="상권별 정보를 읽고, 상세 분석이나 비교 담기로 이어갑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상권별 정보를 읽고, 상세 분석이나 비교 담기로 이어갑니다.</a:t>
            </a:r>
            <a:endParaRPr lang="ko-KR" sz="1650"/>
          </a:p>
        </p:txBody>
      </p:sp>
      <p:pic>
        <p:nvPicPr>
          <p:cNvPr id="6" name="준비자료/스크린샷/초기화면_시작.png" descr="준비자료/스크린샷/초기화면_시작.png"/>
          <p:cNvPicPr>
            <a:picLocks noChangeAspect="1"/>
          </p:cNvPicPr>
          <p:nvPr/>
        </p:nvPicPr>
        <p:blipFill>
          <a:blip r:embed="rId3"/>
          <a:stretch>
            <a:fillRect/>
          </a:stretch>
        </p:blipFill>
        <p:spPr>
          <a:xfrm>
            <a:off x="742950" y="2485738"/>
            <a:ext cx="8572500" cy="3731994"/>
          </a:xfrm>
          <a:prstGeom prst="rect">
            <a:avLst/>
          </a:prstGeom>
          <a:ln>
            <a:noFill/>
          </a:ln>
        </p:spPr>
      </p:pic>
      <p:pic>
        <p:nvPicPr>
          <p:cNvPr id="7" name="준비자료/스크린샷/초기화면_시작.png" descr="준비자료/스크린샷/초기화면_시작.png"/>
          <p:cNvPicPr>
            <a:picLocks noChangeAspect="1"/>
          </p:cNvPicPr>
          <p:nvPr/>
        </p:nvPicPr>
        <p:blipFill>
          <a:blip r:embed="rId4"/>
          <a:stretch>
            <a:fillRect/>
          </a:stretch>
        </p:blipFill>
        <p:spPr>
          <a:xfrm>
            <a:off x="10001250" y="2678609"/>
            <a:ext cx="4514850" cy="3449922"/>
          </a:xfrm>
          <a:prstGeom prst="rect">
            <a:avLst/>
          </a:prstGeom>
          <a:ln>
            <a:noFill/>
          </a:ln>
        </p:spPr>
      </p:pic>
      <p:sp>
        <p:nvSpPr>
          <p:cNvPr id="8" name="순위·상권명·탐색 점수 성장·거래·경쟁 신호와 한 줄 요약 비교 선택 버튼과 상세 이동 화살표"/>
          <p:cNvSpPr txBox="1"/>
          <p:nvPr/>
        </p:nvSpPr>
        <p:spPr>
          <a:xfrm>
            <a:off x="762000" y="6648450"/>
            <a:ext cx="8715375" cy="1285875"/>
          </a:xfrm>
          <a:prstGeom prst="rect">
            <a:avLst/>
          </a:prstGeom>
          <a:noFill/>
          <a:ln>
            <a:noFill/>
          </a:ln>
        </p:spPr>
        <p:txBody>
          <a:bodyPr wrap="square" lIns="0" tIns="0" rIns="0" bIns="0" anchor="t">
            <a:noAutofit/>
          </a:bodyPr>
          <a:lstStyle/>
          <a:p>
            <a:pPr algn="l">
              <a:lnSpc>
                <a:spcPct val="135000"/>
              </a:lnSpc>
              <a:spcAft>
                <a:spcPts val="0"/>
              </a:spcAft>
            </a:pPr>
            <a:r>
              <a:rPr lang="ko-KR" sz="2100" b="0">
                <a:solidFill>
                  <a:srgbClr val="101511"/>
                </a:solidFill>
                <a:latin typeface="Malgun Gothic"/>
                <a:ea typeface="Malgun Gothic"/>
                <a:cs typeface="Malgun Gothic"/>
              </a:rPr>
              <a:t>순위·탐색 점수와 등급 확인</a:t>
            </a:r>
            <a:endParaRPr lang="ko-KR"/>
          </a:p>
          <a:p>
            <a:pPr algn="l">
              <a:lnSpc>
                <a:spcPct val="135000"/>
              </a:lnSpc>
              <a:spcAft>
                <a:spcPts val="0"/>
              </a:spcAft>
            </a:pPr>
            <a:r>
              <a:rPr lang="ko-KR" sz="2100" b="0">
                <a:solidFill>
                  <a:srgbClr val="101511"/>
                </a:solidFill>
                <a:latin typeface="Malgun Gothic"/>
                <a:ea typeface="Malgun Gothic"/>
                <a:cs typeface="Malgun Gothic"/>
              </a:rPr>
              <a:t>경쟁 여건이 나쁠 때 주의 색상 표시</a:t>
            </a:r>
            <a:endParaRPr lang="ko-KR"/>
          </a:p>
          <a:p>
            <a:pPr algn="l">
              <a:lnSpc>
                <a:spcPct val="135000"/>
              </a:lnSpc>
              <a:spcAft>
                <a:spcPts val="0"/>
              </a:spcAft>
            </a:pPr>
            <a:r>
              <a:rPr lang="ko-KR" sz="2100" b="0">
                <a:solidFill>
                  <a:srgbClr val="101511"/>
                </a:solidFill>
                <a:latin typeface="Malgun Gothic"/>
                <a:ea typeface="Malgun Gothic"/>
                <a:cs typeface="Malgun Gothic"/>
              </a:rPr>
              <a:t>비교 담기 또는 상세 분석으로 이동</a:t>
            </a:r>
            <a:endParaRPr lang="ko-KR"/>
          </a:p>
        </p:txBody>
      </p:sp>
      <p:sp>
        <p:nvSpPr>
          <p:cNvPr id="9" name="추천 기준 공개 성장 40% / 거래 35% / 경쟁 25% 현장 조사에 쓸 탐색 지표"/>
          <p:cNvSpPr txBox="1"/>
          <p:nvPr/>
        </p:nvSpPr>
        <p:spPr>
          <a:xfrm>
            <a:off x="10020300" y="6648450"/>
            <a:ext cx="4476750" cy="1285875"/>
          </a:xfrm>
          <a:prstGeom prst="rect">
            <a:avLst/>
          </a:prstGeom>
          <a:noFill/>
          <a:ln>
            <a:noFill/>
          </a:ln>
        </p:spPr>
        <p:txBody>
          <a:bodyPr wrap="square" lIns="0" tIns="0" rIns="0" bIns="0" anchor="t">
            <a:noAutofit/>
          </a:bodyPr>
          <a:lstStyle/>
          <a:p>
            <a:pPr algn="l">
              <a:lnSpc>
                <a:spcPct val="135000"/>
              </a:lnSpc>
              <a:spcAft>
                <a:spcPts val="0"/>
              </a:spcAft>
            </a:pPr>
            <a:r>
              <a:rPr lang="ko-KR" sz="1875" b="0">
                <a:solidFill>
                  <a:srgbClr val="101511"/>
                </a:solidFill>
                <a:latin typeface="Malgun Gothic"/>
                <a:ea typeface="Malgun Gothic"/>
                <a:cs typeface="Malgun Gothic"/>
              </a:rPr>
              <a:t>추천 기준 공개</a:t>
            </a:r>
            <a:endParaRPr lang="ko-KR"/>
          </a:p>
          <a:p>
            <a:pPr algn="l">
              <a:lnSpc>
                <a:spcPct val="135000"/>
              </a:lnSpc>
              <a:spcAft>
                <a:spcPts val="0"/>
              </a:spcAft>
            </a:pPr>
            <a:r>
              <a:rPr lang="ko-KR" sz="1875" b="0">
                <a:solidFill>
                  <a:srgbClr val="101511"/>
                </a:solidFill>
                <a:latin typeface="Malgun Gothic"/>
                <a:ea typeface="Malgun Gothic"/>
                <a:cs typeface="Malgun Gothic"/>
              </a:rPr>
              <a:t>성장 40% / 거래 35% / 경쟁 여건 25%</a:t>
            </a:r>
            <a:endParaRPr lang="ko-KR"/>
          </a:p>
          <a:p>
            <a:pPr algn="l">
              <a:lnSpc>
                <a:spcPct val="135000"/>
              </a:lnSpc>
              <a:spcAft>
                <a:spcPts val="0"/>
              </a:spcAft>
            </a:pPr>
            <a:r>
              <a:rPr lang="ko-KR" sz="1875" b="0">
                <a:solidFill>
                  <a:srgbClr val="101511"/>
                </a:solidFill>
                <a:latin typeface="Malgun Gothic"/>
                <a:ea typeface="Malgun Gothic"/>
                <a:cs typeface="Malgun Gothic"/>
              </a:rPr>
              <a:t>성공 확률이 아닌 탐색 우선순위</a:t>
            </a:r>
            <a:endParaRPr lang="ko-KR"/>
          </a:p>
        </p:txBody>
      </p:sp>
      <p:sp>
        <p:nvSpPr>
          <p:cNvPr id="10" name="Panel 10"/>
          <p:cNvSpPr/>
          <p:nvPr/>
        </p:nvSpPr>
        <p:spPr>
          <a:xfrm>
            <a:off x="685800" y="8077200"/>
            <a:ext cx="13868400" cy="14288"/>
          </a:xfrm>
          <a:prstGeom prst="rect">
            <a:avLst/>
          </a:prstGeom>
          <a:solidFill>
            <a:srgbClr val="CCD0C7"/>
          </a:solidFill>
          <a:ln w="0">
            <a:noFill/>
          </a:ln>
        </p:spPr>
      </p:sp>
      <p:sp>
        <p:nvSpPr>
          <p:cNvPr id="11"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2" name="08"/>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21</a:t>
            </a:r>
            <a:endParaRPr lang="ko-KR" sz="172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탐색"/>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탐색</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비교 트레이: 관심 후보를 모으는 공간"/>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비교 트레이: 관심 후보를 모으는 공간</a:t>
            </a:r>
            <a:endParaRPr lang="ko-KR" sz="3600"/>
          </a:p>
        </p:txBody>
      </p:sp>
      <p:sp>
        <p:nvSpPr>
          <p:cNvPr id="5" name="제공 화면은 선택 전 상태이며, 후보를 담으면 이름 칩과 관리 버튼이 표시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화면 예시처럼 후보 5개를 담아 두고, 최대 7개 중 3개씩 비교합니다.</a:t>
            </a:r>
            <a:endParaRPr lang="ko-KR"/>
          </a:p>
        </p:txBody>
      </p:sp>
      <p:pic>
        <p:nvPicPr>
          <p:cNvPr id="6" name="준비자료/스크린샷/초기화면_시작.png" descr="준비자료/스크린샷/초기화면_시작.png"/>
          <p:cNvPicPr>
            <a:picLocks noChangeAspect="1"/>
          </p:cNvPicPr>
          <p:nvPr/>
        </p:nvPicPr>
        <p:blipFill>
          <a:blip r:embed="rId3"/>
          <a:stretch>
            <a:fillRect/>
          </a:stretch>
        </p:blipFill>
        <p:spPr>
          <a:xfrm>
            <a:off x="1327514" y="2419350"/>
            <a:ext cx="12584972" cy="1889694"/>
          </a:xfrm>
          <a:prstGeom prst="rect">
            <a:avLst/>
          </a:prstGeom>
          <a:ln>
            <a:noFill/>
          </a:ln>
        </p:spPr>
      </p:pic>
      <p:sp>
        <p:nvSpPr>
          <p:cNvPr id="7" name="최대 7개 보관"/>
          <p:cNvSpPr txBox="1"/>
          <p:nvPr/>
        </p:nvSpPr>
        <p:spPr>
          <a:xfrm>
            <a:off x="762000" y="4981575"/>
            <a:ext cx="426720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최대 7개 보관</a:t>
            </a:r>
            <a:endParaRPr lang="ko-KR" sz="2325"/>
          </a:p>
        </p:txBody>
      </p:sp>
      <p:sp>
        <p:nvSpPr>
          <p:cNvPr id="8" name="비교 버튼으로 후보를 추가·제외 선택 개수와 상권 이름을 표시"/>
          <p:cNvSpPr txBox="1"/>
          <p:nvPr/>
        </p:nvSpPr>
        <p:spPr>
          <a:xfrm>
            <a:off x="762000" y="5505450"/>
            <a:ext cx="4267200" cy="952500"/>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비교 버튼으로 후보를 추가·제외</a:t>
            </a:r>
            <a:endParaRPr lang="ko-KR" sz="2100"/>
          </a:p>
          <a:p>
            <a:pPr algn="l">
              <a:lnSpc>
                <a:spcPct val="125000"/>
              </a:lnSpc>
              <a:spcAft>
                <a:spcPts val="0"/>
              </a:spcAft>
            </a:pPr>
            <a:r>
              <a:rPr lang="ko-KR" sz="2100" b="0">
                <a:solidFill>
                  <a:srgbClr val="101511"/>
                </a:solidFill>
                <a:latin typeface="Malgun Gothic"/>
                <a:ea typeface="Malgun Gothic"/>
                <a:cs typeface="Malgun Gothic"/>
              </a:rPr>
              <a:t>선택 개수와 상권 이름을 표시</a:t>
            </a:r>
            <a:endParaRPr lang="ko-KR" sz="2100"/>
          </a:p>
        </p:txBody>
      </p:sp>
      <p:sp>
        <p:nvSpPr>
          <p:cNvPr id="9" name="선택 관리"/>
          <p:cNvSpPr txBox="1"/>
          <p:nvPr/>
        </p:nvSpPr>
        <p:spPr>
          <a:xfrm>
            <a:off x="5514975" y="4981575"/>
            <a:ext cx="426720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선택 관리</a:t>
            </a:r>
            <a:endParaRPr lang="ko-KR" sz="2325"/>
          </a:p>
        </p:txBody>
      </p:sp>
      <p:sp>
        <p:nvSpPr>
          <p:cNvPr id="10" name="이름 옆 ×로 개별 후보 제거 선택 초기화로 전체 해제"/>
          <p:cNvSpPr txBox="1"/>
          <p:nvPr/>
        </p:nvSpPr>
        <p:spPr>
          <a:xfrm>
            <a:off x="5514975" y="5505450"/>
            <a:ext cx="4267200" cy="952500"/>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이름 옆 ×로 개별 후보 제거</a:t>
            </a:r>
            <a:endParaRPr lang="ko-KR" sz="2100"/>
          </a:p>
          <a:p>
            <a:pPr algn="l">
              <a:lnSpc>
                <a:spcPct val="125000"/>
              </a:lnSpc>
              <a:spcAft>
                <a:spcPts val="0"/>
              </a:spcAft>
            </a:pPr>
            <a:r>
              <a:rPr lang="ko-KR" sz="2100" b="0">
                <a:solidFill>
                  <a:srgbClr val="101511"/>
                </a:solidFill>
                <a:latin typeface="Malgun Gothic"/>
                <a:ea typeface="Malgun Gothic"/>
                <a:cs typeface="Malgun Gothic"/>
              </a:rPr>
              <a:t>선택 초기화로 전체 해제</a:t>
            </a:r>
            <a:endParaRPr lang="ko-KR" sz="2100"/>
          </a:p>
        </p:txBody>
      </p:sp>
      <p:sp>
        <p:nvSpPr>
          <p:cNvPr id="11" name="비교 화면으로 이동"/>
          <p:cNvSpPr txBox="1"/>
          <p:nvPr/>
        </p:nvSpPr>
        <p:spPr>
          <a:xfrm>
            <a:off x="10267950" y="4981575"/>
            <a:ext cx="426720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비교 화면으로 이동</a:t>
            </a:r>
            <a:endParaRPr lang="ko-KR" sz="2325"/>
          </a:p>
        </p:txBody>
      </p:sp>
      <p:sp>
        <p:nvSpPr>
          <p:cNvPr id="12" name="후보가 있을 때 비교 버튼 활성화 보관한 후보 중 3개씩 나란히 확인"/>
          <p:cNvSpPr txBox="1"/>
          <p:nvPr/>
        </p:nvSpPr>
        <p:spPr>
          <a:xfrm>
            <a:off x="10267950" y="5505450"/>
            <a:ext cx="4267200" cy="952500"/>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후보가 있을 때 비교 버튼 활성화</a:t>
            </a:r>
            <a:endParaRPr lang="ko-KR" sz="2100"/>
          </a:p>
          <a:p>
            <a:pPr algn="l">
              <a:lnSpc>
                <a:spcPct val="125000"/>
              </a:lnSpc>
              <a:spcAft>
                <a:spcPts val="0"/>
              </a:spcAft>
            </a:pPr>
            <a:r>
              <a:rPr lang="ko-KR" sz="2100" b="0">
                <a:solidFill>
                  <a:srgbClr val="101511"/>
                </a:solidFill>
                <a:latin typeface="Malgun Gothic"/>
                <a:ea typeface="Malgun Gothic"/>
                <a:cs typeface="Malgun Gothic"/>
              </a:rPr>
              <a:t>보관한 후보 중 3개씩 나란히 확인</a:t>
            </a:r>
            <a:endParaRPr lang="ko-KR" sz="2100"/>
          </a:p>
        </p:txBody>
      </p:sp>
      <p:sp>
        <p:nvSpPr>
          <p:cNvPr id="13" name="Panel 13"/>
          <p:cNvSpPr/>
          <p:nvPr/>
        </p:nvSpPr>
        <p:spPr>
          <a:xfrm>
            <a:off x="762000" y="6953250"/>
            <a:ext cx="13763625" cy="14288"/>
          </a:xfrm>
          <a:prstGeom prst="rect">
            <a:avLst/>
          </a:prstGeom>
          <a:solidFill>
            <a:srgbClr val="101511"/>
          </a:solidFill>
          <a:ln w="0">
            <a:noFill/>
          </a:ln>
        </p:spPr>
      </p:sp>
      <p:sp>
        <p:nvSpPr>
          <p:cNvPr id="14" name="후보 보관 상태는 탐색·상세·비교 화면의 헤더와 연결됩니다."/>
          <p:cNvSpPr txBox="1"/>
          <p:nvPr/>
        </p:nvSpPr>
        <p:spPr>
          <a:xfrm>
            <a:off x="762000" y="7305675"/>
            <a:ext cx="13763625" cy="523875"/>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업종·분기를 바꿀 때 초기화를 확인해, 서로 다른 비교 기준이 섞이지 않게 합니다.</a:t>
            </a:r>
            <a:endParaRPr lang="ko-KR"/>
          </a:p>
        </p:txBody>
      </p:sp>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09"/>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22</a:t>
            </a:r>
            <a:endParaRPr lang="ko-KR" sz="172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상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상세</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상세 화면: 탐색 점수와 경쟁 요약"/>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상세 화면: 탐색 점수와 경쟁 요약</a:t>
            </a:r>
            <a:endParaRPr lang="ko-KR" sz="3600"/>
          </a:p>
        </p:txBody>
      </p:sp>
      <p:sp>
        <p:nvSpPr>
          <p:cNvPr id="5" name="분석 대상 확인 · 구산역 / 커피·음료 / 2025 Q4"/>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분석 대상 확인 · 구산역 / 커피·음료 / 2026 Q2</a:t>
            </a:r>
            <a:endParaRPr lang="ko-KR"/>
          </a:p>
        </p:txBody>
      </p:sp>
      <p:pic>
        <p:nvPicPr>
          <p:cNvPr id="6" name="준비자료/스크린샷/상세.png" descr="준비자료/스크린샷/상세.png"/>
          <p:cNvPicPr>
            <a:picLocks noChangeAspect="1"/>
          </p:cNvPicPr>
          <p:nvPr/>
        </p:nvPicPr>
        <p:blipFill>
          <a:blip r:embed="rId3"/>
          <a:stretch>
            <a:fillRect/>
          </a:stretch>
        </p:blipFill>
        <p:spPr>
          <a:xfrm>
            <a:off x="685800" y="2073153"/>
            <a:ext cx="8858250" cy="3102218"/>
          </a:xfrm>
          <a:prstGeom prst="rect">
            <a:avLst/>
          </a:prstGeom>
          <a:ln>
            <a:noFill/>
          </a:ln>
        </p:spPr>
      </p:pic>
      <p:sp>
        <p:nvSpPr>
          <p:cNvPr id="7" name="분석 대상과 복귀"/>
          <p:cNvSpPr txBox="1"/>
          <p:nvPr/>
        </p:nvSpPr>
        <p:spPr>
          <a:xfrm>
            <a:off x="10001250" y="2343150"/>
            <a:ext cx="4514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dirty="0">
                <a:solidFill>
                  <a:srgbClr val="101511"/>
                </a:solidFill>
                <a:latin typeface="Malgun Gothic"/>
                <a:ea typeface="Malgun Gothic"/>
                <a:cs typeface="Malgun Gothic"/>
              </a:rPr>
              <a:t>분석 대상과 복귀</a:t>
            </a:r>
            <a:endParaRPr lang="ko-KR" sz="2325" dirty="0"/>
          </a:p>
        </p:txBody>
      </p:sp>
      <p:sp>
        <p:nvSpPr>
          <p:cNvPr id="8" name="상권명·업종·분기를 명시 목록으로 돌아가 다른 후보 탐색"/>
          <p:cNvSpPr txBox="1"/>
          <p:nvPr/>
        </p:nvSpPr>
        <p:spPr>
          <a:xfrm>
            <a:off x="10001250" y="2867025"/>
            <a:ext cx="4514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상권명·업종·분기를 확인</a:t>
            </a:r>
            <a:endParaRPr lang="ko-KR"/>
          </a:p>
          <a:p>
            <a:pPr algn="l">
              <a:lnSpc>
                <a:spcPct val="125000"/>
              </a:lnSpc>
              <a:spcAft>
                <a:spcPts val="0"/>
              </a:spcAft>
            </a:pPr>
            <a:r>
              <a:rPr lang="ko-KR" sz="1950" b="0">
                <a:solidFill>
                  <a:srgbClr val="101511"/>
                </a:solidFill>
                <a:latin typeface="Malgun Gothic"/>
                <a:ea typeface="Malgun Gothic"/>
                <a:cs typeface="Malgun Gothic"/>
              </a:rPr>
              <a:t>스크롤 중에는 헤더에 조회 조건 표시</a:t>
            </a:r>
            <a:endParaRPr lang="ko-KR"/>
          </a:p>
        </p:txBody>
      </p:sp>
      <p:sp>
        <p:nvSpPr>
          <p:cNvPr id="9" name="종합 점수와 근거"/>
          <p:cNvSpPr txBox="1"/>
          <p:nvPr/>
        </p:nvSpPr>
        <p:spPr>
          <a:xfrm>
            <a:off x="10001250" y="3905250"/>
            <a:ext cx="4514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종합 점수와 근거</a:t>
            </a:r>
            <a:endParaRPr lang="ko-KR" sz="2325"/>
          </a:p>
        </p:txBody>
      </p:sp>
      <p:sp>
        <p:nvSpPr>
          <p:cNvPr id="10" name="53/100 점수와 성장·거래 배지 상권 특성을 한 문장으로 요약"/>
          <p:cNvSpPr txBox="1"/>
          <p:nvPr/>
        </p:nvSpPr>
        <p:spPr>
          <a:xfrm>
            <a:off x="10001250" y="4429125"/>
            <a:ext cx="4514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87/100 점수와 성장·거래 근거</a:t>
            </a:r>
            <a:endParaRPr lang="ko-KR"/>
          </a:p>
          <a:p>
            <a:pPr algn="l">
              <a:lnSpc>
                <a:spcPct val="125000"/>
              </a:lnSpc>
              <a:spcAft>
                <a:spcPts val="0"/>
              </a:spcAft>
            </a:pPr>
            <a:r>
              <a:rPr lang="ko-KR" sz="1950" b="0">
                <a:solidFill>
                  <a:srgbClr val="101511"/>
                </a:solidFill>
                <a:latin typeface="Malgun Gothic"/>
                <a:ea typeface="Malgun Gothic"/>
                <a:cs typeface="Malgun Gothic"/>
              </a:rPr>
              <a:t>AI 설명은 기본 지표와 별도로 요청</a:t>
            </a:r>
            <a:endParaRPr lang="ko-KR"/>
          </a:p>
        </p:txBody>
      </p:sp>
      <p:sp>
        <p:nvSpPr>
          <p:cNvPr id="11" name="경쟁 요약 패널"/>
          <p:cNvSpPr txBox="1"/>
          <p:nvPr/>
        </p:nvSpPr>
        <p:spPr>
          <a:xfrm>
            <a:off x="10001250" y="5467350"/>
            <a:ext cx="4514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경쟁 요약 패널</a:t>
            </a:r>
            <a:endParaRPr lang="ko-KR" sz="2325"/>
          </a:p>
        </p:txBody>
      </p:sp>
      <p:sp>
        <p:nvSpPr>
          <p:cNvPr id="12" name="매출 수준·거래량·경쟁 관련 등급 추가 확인할 여건을 함께 표시"/>
          <p:cNvSpPr txBox="1"/>
          <p:nvPr/>
        </p:nvSpPr>
        <p:spPr>
          <a:xfrm>
            <a:off x="10001250" y="5991225"/>
            <a:ext cx="4514850" cy="952500"/>
          </a:xfrm>
          <a:prstGeom prst="rect">
            <a:avLst/>
          </a:prstGeom>
          <a:noFill/>
          <a:ln>
            <a:noFill/>
          </a:ln>
        </p:spPr>
        <p:txBody>
          <a:bodyPr wrap="square" lIns="0" tIns="0" rIns="0" bIns="0" anchor="t">
            <a:noAutofit/>
          </a:bodyPr>
          <a:lstStyle/>
          <a:p>
            <a:pPr algn="l">
              <a:lnSpc>
                <a:spcPct val="125000"/>
              </a:lnSpc>
              <a:spcAft>
                <a:spcPts val="0"/>
              </a:spcAft>
            </a:pPr>
            <a:r>
              <a:rPr lang="ko-KR" sz="1950" b="0">
                <a:solidFill>
                  <a:srgbClr val="101511"/>
                </a:solidFill>
                <a:latin typeface="Malgun Gothic"/>
                <a:ea typeface="Malgun Gothic"/>
                <a:cs typeface="Malgun Gothic"/>
              </a:rPr>
              <a:t>매출 수준·거래량·경쟁 여건 표시</a:t>
            </a:r>
            <a:endParaRPr lang="ko-KR"/>
          </a:p>
          <a:p>
            <a:pPr algn="l">
              <a:lnSpc>
                <a:spcPct val="125000"/>
              </a:lnSpc>
              <a:spcAft>
                <a:spcPts val="0"/>
              </a:spcAft>
            </a:pPr>
            <a:r>
              <a:rPr lang="ko-KR" sz="1950" b="0">
                <a:solidFill>
                  <a:srgbClr val="101511"/>
                </a:solidFill>
                <a:latin typeface="Malgun Gothic"/>
                <a:ea typeface="Malgun Gothic"/>
                <a:cs typeface="Malgun Gothic"/>
              </a:rPr>
              <a:t>경쟁 여건은 좋음·보통·나쁨으로 안내</a:t>
            </a:r>
            <a:endParaRPr lang="ko-KR"/>
          </a:p>
        </p:txBody>
      </p:sp>
      <p:sp>
        <p:nvSpPr>
          <p:cNvPr id="13" name="탐색 점수는 창업 성공 확률이나 수익을 보장하지 않습니다."/>
          <p:cNvSpPr txBox="1"/>
          <p:nvPr/>
        </p:nvSpPr>
        <p:spPr>
          <a:xfrm>
            <a:off x="762000" y="7210425"/>
            <a:ext cx="13763625" cy="466725"/>
          </a:xfrm>
          <a:prstGeom prst="rect">
            <a:avLst/>
          </a:prstGeom>
          <a:noFill/>
          <a:ln>
            <a:noFill/>
          </a:ln>
        </p:spPr>
        <p:txBody>
          <a:bodyPr wrap="square" lIns="0" tIns="0" rIns="0" bIns="0" anchor="t">
            <a:noAutofit/>
          </a:bodyPr>
          <a:lstStyle/>
          <a:p>
            <a:pPr algn="l">
              <a:lnSpc>
                <a:spcPct val="120000"/>
              </a:lnSpc>
              <a:spcAft>
                <a:spcPts val="0"/>
              </a:spcAft>
            </a:pPr>
            <a:r>
              <a:rPr lang="ko-KR" sz="2175" b="1">
                <a:solidFill>
                  <a:srgbClr val="101511"/>
                </a:solidFill>
                <a:latin typeface="Malgun Gothic"/>
                <a:ea typeface="Malgun Gothic"/>
                <a:cs typeface="Malgun Gothic"/>
              </a:rPr>
              <a:t>탐색 점수는 창업 성공 확률이나 수익을 보장하지 않습니다.</a:t>
            </a:r>
            <a:endParaRPr lang="ko-KR" sz="2175"/>
          </a:p>
        </p:txBody>
      </p:sp>
      <p:sp>
        <p:nvSpPr>
          <p:cNvPr id="14" name="표현 정리 항목: 화면의 경쟁 강도와 서버의 경쟁 여건 정의를 통일합니다."/>
          <p:cNvSpPr txBox="1"/>
          <p:nvPr/>
        </p:nvSpPr>
        <p:spPr>
          <a:xfrm>
            <a:off x="762000" y="7715250"/>
            <a:ext cx="13763625" cy="295275"/>
          </a:xfrm>
          <a:prstGeom prst="rect">
            <a:avLst/>
          </a:prstGeom>
          <a:noFill/>
          <a:ln>
            <a:noFill/>
          </a:ln>
        </p:spPr>
        <p:txBody>
          <a:bodyPr wrap="square" lIns="0" tIns="0" rIns="0" bIns="0" anchor="t">
            <a:noAutofit/>
          </a:bodyPr>
          <a:lstStyle/>
          <a:p>
            <a:pPr algn="l">
              <a:lnSpc>
                <a:spcPct val="120000"/>
              </a:lnSpc>
              <a:spcAft>
                <a:spcPts val="0"/>
              </a:spcAft>
            </a:pPr>
            <a:r>
              <a:rPr lang="ko-KR" sz="1500" b="0">
                <a:solidFill>
                  <a:srgbClr val="66716B"/>
                </a:solidFill>
                <a:latin typeface="Malgun Gothic"/>
                <a:ea typeface="Malgun Gothic"/>
                <a:cs typeface="Malgun Gothic"/>
              </a:rPr>
              <a:t>캡처는 AI 문장을 기다리는 상태이며, 기본 점수와 지표는 먼저 표시됩니다.</a:t>
            </a:r>
            <a:endParaRPr lang="ko-KR"/>
          </a:p>
        </p:txBody>
      </p:sp>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0"/>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23</a:t>
            </a:r>
            <a:endParaRPr lang="ko-KR" sz="1725"/>
          </a:p>
        </p:txBody>
      </p:sp>
      <p:pic>
        <p:nvPicPr>
          <p:cNvPr id="19" name="그림 18">
            <a:extLst>
              <a:ext uri="{FF2B5EF4-FFF2-40B4-BE49-F238E27FC236}">
                <a16:creationId xmlns:a16="http://schemas.microsoft.com/office/drawing/2014/main" id="{8142E036-CE20-404F-9D9A-70C4A64827F5}"/>
              </a:ext>
            </a:extLst>
          </p:cNvPr>
          <p:cNvPicPr>
            <a:picLocks noChangeAspect="1"/>
          </p:cNvPicPr>
          <p:nvPr/>
        </p:nvPicPr>
        <p:blipFill>
          <a:blip r:embed="rId4"/>
          <a:stretch>
            <a:fillRect/>
          </a:stretch>
        </p:blipFill>
        <p:spPr>
          <a:xfrm>
            <a:off x="685800" y="5413375"/>
            <a:ext cx="8331200" cy="1663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상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상세</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핵심 지표와 서울 상권 순위"/>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핵심 지표와 서울 상권 순위</a:t>
            </a:r>
            <a:endParaRPr lang="ko-KR" sz="3600"/>
          </a:p>
        </p:txBody>
      </p:sp>
      <p:sp>
        <p:nvSpPr>
          <p:cNvPr id="5" name="규모·성장·종합 순위를 읽고, 순위 탭으로 비교 기준을 바꿉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규모·성장·종합 순위를 읽고, 순위 탭으로 비교 기준을 바꿉니다.</a:t>
            </a:r>
            <a:endParaRPr lang="ko-KR" sz="1650"/>
          </a:p>
        </p:txBody>
      </p:sp>
      <p:pic>
        <p:nvPicPr>
          <p:cNvPr id="6" name="준비자료/스크린샷/상세.png" descr="준비자료/스크린샷/상세.png"/>
          <p:cNvPicPr>
            <a:picLocks noChangeAspect="1"/>
          </p:cNvPicPr>
          <p:nvPr/>
        </p:nvPicPr>
        <p:blipFill>
          <a:blip r:embed="rId3"/>
          <a:stretch>
            <a:fillRect/>
          </a:stretch>
        </p:blipFill>
        <p:spPr>
          <a:xfrm>
            <a:off x="2127274" y="2257425"/>
            <a:ext cx="10985452" cy="1271044"/>
          </a:xfrm>
          <a:prstGeom prst="rect">
            <a:avLst/>
          </a:prstGeom>
          <a:ln>
            <a:noFill/>
          </a:ln>
        </p:spPr>
      </p:pic>
      <p:pic>
        <p:nvPicPr>
          <p:cNvPr id="7" name="준비자료/스크린샷/상세.png" descr="준비자료/스크린샷/상세.png"/>
          <p:cNvPicPr>
            <a:picLocks noChangeAspect="1"/>
          </p:cNvPicPr>
          <p:nvPr/>
        </p:nvPicPr>
        <p:blipFill>
          <a:blip r:embed="rId4"/>
          <a:stretch>
            <a:fillRect/>
          </a:stretch>
        </p:blipFill>
        <p:spPr>
          <a:xfrm>
            <a:off x="1310871" y="3762375"/>
            <a:ext cx="4483908" cy="4168597"/>
          </a:xfrm>
          <a:prstGeom prst="rect">
            <a:avLst/>
          </a:prstGeom>
          <a:ln>
            <a:noFill/>
          </a:ln>
        </p:spPr>
      </p:pic>
      <p:sp>
        <p:nvSpPr>
          <p:cNvPr id="8" name="핵심 지표 4칸"/>
          <p:cNvSpPr txBox="1"/>
          <p:nvPr/>
        </p:nvSpPr>
        <p:spPr>
          <a:xfrm>
            <a:off x="6915150" y="3810000"/>
            <a:ext cx="76009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핵심 지표 4칸</a:t>
            </a:r>
            <a:endParaRPr lang="ko-KR" sz="2325"/>
          </a:p>
        </p:txBody>
      </p:sp>
      <p:sp>
        <p:nvSpPr>
          <p:cNvPr id="9" name="추정 분기 매출 4.8억 원 · 거래 11만 건 종합 순위 161위 · 전분기 매출 -21.1%"/>
          <p:cNvSpPr txBox="1"/>
          <p:nvPr/>
        </p:nvSpPr>
        <p:spPr>
          <a:xfrm>
            <a:off x="6915150" y="4333875"/>
            <a:ext cx="7600950" cy="952500"/>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추정 분기 매출 8.0억 원 · 거래 18만 건</a:t>
            </a:r>
            <a:endParaRPr lang="ko-KR"/>
          </a:p>
          <a:p>
            <a:pPr algn="l">
              <a:lnSpc>
                <a:spcPct val="125000"/>
              </a:lnSpc>
              <a:spcAft>
                <a:spcPts val="0"/>
              </a:spcAft>
            </a:pPr>
            <a:r>
              <a:rPr lang="ko-KR" sz="2100" b="0">
                <a:solidFill>
                  <a:srgbClr val="101511"/>
                </a:solidFill>
                <a:latin typeface="Malgun Gothic"/>
                <a:ea typeface="Malgun Gothic"/>
                <a:cs typeface="Malgun Gothic"/>
              </a:rPr>
              <a:t>종합 순위 3위 · 전분기 매출 +80.9%</a:t>
            </a:r>
            <a:endParaRPr lang="ko-KR"/>
          </a:p>
        </p:txBody>
      </p:sp>
      <p:sp>
        <p:nvSpPr>
          <p:cNvPr id="10" name="순위 기준 4개"/>
          <p:cNvSpPr txBox="1"/>
          <p:nvPr/>
        </p:nvSpPr>
        <p:spPr>
          <a:xfrm>
            <a:off x="6915150" y="5257800"/>
            <a:ext cx="76009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순위 기준 4개</a:t>
            </a:r>
            <a:endParaRPr lang="ko-KR" sz="2325"/>
          </a:p>
        </p:txBody>
      </p:sp>
      <p:sp>
        <p:nvSpPr>
          <p:cNvPr id="11" name="매출 / 거래건수 / 성장률 / 탐색점수 같은 업종·분기의 상위 5개 상권 표시"/>
          <p:cNvSpPr txBox="1"/>
          <p:nvPr/>
        </p:nvSpPr>
        <p:spPr>
          <a:xfrm>
            <a:off x="6915150" y="5781675"/>
            <a:ext cx="7600950" cy="952500"/>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매출 / 거래건수 / 성장률 / 탐색점수</a:t>
            </a:r>
            <a:endParaRPr lang="ko-KR" sz="2100"/>
          </a:p>
          <a:p>
            <a:pPr algn="l">
              <a:lnSpc>
                <a:spcPct val="125000"/>
              </a:lnSpc>
              <a:spcAft>
                <a:spcPts val="0"/>
              </a:spcAft>
            </a:pPr>
            <a:r>
              <a:rPr lang="ko-KR" sz="2100" b="0">
                <a:solidFill>
                  <a:srgbClr val="101511"/>
                </a:solidFill>
                <a:latin typeface="Malgun Gothic"/>
                <a:ea typeface="Malgun Gothic"/>
                <a:cs typeface="Malgun Gothic"/>
              </a:rPr>
              <a:t>같은 업종·분기의 상위 5개 상권 표시</a:t>
            </a:r>
            <a:endParaRPr lang="ko-KR" sz="2100"/>
          </a:p>
        </p:txBody>
      </p:sp>
      <p:sp>
        <p:nvSpPr>
          <p:cNvPr id="12" name="다른 상권과 현재 위치"/>
          <p:cNvSpPr txBox="1"/>
          <p:nvPr/>
        </p:nvSpPr>
        <p:spPr>
          <a:xfrm>
            <a:off x="6915150" y="6705600"/>
            <a:ext cx="76009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다른 상권과 현재 위치</a:t>
            </a:r>
            <a:endParaRPr lang="ko-KR" sz="2325"/>
          </a:p>
        </p:txBody>
      </p:sp>
      <p:sp>
        <p:nvSpPr>
          <p:cNvPr id="13" name="행을 누르면 해당 상권 상세로 이동 현재 상권의 순위와 매출 상위 비율 참고"/>
          <p:cNvSpPr txBox="1"/>
          <p:nvPr/>
        </p:nvSpPr>
        <p:spPr>
          <a:xfrm>
            <a:off x="6915150" y="7229475"/>
            <a:ext cx="7600950" cy="752475"/>
          </a:xfrm>
          <a:prstGeom prst="rect">
            <a:avLst/>
          </a:prstGeom>
          <a:noFill/>
          <a:ln>
            <a:noFill/>
          </a:ln>
        </p:spPr>
        <p:txBody>
          <a:bodyPr wrap="square" lIns="0" tIns="0" rIns="0" bIns="0" anchor="t">
            <a:noAutofit/>
          </a:bodyPr>
          <a:lstStyle/>
          <a:p>
            <a:pPr algn="l">
              <a:lnSpc>
                <a:spcPct val="125000"/>
              </a:lnSpc>
              <a:spcAft>
                <a:spcPts val="0"/>
              </a:spcAft>
            </a:pPr>
            <a:r>
              <a:rPr lang="ko-KR" sz="2025" b="0">
                <a:solidFill>
                  <a:srgbClr val="101511"/>
                </a:solidFill>
                <a:latin typeface="Malgun Gothic"/>
                <a:ea typeface="Malgun Gothic"/>
                <a:cs typeface="Malgun Gothic"/>
              </a:rPr>
              <a:t>막대를 눌러 다른 상권 상세로 이동</a:t>
            </a:r>
            <a:endParaRPr lang="ko-KR"/>
          </a:p>
          <a:p>
            <a:pPr algn="l">
              <a:lnSpc>
                <a:spcPct val="125000"/>
              </a:lnSpc>
              <a:spcAft>
                <a:spcPts val="0"/>
              </a:spcAft>
            </a:pPr>
            <a:r>
              <a:rPr lang="ko-KR" sz="2025" b="0">
                <a:solidFill>
                  <a:srgbClr val="101511"/>
                </a:solidFill>
                <a:latin typeface="Malgun Gothic"/>
                <a:ea typeface="Malgun Gothic"/>
                <a:cs typeface="Malgun Gothic"/>
              </a:rPr>
              <a:t>탭마다 해당 지표의 상위 비율 확인</a:t>
            </a:r>
            <a:endParaRPr lang="ko-KR"/>
          </a:p>
        </p:txBody>
      </p:sp>
      <p:sp>
        <p:nvSpPr>
          <p:cNvPr id="14" name="Panel 14"/>
          <p:cNvSpPr/>
          <p:nvPr/>
        </p:nvSpPr>
        <p:spPr>
          <a:xfrm>
            <a:off x="685800" y="8077200"/>
            <a:ext cx="13868400" cy="14288"/>
          </a:xfrm>
          <a:prstGeom prst="rect">
            <a:avLst/>
          </a:prstGeom>
          <a:solidFill>
            <a:srgbClr val="CCD0C7"/>
          </a:solidFill>
          <a:ln w="0">
            <a:noFill/>
          </a:ln>
        </p:spPr>
      </p:sp>
      <p:sp>
        <p:nvSpPr>
          <p:cNvPr id="15"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6" name="11"/>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24</a:t>
            </a:r>
            <a:endParaRPr lang="ko-KR" sz="172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상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상세</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소비 패턴: 언제, 누가 많이 소비하는가"/>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소비 패턴: 언제, 누가 많이 소비하는가</a:t>
            </a:r>
            <a:endParaRPr lang="ko-KR" sz="3600"/>
          </a:p>
        </p:txBody>
      </p:sp>
      <p:sp>
        <p:nvSpPr>
          <p:cNvPr id="5" name="차트의 분포, 강조 구간, 한 줄 해석을 함께 읽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차트의 분포, 강조 구간, 한 줄 해석을 함께 읽습니다.</a:t>
            </a:r>
            <a:endParaRPr lang="ko-KR" sz="1650"/>
          </a:p>
        </p:txBody>
      </p:sp>
      <p:pic>
        <p:nvPicPr>
          <p:cNvPr id="6" name="준비자료/스크린샷/상세.png" descr="준비자료/스크린샷/상세.png"/>
          <p:cNvPicPr>
            <a:picLocks noChangeAspect="1"/>
          </p:cNvPicPr>
          <p:nvPr/>
        </p:nvPicPr>
        <p:blipFill>
          <a:blip r:embed="rId3"/>
          <a:stretch>
            <a:fillRect/>
          </a:stretch>
        </p:blipFill>
        <p:spPr>
          <a:xfrm>
            <a:off x="1380300" y="2238375"/>
            <a:ext cx="5088000" cy="4715579"/>
          </a:xfrm>
          <a:prstGeom prst="rect">
            <a:avLst/>
          </a:prstGeom>
          <a:ln>
            <a:noFill/>
          </a:ln>
        </p:spPr>
      </p:pic>
      <p:pic>
        <p:nvPicPr>
          <p:cNvPr id="7" name="준비자료/스크린샷/상세.png" descr="준비자료/스크린샷/상세.png"/>
          <p:cNvPicPr>
            <a:picLocks noChangeAspect="1"/>
          </p:cNvPicPr>
          <p:nvPr/>
        </p:nvPicPr>
        <p:blipFill>
          <a:blip r:embed="rId4"/>
          <a:stretch>
            <a:fillRect/>
          </a:stretch>
        </p:blipFill>
        <p:spPr>
          <a:xfrm>
            <a:off x="8840187" y="2238375"/>
            <a:ext cx="4989126" cy="4880779"/>
          </a:xfrm>
          <a:prstGeom prst="rect">
            <a:avLst/>
          </a:prstGeom>
          <a:ln>
            <a:noFill/>
          </a:ln>
        </p:spPr>
      </p:pic>
      <p:sp>
        <p:nvSpPr>
          <p:cNvPr id="8" name="6개 시간대별 매출 비중 14–17시 피크를 강조해 운영 시간 검토"/>
          <p:cNvSpPr txBox="1"/>
          <p:nvPr/>
        </p:nvSpPr>
        <p:spPr>
          <a:xfrm>
            <a:off x="762000" y="7391400"/>
            <a:ext cx="6477000" cy="619125"/>
          </a:xfrm>
          <a:prstGeom prst="rect">
            <a:avLst/>
          </a:prstGeom>
          <a:noFill/>
          <a:ln>
            <a:noFill/>
          </a:ln>
        </p:spPr>
        <p:txBody>
          <a:bodyPr wrap="square" lIns="0" tIns="0" rIns="0" bIns="0" anchor="t">
            <a:noAutofit/>
          </a:bodyPr>
          <a:lstStyle/>
          <a:p>
            <a:pPr algn="l">
              <a:lnSpc>
                <a:spcPct val="118000"/>
              </a:lnSpc>
              <a:spcAft>
                <a:spcPts val="0"/>
              </a:spcAft>
            </a:pPr>
            <a:r>
              <a:rPr lang="ko-KR" sz="1950" b="0">
                <a:solidFill>
                  <a:srgbClr val="101511"/>
                </a:solidFill>
                <a:latin typeface="Malgun Gothic"/>
                <a:ea typeface="Malgun Gothic"/>
                <a:cs typeface="Malgun Gothic"/>
              </a:rPr>
              <a:t>6개 시간대별 매출 비중</a:t>
            </a:r>
            <a:endParaRPr lang="ko-KR" sz="1950"/>
          </a:p>
          <a:p>
            <a:pPr algn="l">
              <a:lnSpc>
                <a:spcPct val="118000"/>
              </a:lnSpc>
              <a:spcAft>
                <a:spcPts val="0"/>
              </a:spcAft>
            </a:pPr>
            <a:r>
              <a:rPr lang="ko-KR" sz="1950" b="0">
                <a:solidFill>
                  <a:srgbClr val="101511"/>
                </a:solidFill>
                <a:latin typeface="Malgun Gothic"/>
                <a:ea typeface="Malgun Gothic"/>
                <a:cs typeface="Malgun Gothic"/>
              </a:rPr>
              <a:t>14–17시 피크를 강조해 운영 시간 검토</a:t>
            </a:r>
            <a:endParaRPr lang="ko-KR" sz="1950"/>
          </a:p>
        </p:txBody>
      </p:sp>
      <p:sp>
        <p:nvSpPr>
          <p:cNvPr id="9" name="10대부터 60대+까지 매출 비중 주요 소비 연령은 50대, 비중은 23%"/>
          <p:cNvSpPr txBox="1"/>
          <p:nvPr/>
        </p:nvSpPr>
        <p:spPr>
          <a:xfrm>
            <a:off x="8172450" y="7391400"/>
            <a:ext cx="6334125" cy="619125"/>
          </a:xfrm>
          <a:prstGeom prst="rect">
            <a:avLst/>
          </a:prstGeom>
          <a:noFill/>
          <a:ln>
            <a:noFill/>
          </a:ln>
        </p:spPr>
        <p:txBody>
          <a:bodyPr wrap="square" lIns="0" tIns="0" rIns="0" bIns="0" anchor="t">
            <a:noAutofit/>
          </a:bodyPr>
          <a:lstStyle/>
          <a:p>
            <a:pPr algn="l">
              <a:lnSpc>
                <a:spcPct val="118000"/>
              </a:lnSpc>
              <a:spcAft>
                <a:spcPts val="0"/>
              </a:spcAft>
            </a:pPr>
            <a:r>
              <a:rPr lang="ko-KR" sz="1950" b="0">
                <a:solidFill>
                  <a:srgbClr val="101511"/>
                </a:solidFill>
                <a:latin typeface="Malgun Gothic"/>
                <a:ea typeface="Malgun Gothic"/>
                <a:cs typeface="Malgun Gothic"/>
              </a:rPr>
              <a:t>10대부터 60대+까지 매출 비중</a:t>
            </a:r>
            <a:endParaRPr lang="ko-KR"/>
          </a:p>
          <a:p>
            <a:pPr algn="l">
              <a:lnSpc>
                <a:spcPct val="118000"/>
              </a:lnSpc>
              <a:spcAft>
                <a:spcPts val="0"/>
              </a:spcAft>
            </a:pPr>
            <a:r>
              <a:rPr lang="ko-KR" sz="1950" b="0">
                <a:solidFill>
                  <a:srgbClr val="101511"/>
                </a:solidFill>
                <a:latin typeface="Malgun Gothic"/>
                <a:ea typeface="Malgun Gothic"/>
                <a:cs typeface="Malgun Gothic"/>
              </a:rPr>
              <a:t>주요 소비 연령은 50대, 비중은 25%</a:t>
            </a:r>
            <a:endParaRPr lang="ko-KR"/>
          </a:p>
        </p:txBody>
      </p:sp>
      <p:sp>
        <p:nvSpPr>
          <p:cNvPr id="10" name="Panel 10"/>
          <p:cNvSpPr/>
          <p:nvPr/>
        </p:nvSpPr>
        <p:spPr>
          <a:xfrm>
            <a:off x="685800" y="8077200"/>
            <a:ext cx="13868400" cy="14288"/>
          </a:xfrm>
          <a:prstGeom prst="rect">
            <a:avLst/>
          </a:prstGeom>
          <a:solidFill>
            <a:srgbClr val="CCD0C7"/>
          </a:solidFill>
          <a:ln w="0">
            <a:noFill/>
          </a:ln>
        </p:spPr>
      </p:sp>
      <p:sp>
        <p:nvSpPr>
          <p:cNvPr id="11"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2" name="12"/>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25</a:t>
            </a:r>
            <a:endParaRPr lang="ko-KR" sz="1725"/>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상세"/>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상세</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요일 패턴과 상권 인사이트"/>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요일 패턴과 AI 설명의 역할</a:t>
            </a:r>
            <a:endParaRPr lang="ko-KR"/>
          </a:p>
        </p:txBody>
      </p:sp>
      <p:sp>
        <p:nvSpPr>
          <p:cNvPr id="5" name="차트는 소비의 분포를, 인사이트는 수치의 의미를 설명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차트는 소비의 분포를, 인사이트는 수치의 의미를 설명합니다.</a:t>
            </a:r>
            <a:endParaRPr lang="ko-KR" sz="1650"/>
          </a:p>
        </p:txBody>
      </p:sp>
      <p:pic>
        <p:nvPicPr>
          <p:cNvPr id="6" name="준비자료/스크린샷/상세.png" descr="준비자료/스크린샷/상세.png"/>
          <p:cNvPicPr>
            <a:picLocks noChangeAspect="1"/>
          </p:cNvPicPr>
          <p:nvPr/>
        </p:nvPicPr>
        <p:blipFill>
          <a:blip r:embed="rId3"/>
          <a:stretch>
            <a:fillRect/>
          </a:stretch>
        </p:blipFill>
        <p:spPr>
          <a:xfrm>
            <a:off x="1426107" y="2286000"/>
            <a:ext cx="4996387" cy="4872765"/>
          </a:xfrm>
          <a:prstGeom prst="rect">
            <a:avLst/>
          </a:prstGeom>
          <a:ln>
            <a:noFill/>
          </a:ln>
        </p:spPr>
      </p:pic>
      <p:pic>
        <p:nvPicPr>
          <p:cNvPr id="7" name="준비자료/스크린샷/상세.png" descr="준비자료/스크린샷/상세.png"/>
          <p:cNvPicPr>
            <a:picLocks noChangeAspect="1"/>
          </p:cNvPicPr>
          <p:nvPr/>
        </p:nvPicPr>
        <p:blipFill>
          <a:blip r:embed="rId4"/>
          <a:stretch>
            <a:fillRect/>
          </a:stretch>
        </p:blipFill>
        <p:spPr>
          <a:xfrm>
            <a:off x="8640386" y="2286000"/>
            <a:ext cx="5064878" cy="3049722"/>
          </a:xfrm>
          <a:prstGeom prst="rect">
            <a:avLst/>
          </a:prstGeom>
          <a:ln>
            <a:noFill/>
          </a:ln>
        </p:spPr>
      </p:pic>
      <p:sp>
        <p:nvSpPr>
          <p:cNvPr id="8" name="월~일 매출 비중과 피크 요일 토요일은 요일 평균 대비 +21%"/>
          <p:cNvSpPr txBox="1"/>
          <p:nvPr/>
        </p:nvSpPr>
        <p:spPr>
          <a:xfrm>
            <a:off x="762000" y="7391400"/>
            <a:ext cx="6381750" cy="619125"/>
          </a:xfrm>
          <a:prstGeom prst="rect">
            <a:avLst/>
          </a:prstGeom>
          <a:noFill/>
          <a:ln>
            <a:noFill/>
          </a:ln>
        </p:spPr>
        <p:txBody>
          <a:bodyPr wrap="square" lIns="0" tIns="0" rIns="0" bIns="0" anchor="t">
            <a:noAutofit/>
          </a:bodyPr>
          <a:lstStyle/>
          <a:p>
            <a:pPr algn="l">
              <a:lnSpc>
                <a:spcPct val="118000"/>
              </a:lnSpc>
              <a:spcAft>
                <a:spcPts val="0"/>
              </a:spcAft>
            </a:pPr>
            <a:r>
              <a:rPr lang="ko-KR" sz="1950" b="0">
                <a:solidFill>
                  <a:srgbClr val="101511"/>
                </a:solidFill>
                <a:latin typeface="Malgun Gothic"/>
                <a:ea typeface="Malgun Gothic"/>
                <a:cs typeface="Malgun Gothic"/>
              </a:rPr>
              <a:t>월~일 매출 비중과 실제 평균선</a:t>
            </a:r>
            <a:endParaRPr lang="ko-KR"/>
          </a:p>
          <a:p>
            <a:pPr algn="l">
              <a:lnSpc>
                <a:spcPct val="118000"/>
              </a:lnSpc>
              <a:spcAft>
                <a:spcPts val="0"/>
              </a:spcAft>
            </a:pPr>
            <a:r>
              <a:rPr lang="ko-KR" sz="1950" b="0">
                <a:solidFill>
                  <a:srgbClr val="101511"/>
                </a:solidFill>
                <a:latin typeface="Malgun Gothic"/>
                <a:ea typeface="Malgun Gothic"/>
                <a:cs typeface="Malgun Gothic"/>
              </a:rPr>
              <a:t>토요일은 요일 평균 대비 +29%</a:t>
            </a:r>
            <a:endParaRPr lang="ko-KR"/>
          </a:p>
        </p:txBody>
      </p:sp>
      <p:sp>
        <p:nvSpPr>
          <p:cNvPr id="9" name="종합 문장 표시"/>
          <p:cNvSpPr txBox="1"/>
          <p:nvPr/>
        </p:nvSpPr>
        <p:spPr>
          <a:xfrm>
            <a:off x="7867650" y="5705475"/>
            <a:ext cx="66103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기본 지표와 별도 조회</a:t>
            </a:r>
            <a:endParaRPr lang="ko-KR"/>
          </a:p>
        </p:txBody>
      </p:sp>
      <p:sp>
        <p:nvSpPr>
          <p:cNvPr id="10" name="Gemini 생성 성공 시 AI INSIGHT 표시 생성 실패 시 규칙 기반 문장 제공"/>
          <p:cNvSpPr txBox="1"/>
          <p:nvPr/>
        </p:nvSpPr>
        <p:spPr>
          <a:xfrm>
            <a:off x="7867650" y="6229350"/>
            <a:ext cx="6610350" cy="952500"/>
          </a:xfrm>
          <a:prstGeom prst="rect">
            <a:avLst/>
          </a:prstGeom>
          <a:noFill/>
          <a:ln>
            <a:noFill/>
          </a:ln>
        </p:spPr>
        <p:txBody>
          <a:bodyPr wrap="square" lIns="0" tIns="0" rIns="0" bIns="0" anchor="t">
            <a:noAutofit/>
          </a:bodyPr>
          <a:lstStyle/>
          <a:p>
            <a:pPr algn="l">
              <a:lnSpc>
                <a:spcPct val="125000"/>
              </a:lnSpc>
              <a:spcAft>
                <a:spcPts val="0"/>
              </a:spcAft>
            </a:pPr>
            <a:r>
              <a:rPr lang="ko-KR" sz="2025" b="0">
                <a:solidFill>
                  <a:srgbClr val="101511"/>
                </a:solidFill>
                <a:latin typeface="Malgun Gothic"/>
                <a:ea typeface="Malgun Gothic"/>
                <a:cs typeface="Malgun Gothic"/>
              </a:rPr>
              <a:t>캡처는 AI 설명을 기다리는 화면</a:t>
            </a:r>
            <a:endParaRPr lang="ko-KR"/>
          </a:p>
          <a:p>
            <a:pPr algn="l">
              <a:lnSpc>
                <a:spcPct val="125000"/>
              </a:lnSpc>
              <a:spcAft>
                <a:spcPts val="0"/>
              </a:spcAft>
            </a:pPr>
            <a:r>
              <a:rPr lang="ko-KR" sz="2025" b="0">
                <a:solidFill>
                  <a:srgbClr val="101511"/>
                </a:solidFill>
                <a:latin typeface="Malgun Gothic"/>
                <a:ea typeface="Malgun Gothic"/>
                <a:cs typeface="Malgun Gothic"/>
              </a:rPr>
              <a:t>검증된 생성 문장 또는 대체 문장 제공</a:t>
            </a:r>
            <a:endParaRPr lang="ko-KR"/>
          </a:p>
        </p:txBody>
      </p:sp>
      <p:sp>
        <p:nvSpPr>
          <p:cNvPr id="11" name="차트 하단 해석과 비교표 요약은 규칙 기반입니다."/>
          <p:cNvSpPr txBox="1"/>
          <p:nvPr/>
        </p:nvSpPr>
        <p:spPr>
          <a:xfrm>
            <a:off x="7867650" y="7353300"/>
            <a:ext cx="6715125" cy="628650"/>
          </a:xfrm>
          <a:prstGeom prst="rect">
            <a:avLst/>
          </a:prstGeom>
          <a:noFill/>
          <a:ln>
            <a:noFill/>
          </a:ln>
        </p:spPr>
        <p:txBody>
          <a:bodyPr wrap="square" lIns="0" tIns="0" rIns="0" bIns="0" anchor="t">
            <a:noAutofit/>
          </a:bodyPr>
          <a:lstStyle/>
          <a:p>
            <a:pPr algn="l">
              <a:lnSpc>
                <a:spcPct val="120000"/>
              </a:lnSpc>
              <a:spcAft>
                <a:spcPts val="0"/>
              </a:spcAft>
            </a:pPr>
            <a:r>
              <a:rPr lang="ko-KR" sz="1875" b="1">
                <a:solidFill>
                  <a:srgbClr val="101511"/>
                </a:solidFill>
                <a:latin typeface="Malgun Gothic"/>
                <a:ea typeface="Malgun Gothic"/>
                <a:cs typeface="Malgun Gothic"/>
              </a:rPr>
              <a:t>AI 생성 문장에는 AI INSIGHT 표시</a:t>
            </a:r>
            <a:endParaRPr lang="ko-KR"/>
          </a:p>
          <a:p>
            <a:pPr algn="l">
              <a:lnSpc>
                <a:spcPct val="120000"/>
              </a:lnSpc>
              <a:spcAft>
                <a:spcPts val="0"/>
              </a:spcAft>
            </a:pPr>
            <a:r>
              <a:rPr lang="ko-KR" sz="1875" b="1">
                <a:solidFill>
                  <a:srgbClr val="101511"/>
                </a:solidFill>
                <a:latin typeface="Malgun Gothic"/>
                <a:ea typeface="Malgun Gothic"/>
                <a:cs typeface="Malgun Gothic"/>
              </a:rPr>
              <a:t>차트·비교표 요약은 규칙 기반</a:t>
            </a:r>
            <a:endParaRPr lang="ko-KR"/>
          </a:p>
        </p:txBody>
      </p:sp>
      <p:sp>
        <p:nvSpPr>
          <p:cNvPr id="12" name="Panel 12"/>
          <p:cNvSpPr/>
          <p:nvPr/>
        </p:nvSpPr>
        <p:spPr>
          <a:xfrm>
            <a:off x="685800" y="8077200"/>
            <a:ext cx="13868400" cy="14288"/>
          </a:xfrm>
          <a:prstGeom prst="rect">
            <a:avLst/>
          </a:prstGeom>
          <a:solidFill>
            <a:srgbClr val="CCD0C7"/>
          </a:solidFill>
          <a:ln w="0">
            <a:noFill/>
          </a:ln>
        </p:spPr>
      </p:sp>
      <p:sp>
        <p:nvSpPr>
          <p:cNvPr id="13"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4" name="13"/>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26</a:t>
            </a:r>
            <a:endParaRPr lang="ko-KR" sz="172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비교"/>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비교</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비교 화면: 7개 후보를 보관하고 3개씩 보기"/>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비교 화면: 7개 후보를 보관하고 3개씩 보기</a:t>
            </a:r>
            <a:endParaRPr lang="ko-KR" sz="3600"/>
          </a:p>
        </p:txBody>
      </p:sp>
      <p:sp>
        <p:nvSpPr>
          <p:cNvPr id="5" name="제공 화면 전체 · 구산역·봉은사역·마포역 / 커피·음료 / 2025 Q4"/>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같은 업종·분기로 비교 · 구산역·봉은사역·마포역 / 커피·음료 / 2026 Q2</a:t>
            </a:r>
            <a:endParaRPr lang="ko-KR"/>
          </a:p>
        </p:txBody>
      </p:sp>
      <p:pic>
        <p:nvPicPr>
          <p:cNvPr id="6" name="준비자료/스크린샷/비교.webp" descr="준비자료/스크린샷/비교.webp"/>
          <p:cNvPicPr>
            <a:picLocks noChangeAspect="1"/>
          </p:cNvPicPr>
          <p:nvPr/>
        </p:nvPicPr>
        <p:blipFill>
          <a:blip r:embed="rId3"/>
          <a:stretch>
            <a:fillRect/>
          </a:stretch>
        </p:blipFill>
        <p:spPr>
          <a:xfrm>
            <a:off x="1334905" y="2247900"/>
            <a:ext cx="5616940" cy="5475015"/>
          </a:xfrm>
          <a:prstGeom prst="rect">
            <a:avLst/>
          </a:prstGeom>
          <a:ln>
            <a:noFill/>
          </a:ln>
        </p:spPr>
      </p:pic>
      <p:sp>
        <p:nvSpPr>
          <p:cNvPr id="7" name="후보 칩과 열 헤더"/>
          <p:cNvSpPr txBox="1"/>
          <p:nvPr/>
        </p:nvSpPr>
        <p:spPr>
          <a:xfrm>
            <a:off x="8096250" y="2276475"/>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보관 후보와 표시 후보</a:t>
            </a:r>
            <a:endParaRPr lang="ko-KR"/>
          </a:p>
        </p:txBody>
      </p:sp>
      <p:sp>
        <p:nvSpPr>
          <p:cNvPr id="8" name="숨긴 상권은 상단의 보기로 다시 표시 각 열에 자치구와 상권명을 함께 표시"/>
          <p:cNvSpPr txBox="1"/>
          <p:nvPr/>
        </p:nvSpPr>
        <p:spPr>
          <a:xfrm>
            <a:off x="8096250" y="2800350"/>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2025" b="0">
                <a:solidFill>
                  <a:srgbClr val="101511"/>
                </a:solidFill>
                <a:latin typeface="Malgun Gothic"/>
                <a:ea typeface="Malgun Gothic"/>
                <a:cs typeface="Malgun Gothic"/>
              </a:rPr>
              <a:t>보관한 5개 중 3개를 표에 표시</a:t>
            </a:r>
            <a:endParaRPr lang="ko-KR"/>
          </a:p>
          <a:p>
            <a:pPr algn="l">
              <a:lnSpc>
                <a:spcPct val="125000"/>
              </a:lnSpc>
              <a:spcAft>
                <a:spcPts val="0"/>
              </a:spcAft>
            </a:pPr>
            <a:r>
              <a:rPr lang="ko-KR" sz="2025" b="0">
                <a:solidFill>
                  <a:srgbClr val="101511"/>
                </a:solidFill>
                <a:latin typeface="Malgun Gothic"/>
                <a:ea typeface="Malgun Gothic"/>
                <a:cs typeface="Malgun Gothic"/>
              </a:rPr>
              <a:t>나머지는 상권 추가 영역에서 다시 보기</a:t>
            </a:r>
            <a:endParaRPr lang="ko-KR"/>
          </a:p>
        </p:txBody>
      </p:sp>
      <p:sp>
        <p:nvSpPr>
          <p:cNvPr id="9" name="숨기기와 선택 해제"/>
          <p:cNvSpPr txBox="1"/>
          <p:nvPr/>
        </p:nvSpPr>
        <p:spPr>
          <a:xfrm>
            <a:off x="8096250" y="3781425"/>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숨기기와 선택 해제</a:t>
            </a:r>
            <a:endParaRPr lang="ko-KR" sz="2325"/>
          </a:p>
        </p:txBody>
      </p:sp>
      <p:sp>
        <p:nvSpPr>
          <p:cNvPr id="10" name="표의 휴지통은 해당 열 숨기기 트레이의 ×는 후보 선택 자체를 해제"/>
          <p:cNvSpPr txBox="1"/>
          <p:nvPr/>
        </p:nvSpPr>
        <p:spPr>
          <a:xfrm>
            <a:off x="8096250" y="4305300"/>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2025" b="0">
                <a:solidFill>
                  <a:srgbClr val="101511"/>
                </a:solidFill>
                <a:latin typeface="Malgun Gothic"/>
                <a:ea typeface="Malgun Gothic"/>
                <a:cs typeface="Malgun Gothic"/>
              </a:rPr>
              <a:t>표의 휴지통은 해당 열 숨기기</a:t>
            </a:r>
            <a:endParaRPr lang="ko-KR" sz="2025"/>
          </a:p>
          <a:p>
            <a:pPr algn="l">
              <a:lnSpc>
                <a:spcPct val="125000"/>
              </a:lnSpc>
              <a:spcAft>
                <a:spcPts val="0"/>
              </a:spcAft>
            </a:pPr>
            <a:r>
              <a:rPr lang="ko-KR" sz="2025" b="0">
                <a:solidFill>
                  <a:srgbClr val="101511"/>
                </a:solidFill>
                <a:latin typeface="Malgun Gothic"/>
                <a:ea typeface="Malgun Gothic"/>
                <a:cs typeface="Malgun Gothic"/>
              </a:rPr>
              <a:t>트레이의 ×는 후보 선택 자체를 해제</a:t>
            </a:r>
            <a:endParaRPr lang="ko-KR" sz="2025"/>
          </a:p>
        </p:txBody>
      </p:sp>
      <p:sp>
        <p:nvSpPr>
          <p:cNvPr id="11" name="최대 3개 열 표시"/>
          <p:cNvSpPr txBox="1"/>
          <p:nvPr/>
        </p:nvSpPr>
        <p:spPr>
          <a:xfrm>
            <a:off x="8096250" y="5286375"/>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최대 3개 열 표시</a:t>
            </a:r>
            <a:endParaRPr lang="ko-KR" sz="2325"/>
          </a:p>
        </p:txBody>
      </p:sp>
      <p:sp>
        <p:nvSpPr>
          <p:cNvPr id="12" name="3개가 보이면 추가 보기는 비활성화 한 열을 숨긴 뒤 다른 후보로 교체"/>
          <p:cNvSpPr txBox="1"/>
          <p:nvPr/>
        </p:nvSpPr>
        <p:spPr>
          <a:xfrm>
            <a:off x="8096250" y="5810250"/>
            <a:ext cx="6419850" cy="952500"/>
          </a:xfrm>
          <a:prstGeom prst="rect">
            <a:avLst/>
          </a:prstGeom>
          <a:noFill/>
          <a:ln>
            <a:noFill/>
          </a:ln>
        </p:spPr>
        <p:txBody>
          <a:bodyPr wrap="square" lIns="0" tIns="0" rIns="0" bIns="0" anchor="t">
            <a:noAutofit/>
          </a:bodyPr>
          <a:lstStyle/>
          <a:p>
            <a:pPr algn="l">
              <a:lnSpc>
                <a:spcPct val="125000"/>
              </a:lnSpc>
              <a:spcAft>
                <a:spcPts val="0"/>
              </a:spcAft>
            </a:pPr>
            <a:r>
              <a:rPr lang="ko-KR" sz="2025" b="0">
                <a:solidFill>
                  <a:srgbClr val="101511"/>
                </a:solidFill>
                <a:latin typeface="Malgun Gothic"/>
                <a:ea typeface="Malgun Gothic"/>
                <a:cs typeface="Malgun Gothic"/>
              </a:rPr>
              <a:t>3개가 보이면 추가 보기는 비활성화</a:t>
            </a:r>
            <a:endParaRPr lang="ko-KR" sz="2025"/>
          </a:p>
          <a:p>
            <a:pPr algn="l">
              <a:lnSpc>
                <a:spcPct val="125000"/>
              </a:lnSpc>
              <a:spcAft>
                <a:spcPts val="0"/>
              </a:spcAft>
            </a:pPr>
            <a:r>
              <a:rPr lang="ko-KR" sz="2025" b="0">
                <a:solidFill>
                  <a:srgbClr val="101511"/>
                </a:solidFill>
                <a:latin typeface="Malgun Gothic"/>
                <a:ea typeface="Malgun Gothic"/>
                <a:cs typeface="Malgun Gothic"/>
              </a:rPr>
              <a:t>한 열을 숨긴 뒤 다른 후보로 교체</a:t>
            </a:r>
            <a:endParaRPr lang="ko-KR" sz="2025"/>
          </a:p>
        </p:txBody>
      </p:sp>
      <p:sp>
        <p:nvSpPr>
          <p:cNvPr id="13" name="공통 헤더와 푸터"/>
          <p:cNvSpPr txBox="1"/>
          <p:nvPr/>
        </p:nvSpPr>
        <p:spPr>
          <a:xfrm>
            <a:off x="8096250" y="6791325"/>
            <a:ext cx="6419850"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표 초기화와 로딩 안내</a:t>
            </a:r>
            <a:endParaRPr lang="ko-KR"/>
          </a:p>
        </p:txBody>
      </p:sp>
      <p:sp>
        <p:nvSpPr>
          <p:cNvPr id="14" name="헤더에서 탐색·비교·산출 로직 접근 푸터에 서비스명·가중치·데이터 출처 표기"/>
          <p:cNvSpPr txBox="1"/>
          <p:nvPr/>
        </p:nvSpPr>
        <p:spPr>
          <a:xfrm>
            <a:off x="8096250" y="7315200"/>
            <a:ext cx="6419850" cy="6667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선택 초기화는 표의 표시만 비우기</a:t>
            </a:r>
            <a:endParaRPr lang="ko-KR"/>
          </a:p>
          <a:p>
            <a:pPr algn="l">
              <a:lnSpc>
                <a:spcPct val="125000"/>
              </a:lnSpc>
              <a:spcAft>
                <a:spcPts val="0"/>
              </a:spcAft>
            </a:pPr>
            <a:r>
              <a:rPr lang="ko-KR" sz="1875" b="0">
                <a:solidFill>
                  <a:srgbClr val="101511"/>
                </a:solidFill>
                <a:latin typeface="Malgun Gothic"/>
                <a:ea typeface="Malgun Gothic"/>
                <a:cs typeface="Malgun Gothic"/>
              </a:rPr>
              <a:t>조회 중에는 회색 자리표시자로 안내</a:t>
            </a:r>
            <a:endParaRPr lang="ko-KR"/>
          </a:p>
        </p:txBody>
      </p:sp>
      <p:sp>
        <p:nvSpPr>
          <p:cNvPr id="15" name="Panel 15"/>
          <p:cNvSpPr/>
          <p:nvPr/>
        </p:nvSpPr>
        <p:spPr>
          <a:xfrm>
            <a:off x="685800" y="8077200"/>
            <a:ext cx="13868400" cy="14288"/>
          </a:xfrm>
          <a:prstGeom prst="rect">
            <a:avLst/>
          </a:prstGeom>
          <a:solidFill>
            <a:srgbClr val="CCD0C7"/>
          </a:solidFill>
          <a:ln w="0">
            <a:noFill/>
          </a:ln>
        </p:spPr>
      </p:sp>
      <p:sp>
        <p:nvSpPr>
          <p:cNvPr id="16"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7" name="14"/>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27</a:t>
            </a:r>
            <a:endParaRPr lang="ko-KR" sz="1725"/>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비교"/>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비교</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정량 지표 비교: 규모·변화·점포 수"/>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정량 지표 비교: 규모·변화·점포 수</a:t>
            </a:r>
            <a:endParaRPr lang="ko-KR" sz="3600"/>
          </a:p>
        </p:txBody>
      </p:sp>
      <p:sp>
        <p:nvSpPr>
          <p:cNvPr id="5" name="종합 점수 하나와 각 지표의 차이를 함께 확인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종합 점수 하나와 각 지표의 차이를 함께 확인합니다.</a:t>
            </a:r>
            <a:endParaRPr lang="ko-KR" sz="1650"/>
          </a:p>
        </p:txBody>
      </p:sp>
      <p:pic>
        <p:nvPicPr>
          <p:cNvPr id="6" name="준비자료/스크린샷/비교.webp" descr="준비자료/스크린샷/비교.webp"/>
          <p:cNvPicPr>
            <a:picLocks noChangeAspect="1"/>
          </p:cNvPicPr>
          <p:nvPr/>
        </p:nvPicPr>
        <p:blipFill>
          <a:blip r:embed="rId3"/>
          <a:stretch>
            <a:fillRect/>
          </a:stretch>
        </p:blipFill>
        <p:spPr>
          <a:xfrm>
            <a:off x="2156171" y="2305050"/>
            <a:ext cx="10946708" cy="4298475"/>
          </a:xfrm>
          <a:prstGeom prst="rect">
            <a:avLst/>
          </a:prstGeom>
          <a:ln>
            <a:noFill/>
          </a:ln>
        </p:spPr>
      </p:pic>
      <p:sp>
        <p:nvSpPr>
          <p:cNvPr id="7" name="탐색 점수와 시장 규모"/>
          <p:cNvSpPr txBox="1"/>
          <p:nvPr/>
        </p:nvSpPr>
        <p:spPr>
          <a:xfrm>
            <a:off x="762000" y="6810375"/>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탐색 점수와 시장 규모</a:t>
            </a:r>
            <a:endParaRPr lang="ko-KR" sz="2325"/>
          </a:p>
        </p:txBody>
      </p:sp>
      <p:sp>
        <p:nvSpPr>
          <p:cNvPr id="8" name="점수 / 추정 분기 매출 / 거래 건수 상권별 상대적 규모를 나란히 확인"/>
          <p:cNvSpPr txBox="1"/>
          <p:nvPr/>
        </p:nvSpPr>
        <p:spPr>
          <a:xfrm>
            <a:off x="762000" y="7334250"/>
            <a:ext cx="4333875" cy="647700"/>
          </a:xfrm>
          <a:prstGeom prst="rect">
            <a:avLst/>
          </a:prstGeom>
          <a:noFill/>
          <a:ln>
            <a:noFill/>
          </a:ln>
        </p:spPr>
        <p:txBody>
          <a:bodyPr wrap="square" lIns="0" tIns="0" rIns="0" bIns="0" anchor="t">
            <a:noAutofit/>
          </a:bodyPr>
          <a:lstStyle/>
          <a:p>
            <a:pPr algn="l">
              <a:lnSpc>
                <a:spcPct val="125000"/>
              </a:lnSpc>
              <a:spcAft>
                <a:spcPts val="0"/>
              </a:spcAft>
            </a:pPr>
            <a:r>
              <a:rPr lang="ko-KR" sz="1800" b="0">
                <a:solidFill>
                  <a:srgbClr val="101511"/>
                </a:solidFill>
                <a:latin typeface="Malgun Gothic"/>
                <a:ea typeface="Malgun Gothic"/>
                <a:cs typeface="Malgun Gothic"/>
              </a:rPr>
              <a:t>점수 / 추정 분기 매출 / 거래 건수</a:t>
            </a:r>
            <a:endParaRPr lang="ko-KR" sz="1800"/>
          </a:p>
          <a:p>
            <a:pPr algn="l">
              <a:lnSpc>
                <a:spcPct val="125000"/>
              </a:lnSpc>
              <a:spcAft>
                <a:spcPts val="0"/>
              </a:spcAft>
            </a:pPr>
            <a:r>
              <a:rPr lang="ko-KR" sz="1800" b="0">
                <a:solidFill>
                  <a:srgbClr val="101511"/>
                </a:solidFill>
                <a:latin typeface="Malgun Gothic"/>
                <a:ea typeface="Malgun Gothic"/>
                <a:cs typeface="Malgun Gothic"/>
              </a:rPr>
              <a:t>상권별 상대적 규모를 나란히 확인</a:t>
            </a:r>
            <a:endParaRPr lang="ko-KR" sz="1800"/>
          </a:p>
        </p:txBody>
      </p:sp>
      <p:sp>
        <p:nvSpPr>
          <p:cNvPr id="9" name="전분기 매출 변화"/>
          <p:cNvSpPr txBox="1"/>
          <p:nvPr/>
        </p:nvSpPr>
        <p:spPr>
          <a:xfrm>
            <a:off x="5505450" y="6810375"/>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전분기 매출 변화</a:t>
            </a:r>
            <a:endParaRPr lang="ko-KR" sz="2325"/>
          </a:p>
        </p:txBody>
      </p:sp>
      <p:sp>
        <p:nvSpPr>
          <p:cNvPr id="10" name="성장률로 최근 변화 방향 확인 매출 규모와 변화율은 별도로 해석"/>
          <p:cNvSpPr txBox="1"/>
          <p:nvPr/>
        </p:nvSpPr>
        <p:spPr>
          <a:xfrm>
            <a:off x="5505450" y="7334250"/>
            <a:ext cx="4333875" cy="647700"/>
          </a:xfrm>
          <a:prstGeom prst="rect">
            <a:avLst/>
          </a:prstGeom>
          <a:noFill/>
          <a:ln>
            <a:noFill/>
          </a:ln>
        </p:spPr>
        <p:txBody>
          <a:bodyPr wrap="square" lIns="0" tIns="0" rIns="0" bIns="0" anchor="t">
            <a:noAutofit/>
          </a:bodyPr>
          <a:lstStyle/>
          <a:p>
            <a:pPr algn="l">
              <a:lnSpc>
                <a:spcPct val="125000"/>
              </a:lnSpc>
              <a:spcAft>
                <a:spcPts val="0"/>
              </a:spcAft>
            </a:pPr>
            <a:r>
              <a:rPr lang="ko-KR" sz="1800" b="0">
                <a:solidFill>
                  <a:srgbClr val="101511"/>
                </a:solidFill>
                <a:latin typeface="Malgun Gothic"/>
                <a:ea typeface="Malgun Gothic"/>
                <a:cs typeface="Malgun Gothic"/>
              </a:rPr>
              <a:t>성장률로 최근 변화 방향 확인</a:t>
            </a:r>
            <a:endParaRPr lang="ko-KR" sz="1800"/>
          </a:p>
          <a:p>
            <a:pPr algn="l">
              <a:lnSpc>
                <a:spcPct val="125000"/>
              </a:lnSpc>
              <a:spcAft>
                <a:spcPts val="0"/>
              </a:spcAft>
            </a:pPr>
            <a:r>
              <a:rPr lang="ko-KR" sz="1800" b="0">
                <a:solidFill>
                  <a:srgbClr val="101511"/>
                </a:solidFill>
                <a:latin typeface="Malgun Gothic"/>
                <a:ea typeface="Malgun Gothic"/>
                <a:cs typeface="Malgun Gothic"/>
              </a:rPr>
              <a:t>매출 규모와 변화율은 별도로 해석</a:t>
            </a:r>
            <a:endParaRPr lang="ko-KR" sz="1800"/>
          </a:p>
        </p:txBody>
      </p:sp>
      <p:sp>
        <p:nvSpPr>
          <p:cNvPr id="11" name="동일 업종 점포 수"/>
          <p:cNvSpPr txBox="1"/>
          <p:nvPr/>
        </p:nvSpPr>
        <p:spPr>
          <a:xfrm>
            <a:off x="10248900" y="6810375"/>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동일 업종 점포 수</a:t>
            </a:r>
            <a:endParaRPr lang="ko-KR" sz="2325"/>
          </a:p>
        </p:txBody>
      </p:sp>
      <p:sp>
        <p:nvSpPr>
          <p:cNvPr id="12" name="현재 점포 수와 괄호 안 증감 확인 경쟁 관련 등급을 함께 표시"/>
          <p:cNvSpPr txBox="1"/>
          <p:nvPr/>
        </p:nvSpPr>
        <p:spPr>
          <a:xfrm>
            <a:off x="10248900" y="7334250"/>
            <a:ext cx="4333875" cy="647700"/>
          </a:xfrm>
          <a:prstGeom prst="rect">
            <a:avLst/>
          </a:prstGeom>
          <a:noFill/>
          <a:ln>
            <a:noFill/>
          </a:ln>
        </p:spPr>
        <p:txBody>
          <a:bodyPr wrap="square" lIns="0" tIns="0" rIns="0" bIns="0" anchor="t">
            <a:noAutofit/>
          </a:bodyPr>
          <a:lstStyle/>
          <a:p>
            <a:pPr algn="l">
              <a:lnSpc>
                <a:spcPct val="125000"/>
              </a:lnSpc>
              <a:spcAft>
                <a:spcPts val="0"/>
              </a:spcAft>
            </a:pPr>
            <a:r>
              <a:rPr lang="ko-KR" sz="1800" b="0">
                <a:solidFill>
                  <a:srgbClr val="101511"/>
                </a:solidFill>
                <a:latin typeface="Malgun Gothic"/>
                <a:ea typeface="Malgun Gothic"/>
                <a:cs typeface="Malgun Gothic"/>
              </a:rPr>
              <a:t>점포 수와 전분기 증감을 함께 확인</a:t>
            </a:r>
            <a:endParaRPr lang="ko-KR"/>
          </a:p>
          <a:p>
            <a:pPr algn="l">
              <a:lnSpc>
                <a:spcPct val="125000"/>
              </a:lnSpc>
              <a:spcAft>
                <a:spcPts val="0"/>
              </a:spcAft>
            </a:pPr>
            <a:r>
              <a:rPr lang="ko-KR" sz="1800" b="0">
                <a:solidFill>
                  <a:srgbClr val="101511"/>
                </a:solidFill>
                <a:latin typeface="Malgun Gothic"/>
                <a:ea typeface="Malgun Gothic"/>
                <a:cs typeface="Malgun Gothic"/>
              </a:rPr>
              <a:t>경쟁 여건 등급과 나란히 해석</a:t>
            </a:r>
            <a:endParaRPr lang="ko-KR"/>
          </a:p>
        </p:txBody>
      </p:sp>
      <p:sp>
        <p:nvSpPr>
          <p:cNvPr id="13" name="Panel 13"/>
          <p:cNvSpPr/>
          <p:nvPr/>
        </p:nvSpPr>
        <p:spPr>
          <a:xfrm>
            <a:off x="685800" y="8077200"/>
            <a:ext cx="13868400" cy="14288"/>
          </a:xfrm>
          <a:prstGeom prst="rect">
            <a:avLst/>
          </a:prstGeom>
          <a:solidFill>
            <a:srgbClr val="CCD0C7"/>
          </a:solidFill>
          <a:ln w="0">
            <a:noFill/>
          </a:ln>
        </p:spPr>
      </p:sp>
      <p:sp>
        <p:nvSpPr>
          <p:cNvPr id="14"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5" name="15"/>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28</a:t>
            </a:r>
            <a:endParaRPr lang="ko-KR" sz="172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3  주요 기능 · 비교"/>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03  주요 기능 · 비교</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소비 특성 비교와 상세 분석 연결"/>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소비 특성 비교와 상세 분석 연결</a:t>
            </a:r>
            <a:endParaRPr lang="ko-KR" sz="3600"/>
          </a:p>
        </p:txBody>
      </p:sp>
      <p:sp>
        <p:nvSpPr>
          <p:cNvPr id="5" name="주요 연령·시간·요일, 상권 요약을 읽고 개별 근거를 다시 확인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주요 연령·시간·요일, 상권 요약을 읽고 개별 근거를 다시 확인합니다.</a:t>
            </a:r>
            <a:endParaRPr lang="ko-KR" sz="1650"/>
          </a:p>
        </p:txBody>
      </p:sp>
      <p:pic>
        <p:nvPicPr>
          <p:cNvPr id="6" name="준비자료/스크린샷/비교.webp" descr="준비자료/스크린샷/비교.webp"/>
          <p:cNvPicPr>
            <a:picLocks noChangeAspect="1"/>
          </p:cNvPicPr>
          <p:nvPr/>
        </p:nvPicPr>
        <p:blipFill>
          <a:blip r:embed="rId3"/>
          <a:stretch>
            <a:fillRect/>
          </a:stretch>
        </p:blipFill>
        <p:spPr>
          <a:xfrm>
            <a:off x="2115120" y="2305050"/>
            <a:ext cx="11028811" cy="3397420"/>
          </a:xfrm>
          <a:prstGeom prst="rect">
            <a:avLst/>
          </a:prstGeom>
          <a:ln>
            <a:noFill/>
          </a:ln>
        </p:spPr>
      </p:pic>
      <p:sp>
        <p:nvSpPr>
          <p:cNvPr id="7" name="WHO · WHEN · DAY"/>
          <p:cNvSpPr txBox="1"/>
          <p:nvPr/>
        </p:nvSpPr>
        <p:spPr>
          <a:xfrm>
            <a:off x="762000" y="6134100"/>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WHO · WHEN · DAY</a:t>
            </a:r>
            <a:endParaRPr lang="ko-KR" sz="2325"/>
          </a:p>
        </p:txBody>
      </p:sp>
      <p:sp>
        <p:nvSpPr>
          <p:cNvPr id="8" name="주요 매출 연령과 비중 피크 시간·비중, 강한 요일과 차이"/>
          <p:cNvSpPr txBox="1"/>
          <p:nvPr/>
        </p:nvSpPr>
        <p:spPr>
          <a:xfrm>
            <a:off x="762000" y="6657975"/>
            <a:ext cx="4333875" cy="95250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주요 매출 연령과 비중</a:t>
            </a:r>
            <a:endParaRPr lang="ko-KR"/>
          </a:p>
          <a:p>
            <a:pPr algn="l">
              <a:lnSpc>
                <a:spcPct val="125000"/>
              </a:lnSpc>
              <a:spcAft>
                <a:spcPts val="0"/>
              </a:spcAft>
            </a:pPr>
            <a:r>
              <a:rPr lang="ko-KR" sz="1875" b="0">
                <a:solidFill>
                  <a:srgbClr val="101511"/>
                </a:solidFill>
                <a:latin typeface="Malgun Gothic"/>
                <a:ea typeface="Malgun Gothic"/>
                <a:cs typeface="Malgun Gothic"/>
              </a:rPr>
              <a:t>피크 시간과 강한 요일 확인</a:t>
            </a:r>
            <a:endParaRPr lang="ko-KR"/>
          </a:p>
        </p:txBody>
      </p:sp>
      <p:sp>
        <p:nvSpPr>
          <p:cNvPr id="9" name="상권 탐색 요약"/>
          <p:cNvSpPr txBox="1"/>
          <p:nvPr/>
        </p:nvSpPr>
        <p:spPr>
          <a:xfrm>
            <a:off x="5505450" y="6134100"/>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상권 탐색 요약</a:t>
            </a:r>
            <a:endParaRPr lang="ko-KR" sz="2325"/>
          </a:p>
        </p:txBody>
      </p:sp>
      <p:sp>
        <p:nvSpPr>
          <p:cNvPr id="10" name="성장·거래·경쟁 여건을 한 문장으로 후보별 특징을 빠르게 다시 확인"/>
          <p:cNvSpPr txBox="1"/>
          <p:nvPr/>
        </p:nvSpPr>
        <p:spPr>
          <a:xfrm>
            <a:off x="5505450" y="6657975"/>
            <a:ext cx="4333875" cy="95250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성장·거래·경쟁 여건 요약</a:t>
            </a:r>
            <a:endParaRPr lang="ko-KR"/>
          </a:p>
          <a:p>
            <a:pPr algn="l">
              <a:lnSpc>
                <a:spcPct val="125000"/>
              </a:lnSpc>
              <a:spcAft>
                <a:spcPts val="0"/>
              </a:spcAft>
            </a:pPr>
            <a:r>
              <a:rPr lang="ko-KR" sz="1875" b="0">
                <a:solidFill>
                  <a:srgbClr val="101511"/>
                </a:solidFill>
                <a:latin typeface="Malgun Gothic"/>
                <a:ea typeface="Malgun Gothic"/>
                <a:cs typeface="Malgun Gothic"/>
              </a:rPr>
              <a:t>후보별 특징을 짧게 다시 확인</a:t>
            </a:r>
            <a:endParaRPr lang="ko-KR"/>
          </a:p>
        </p:txBody>
      </p:sp>
      <p:sp>
        <p:nvSpPr>
          <p:cNvPr id="11" name="심층 보기"/>
          <p:cNvSpPr txBox="1"/>
          <p:nvPr/>
        </p:nvSpPr>
        <p:spPr>
          <a:xfrm>
            <a:off x="10248900" y="6134100"/>
            <a:ext cx="4333875" cy="4286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심층 보기</a:t>
            </a:r>
            <a:endParaRPr lang="ko-KR" sz="2325"/>
          </a:p>
        </p:txBody>
      </p:sp>
      <p:sp>
        <p:nvSpPr>
          <p:cNvPr id="12" name="각 상권의 상세 화면으로 이동 차트와 지표를 확인한 뒤 후보 압축"/>
          <p:cNvSpPr txBox="1"/>
          <p:nvPr/>
        </p:nvSpPr>
        <p:spPr>
          <a:xfrm>
            <a:off x="10248900" y="6657975"/>
            <a:ext cx="4333875" cy="95250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각 상권의 상세 화면으로 이동</a:t>
            </a:r>
            <a:endParaRPr lang="ko-KR"/>
          </a:p>
          <a:p>
            <a:pPr algn="l">
              <a:lnSpc>
                <a:spcPct val="125000"/>
              </a:lnSpc>
              <a:spcAft>
                <a:spcPts val="0"/>
              </a:spcAft>
            </a:pPr>
            <a:r>
              <a:rPr lang="ko-KR" sz="1875" b="0">
                <a:solidFill>
                  <a:srgbClr val="101511"/>
                </a:solidFill>
                <a:latin typeface="Malgun Gothic"/>
                <a:ea typeface="Malgun Gothic"/>
                <a:cs typeface="Malgun Gothic"/>
              </a:rPr>
              <a:t>근거를 확인하고 후보 좁히기</a:t>
            </a:r>
            <a:endParaRPr lang="ko-KR"/>
          </a:p>
        </p:txBody>
      </p:sp>
      <p:sp>
        <p:nvSpPr>
          <p:cNvPr id="13" name="구산역: 50대·오후·토요일    /    봉은사역·마포역: 30대·점심·수요일"/>
          <p:cNvSpPr txBox="1"/>
          <p:nvPr/>
        </p:nvSpPr>
        <p:spPr>
          <a:xfrm>
            <a:off x="762000" y="7696200"/>
            <a:ext cx="13811250" cy="285750"/>
          </a:xfrm>
          <a:prstGeom prst="rect">
            <a:avLst/>
          </a:prstGeom>
          <a:noFill/>
          <a:ln>
            <a:noFill/>
          </a:ln>
        </p:spPr>
        <p:txBody>
          <a:bodyPr wrap="square" lIns="0" tIns="0" rIns="0" bIns="0" anchor="t">
            <a:noAutofit/>
          </a:bodyPr>
          <a:lstStyle/>
          <a:p>
            <a:pPr algn="l">
              <a:lnSpc>
                <a:spcPct val="120000"/>
              </a:lnSpc>
              <a:spcAft>
                <a:spcPts val="0"/>
              </a:spcAft>
            </a:pPr>
            <a:r>
              <a:rPr lang="ko-KR" sz="1725" b="1">
                <a:solidFill>
                  <a:srgbClr val="101511"/>
                </a:solidFill>
                <a:latin typeface="Malgun Gothic"/>
                <a:ea typeface="Malgun Gothic"/>
                <a:cs typeface="Malgun Gothic"/>
              </a:rPr>
              <a:t>구산역은 오후·토요일, 봉은사역과 마포역은 점심 소비가 두드러지는 예시입니다.</a:t>
            </a:r>
            <a:endParaRPr lang="ko-KR"/>
          </a:p>
        </p:txBody>
      </p:sp>
      <p:sp>
        <p:nvSpPr>
          <p:cNvPr id="14" name="Panel 14"/>
          <p:cNvSpPr/>
          <p:nvPr/>
        </p:nvSpPr>
        <p:spPr>
          <a:xfrm>
            <a:off x="685800" y="8077200"/>
            <a:ext cx="13868400" cy="14288"/>
          </a:xfrm>
          <a:prstGeom prst="rect">
            <a:avLst/>
          </a:prstGeom>
          <a:solidFill>
            <a:srgbClr val="CCD0C7"/>
          </a:solidFill>
          <a:ln w="0">
            <a:noFill/>
          </a:ln>
        </p:spPr>
      </p:sp>
      <p:sp>
        <p:nvSpPr>
          <p:cNvPr id="15"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6" name="16"/>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29</a:t>
            </a:r>
            <a:endParaRPr lang="ko-KR" sz="1725"/>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3"/>
          <p:cNvSpPr txBox="1"/>
          <p:nvPr/>
        </p:nvSpPr>
        <p:spPr>
          <a:xfrm>
            <a:off x="990600" y="1914525"/>
            <a:ext cx="3429000" cy="1381125"/>
          </a:xfrm>
          <a:prstGeom prst="rect">
            <a:avLst/>
          </a:prstGeom>
          <a:noFill/>
          <a:ln>
            <a:noFill/>
          </a:ln>
        </p:spPr>
        <p:txBody>
          <a:bodyPr wrap="square" lIns="0" tIns="0" rIns="0" bIns="0">
            <a:noAutofit/>
          </a:bodyPr>
          <a:lstStyle/>
          <a:p>
            <a:pPr algn="l">
              <a:lnSpc>
                <a:spcPct val="118000"/>
              </a:lnSpc>
              <a:spcAft>
                <a:spcPts val="0"/>
              </a:spcAft>
            </a:pPr>
            <a:r>
              <a:rPr lang="ko-KR" sz="8250" b="1">
                <a:solidFill>
                  <a:srgbClr val="CCFF00"/>
                </a:solidFill>
                <a:latin typeface="Malgun Gothic"/>
                <a:ea typeface="Malgun Gothic"/>
                <a:cs typeface="Malgun Gothic"/>
              </a:rPr>
              <a:t>04</a:t>
            </a:r>
            <a:endParaRPr lang="ko-KR" sz="8250"/>
          </a:p>
        </p:txBody>
      </p:sp>
      <p:sp>
        <p:nvSpPr>
          <p:cNvPr id="3" name="설계와 구현"/>
          <p:cNvSpPr txBox="1"/>
          <p:nvPr/>
        </p:nvSpPr>
        <p:spPr>
          <a:xfrm>
            <a:off x="952500" y="3629025"/>
            <a:ext cx="7953375" cy="2524125"/>
          </a:xfrm>
          <a:prstGeom prst="rect">
            <a:avLst/>
          </a:prstGeom>
          <a:noFill/>
          <a:ln>
            <a:noFill/>
          </a:ln>
        </p:spPr>
        <p:txBody>
          <a:bodyPr wrap="square" lIns="0" tIns="0" rIns="0" bIns="0">
            <a:noAutofit/>
          </a:bodyPr>
          <a:lstStyle/>
          <a:p>
            <a:pPr algn="l">
              <a:lnSpc>
                <a:spcPct val="118000"/>
              </a:lnSpc>
              <a:spcAft>
                <a:spcPts val="0"/>
              </a:spcAft>
            </a:pPr>
            <a:r>
              <a:rPr lang="ko-KR" sz="6525" b="1">
                <a:solidFill>
                  <a:srgbClr val="F8F7F2"/>
                </a:solidFill>
                <a:latin typeface="Malgun Gothic"/>
                <a:ea typeface="Malgun Gothic"/>
                <a:cs typeface="Malgun Gothic"/>
              </a:rPr>
              <a:t>설계와 구현</a:t>
            </a:r>
            <a:endParaRPr lang="ko-KR" sz="6525"/>
          </a:p>
        </p:txBody>
      </p:sp>
      <p:pic>
        <p:nvPicPr>
          <p:cNvPr id="4" name="03-architecture" descr="장 주제를 표현한 AI 생성 개념 일러스트"/>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시스템 아키텍처"/>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시스템 아키텍처</a:t>
            </a:r>
            <a:endParaRPr lang="ko-KR" sz="3600"/>
          </a:p>
        </p:txBody>
      </p:sp>
      <p:sp>
        <p:nvSpPr>
          <p:cNvPr id="5" name="화면 조회, AI 설명 생성, 공공데이터 수집을 분리해 연결했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dirty="0" err="1">
                <a:solidFill>
                  <a:srgbClr val="66716B"/>
                </a:solidFill>
                <a:latin typeface="Malgun Gothic"/>
                <a:ea typeface="Malgun Gothic"/>
                <a:cs typeface="Malgun Gothic"/>
              </a:rPr>
              <a:t>Render에</a:t>
            </a:r>
            <a:r>
              <a:rPr lang="ko-KR" sz="1650" b="0" dirty="0">
                <a:solidFill>
                  <a:srgbClr val="66716B"/>
                </a:solidFill>
                <a:latin typeface="Malgun Gothic"/>
                <a:ea typeface="Malgun Gothic"/>
                <a:cs typeface="Malgun Gothic"/>
              </a:rPr>
              <a:t> 화면과 </a:t>
            </a:r>
            <a:r>
              <a:rPr lang="ko-KR" altLang="en-US" sz="1650" b="0" dirty="0" err="1">
                <a:solidFill>
                  <a:srgbClr val="66716B"/>
                </a:solidFill>
                <a:latin typeface="Malgun Gothic"/>
                <a:ea typeface="Malgun Gothic"/>
                <a:cs typeface="Malgun Gothic"/>
              </a:rPr>
              <a:t>백엔드</a:t>
            </a:r>
            <a:r>
              <a:rPr lang="en-US" altLang="ko-KR" sz="1650" b="0" dirty="0">
                <a:solidFill>
                  <a:srgbClr val="66716B"/>
                </a:solidFill>
                <a:latin typeface="Malgun Gothic"/>
                <a:ea typeface="Malgun Gothic"/>
                <a:cs typeface="Malgun Gothic"/>
              </a:rPr>
              <a:t>(</a:t>
            </a:r>
            <a:r>
              <a:rPr lang="ko-KR" sz="1650" b="0" dirty="0">
                <a:solidFill>
                  <a:srgbClr val="66716B"/>
                </a:solidFill>
                <a:latin typeface="Malgun Gothic"/>
                <a:ea typeface="Malgun Gothic"/>
                <a:cs typeface="Malgun Gothic"/>
              </a:rPr>
              <a:t>API</a:t>
            </a:r>
            <a:r>
              <a:rPr lang="en-US" altLang="ko-KR" sz="1650" b="0" dirty="0">
                <a:solidFill>
                  <a:srgbClr val="66716B"/>
                </a:solidFill>
                <a:latin typeface="Malgun Gothic"/>
                <a:ea typeface="Malgun Gothic"/>
                <a:cs typeface="Malgun Gothic"/>
              </a:rPr>
              <a:t>)</a:t>
            </a:r>
            <a:r>
              <a:rPr lang="ko-KR" sz="1650" b="0" dirty="0" err="1">
                <a:solidFill>
                  <a:srgbClr val="66716B"/>
                </a:solidFill>
                <a:latin typeface="Malgun Gothic"/>
                <a:ea typeface="Malgun Gothic"/>
                <a:cs typeface="Malgun Gothic"/>
              </a:rPr>
              <a:t>를</a:t>
            </a:r>
            <a:r>
              <a:rPr lang="ko-KR" sz="1650" b="0" dirty="0">
                <a:solidFill>
                  <a:srgbClr val="66716B"/>
                </a:solidFill>
                <a:latin typeface="Malgun Gothic"/>
                <a:ea typeface="Malgun Gothic"/>
                <a:cs typeface="Malgun Gothic"/>
              </a:rPr>
              <a:t> 나누어 배포하고, DB </a:t>
            </a:r>
            <a:r>
              <a:rPr lang="ko-KR" sz="1650" b="0" dirty="0" err="1">
                <a:solidFill>
                  <a:srgbClr val="66716B"/>
                </a:solidFill>
                <a:latin typeface="Malgun Gothic"/>
                <a:ea typeface="Malgun Gothic"/>
                <a:cs typeface="Malgun Gothic"/>
              </a:rPr>
              <a:t>조회·AI</a:t>
            </a:r>
            <a:r>
              <a:rPr lang="ko-KR" sz="1650" b="0" dirty="0">
                <a:solidFill>
                  <a:srgbClr val="66716B"/>
                </a:solidFill>
                <a:latin typeface="Malgun Gothic"/>
                <a:ea typeface="Malgun Gothic"/>
                <a:cs typeface="Malgun Gothic"/>
              </a:rPr>
              <a:t> </a:t>
            </a:r>
            <a:r>
              <a:rPr lang="ko-KR" sz="1650" b="0" dirty="0" err="1">
                <a:solidFill>
                  <a:srgbClr val="66716B"/>
                </a:solidFill>
                <a:latin typeface="Malgun Gothic"/>
                <a:ea typeface="Malgun Gothic"/>
                <a:cs typeface="Malgun Gothic"/>
              </a:rPr>
              <a:t>생성·수집</a:t>
            </a:r>
            <a:r>
              <a:rPr lang="ko-KR" sz="1650" b="0" dirty="0">
                <a:solidFill>
                  <a:srgbClr val="66716B"/>
                </a:solidFill>
                <a:latin typeface="Malgun Gothic"/>
                <a:ea typeface="Malgun Gothic"/>
                <a:cs typeface="Malgun Gothic"/>
              </a:rPr>
              <a:t> 작업을 분리했습니다.</a:t>
            </a:r>
            <a:endParaRPr lang="ko-KR" dirty="0"/>
          </a:p>
        </p:txBody>
      </p:sp>
      <p:sp>
        <p:nvSpPr>
          <p:cNvPr id="6" name="Panel 6"/>
          <p:cNvSpPr/>
          <p:nvPr/>
        </p:nvSpPr>
        <p:spPr>
          <a:xfrm>
            <a:off x="5810250" y="2276475"/>
            <a:ext cx="3733800" cy="1104900"/>
          </a:xfrm>
          <a:prstGeom prst="rect">
            <a:avLst/>
          </a:prstGeom>
          <a:solidFill>
            <a:srgbClr val="CCFF00"/>
          </a:solidFill>
          <a:ln w="12700">
            <a:solidFill>
              <a:srgbClr val="101511"/>
            </a:solidFill>
          </a:ln>
        </p:spPr>
      </p:sp>
      <p:sp>
        <p:nvSpPr>
          <p:cNvPr id="7" name="Gemini"/>
          <p:cNvSpPr txBox="1"/>
          <p:nvPr/>
        </p:nvSpPr>
        <p:spPr>
          <a:xfrm>
            <a:off x="6029325" y="2457450"/>
            <a:ext cx="3295650" cy="438150"/>
          </a:xfrm>
          <a:prstGeom prst="rect">
            <a:avLst/>
          </a:prstGeom>
          <a:noFill/>
          <a:ln>
            <a:noFill/>
          </a:ln>
        </p:spPr>
        <p:txBody>
          <a:bodyPr wrap="square" lIns="0" tIns="0" rIns="0" bIns="0" anchor="t">
            <a:noAutofit/>
          </a:bodyPr>
          <a:lstStyle/>
          <a:p>
            <a:pPr algn="l">
              <a:lnSpc>
                <a:spcPct val="120000"/>
              </a:lnSpc>
              <a:spcAft>
                <a:spcPts val="0"/>
              </a:spcAft>
            </a:pPr>
            <a:r>
              <a:rPr lang="ko-KR" sz="2475" b="1">
                <a:solidFill>
                  <a:srgbClr val="101511"/>
                </a:solidFill>
                <a:latin typeface="Malgun Gothic"/>
                <a:ea typeface="Malgun Gothic"/>
                <a:cs typeface="Malgun Gothic"/>
              </a:rPr>
              <a:t>Gemini</a:t>
            </a:r>
            <a:endParaRPr lang="ko-KR" sz="2475"/>
          </a:p>
        </p:txBody>
      </p:sp>
      <p:sp>
        <p:nvSpPr>
          <p:cNvPr id="8" name=" 지표 기반 요약 문장 생성"/>
          <p:cNvSpPr txBox="1"/>
          <p:nvPr/>
        </p:nvSpPr>
        <p:spPr>
          <a:xfrm>
            <a:off x="6029325" y="2962275"/>
            <a:ext cx="3295650" cy="333375"/>
          </a:xfrm>
          <a:prstGeom prst="rect">
            <a:avLst/>
          </a:prstGeom>
          <a:noFill/>
          <a:ln>
            <a:noFill/>
          </a:ln>
        </p:spPr>
        <p:txBody>
          <a:bodyPr wrap="square" lIns="0" tIns="0" rIns="0" bIns="0" anchor="t">
            <a:noAutofit/>
          </a:bodyPr>
          <a:lstStyle/>
          <a:p>
            <a:pPr algn="l">
              <a:lnSpc>
                <a:spcPct val="120000"/>
              </a:lnSpc>
              <a:spcAft>
                <a:spcPts val="0"/>
              </a:spcAft>
            </a:pPr>
            <a:r>
              <a:rPr lang="ko-KR" sz="1800" b="0">
                <a:solidFill>
                  <a:srgbClr val="101511"/>
                </a:solidFill>
                <a:latin typeface="Malgun Gothic"/>
                <a:ea typeface="Malgun Gothic"/>
                <a:cs typeface="Malgun Gothic"/>
              </a:rPr>
              <a:t> 지표 기반 요약 문장 생성</a:t>
            </a:r>
            <a:endParaRPr lang="ko-KR" sz="1800"/>
          </a:p>
        </p:txBody>
      </p:sp>
      <p:sp>
        <p:nvSpPr>
          <p:cNvPr id="9" name="AI가 문장을 생성하고, 서버가 결과를 검증합니다."/>
          <p:cNvSpPr txBox="1"/>
          <p:nvPr/>
        </p:nvSpPr>
        <p:spPr>
          <a:xfrm>
            <a:off x="10191750" y="2419350"/>
            <a:ext cx="4362450" cy="809625"/>
          </a:xfrm>
          <a:prstGeom prst="rect">
            <a:avLst/>
          </a:prstGeom>
          <a:noFill/>
          <a:ln>
            <a:noFill/>
          </a:ln>
        </p:spPr>
        <p:txBody>
          <a:bodyPr wrap="square" lIns="0" tIns="0" rIns="0" bIns="0" anchor="t">
            <a:noAutofit/>
          </a:bodyPr>
          <a:lstStyle/>
          <a:p>
            <a:pPr algn="l">
              <a:lnSpc>
                <a:spcPct val="125000"/>
              </a:lnSpc>
              <a:spcAft>
                <a:spcPts val="0"/>
              </a:spcAft>
            </a:pPr>
            <a:r>
              <a:rPr lang="ko-KR" sz="2100" b="0">
                <a:solidFill>
                  <a:srgbClr val="101511"/>
                </a:solidFill>
                <a:latin typeface="Malgun Gothic"/>
                <a:ea typeface="Malgun Gothic"/>
                <a:cs typeface="Malgun Gothic"/>
              </a:rPr>
              <a:t>AI가 문장을 생성하고,</a:t>
            </a:r>
            <a:endParaRPr lang="ko-KR" sz="2100"/>
          </a:p>
          <a:p>
            <a:pPr algn="l">
              <a:lnSpc>
                <a:spcPct val="125000"/>
              </a:lnSpc>
              <a:spcAft>
                <a:spcPts val="0"/>
              </a:spcAft>
            </a:pPr>
            <a:r>
              <a:rPr lang="ko-KR" sz="2100" b="0">
                <a:solidFill>
                  <a:srgbClr val="101511"/>
                </a:solidFill>
                <a:latin typeface="Malgun Gothic"/>
                <a:ea typeface="Malgun Gothic"/>
                <a:cs typeface="Malgun Gothic"/>
              </a:rPr>
              <a:t>서버가 결과를 검증합니다.</a:t>
            </a:r>
            <a:endParaRPr lang="ko-KR" sz="2100"/>
          </a:p>
        </p:txBody>
      </p:sp>
      <p:sp>
        <p:nvSpPr>
          <p:cNvPr id="10" name="화면 요청과 분석 응답"/>
          <p:cNvSpPr txBox="1"/>
          <p:nvPr/>
        </p:nvSpPr>
        <p:spPr>
          <a:xfrm>
            <a:off x="723900" y="3562350"/>
            <a:ext cx="3905250" cy="333375"/>
          </a:xfrm>
          <a:prstGeom prst="rect">
            <a:avLst/>
          </a:prstGeom>
          <a:noFill/>
          <a:ln>
            <a:noFill/>
          </a:ln>
        </p:spPr>
        <p:txBody>
          <a:bodyPr wrap="square" lIns="0" tIns="0" rIns="0" bIns="0" anchor="t">
            <a:noAutofit/>
          </a:bodyPr>
          <a:lstStyle/>
          <a:p>
            <a:pPr algn="l">
              <a:lnSpc>
                <a:spcPct val="120000"/>
              </a:lnSpc>
              <a:spcAft>
                <a:spcPts val="0"/>
              </a:spcAft>
            </a:pPr>
            <a:r>
              <a:rPr lang="ko-KR" sz="1725" b="1">
                <a:solidFill>
                  <a:srgbClr val="66716B"/>
                </a:solidFill>
                <a:latin typeface="Malgun Gothic"/>
                <a:ea typeface="Malgun Gothic"/>
                <a:cs typeface="Malgun Gothic"/>
              </a:rPr>
              <a:t>화면 요청과 분석 응답</a:t>
            </a:r>
            <a:endParaRPr lang="ko-KR" sz="1725"/>
          </a:p>
        </p:txBody>
      </p:sp>
      <p:sp>
        <p:nvSpPr>
          <p:cNvPr id="11" name="Panel 11"/>
          <p:cNvSpPr/>
          <p:nvPr/>
        </p:nvSpPr>
        <p:spPr>
          <a:xfrm>
            <a:off x="704850" y="4029075"/>
            <a:ext cx="3295650" cy="1133475"/>
          </a:xfrm>
          <a:prstGeom prst="rect">
            <a:avLst/>
          </a:prstGeom>
          <a:solidFill>
            <a:srgbClr val="FFFFFF"/>
          </a:solidFill>
          <a:ln w="12700">
            <a:solidFill>
              <a:srgbClr val="101511"/>
            </a:solidFill>
          </a:ln>
        </p:spPr>
        <p:txBody>
          <a:bodyPr/>
          <a:lstStyle/>
          <a:p>
            <a:endParaRPr lang="ko-KR" altLang="en-US" dirty="0"/>
          </a:p>
        </p:txBody>
      </p:sp>
      <p:sp>
        <p:nvSpPr>
          <p:cNvPr id="12" name="사용자 브라우저"/>
          <p:cNvSpPr txBox="1"/>
          <p:nvPr/>
        </p:nvSpPr>
        <p:spPr>
          <a:xfrm>
            <a:off x="923925" y="4210050"/>
            <a:ext cx="2857500" cy="438150"/>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사용자 브라우저</a:t>
            </a:r>
            <a:endParaRPr lang="ko-KR" sz="2325"/>
          </a:p>
        </p:txBody>
      </p:sp>
      <p:sp>
        <p:nvSpPr>
          <p:cNvPr id="13" name="React · TypeScript"/>
          <p:cNvSpPr txBox="1"/>
          <p:nvPr/>
        </p:nvSpPr>
        <p:spPr>
          <a:xfrm>
            <a:off x="923925" y="4714875"/>
            <a:ext cx="2857500" cy="33337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React · TypeScript</a:t>
            </a:r>
            <a:endParaRPr lang="ko-KR"/>
          </a:p>
        </p:txBody>
      </p:sp>
      <p:sp>
        <p:nvSpPr>
          <p:cNvPr id="15" name="Panel 15"/>
          <p:cNvSpPr/>
          <p:nvPr/>
        </p:nvSpPr>
        <p:spPr>
          <a:xfrm>
            <a:off x="5810250" y="4029075"/>
            <a:ext cx="3733800" cy="1666875"/>
          </a:xfrm>
          <a:prstGeom prst="rect">
            <a:avLst/>
          </a:prstGeom>
          <a:solidFill>
            <a:srgbClr val="111713"/>
          </a:solidFill>
          <a:ln w="12700">
            <a:solidFill>
              <a:srgbClr val="101511"/>
            </a:solidFill>
          </a:ln>
        </p:spPr>
      </p:sp>
      <p:sp>
        <p:nvSpPr>
          <p:cNvPr id="16" name="FastAPI 백엔드"/>
          <p:cNvSpPr txBox="1"/>
          <p:nvPr/>
        </p:nvSpPr>
        <p:spPr>
          <a:xfrm>
            <a:off x="6029325" y="4210050"/>
            <a:ext cx="3295650" cy="438150"/>
          </a:xfrm>
          <a:prstGeom prst="rect">
            <a:avLst/>
          </a:prstGeom>
          <a:noFill/>
          <a:ln>
            <a:noFill/>
          </a:ln>
        </p:spPr>
        <p:txBody>
          <a:bodyPr wrap="square" lIns="0" tIns="0" rIns="0" bIns="0" anchor="t">
            <a:noAutofit/>
          </a:bodyPr>
          <a:lstStyle/>
          <a:p>
            <a:pPr algn="l">
              <a:lnSpc>
                <a:spcPct val="120000"/>
              </a:lnSpc>
              <a:spcAft>
                <a:spcPts val="0"/>
              </a:spcAft>
            </a:pPr>
            <a:r>
              <a:rPr lang="ko-KR" sz="2475" b="1" dirty="0" err="1">
                <a:solidFill>
                  <a:srgbClr val="F8F7F2"/>
                </a:solidFill>
                <a:latin typeface="Malgun Gothic"/>
                <a:ea typeface="Malgun Gothic"/>
                <a:cs typeface="Malgun Gothic"/>
              </a:rPr>
              <a:t>FastAPI</a:t>
            </a:r>
            <a:r>
              <a:rPr lang="ko-KR" sz="2475" b="1" dirty="0">
                <a:solidFill>
                  <a:srgbClr val="F8F7F2"/>
                </a:solidFill>
                <a:latin typeface="Malgun Gothic"/>
                <a:ea typeface="Malgun Gothic"/>
                <a:cs typeface="Malgun Gothic"/>
              </a:rPr>
              <a:t> </a:t>
            </a:r>
            <a:r>
              <a:rPr lang="ko-KR" sz="2475" b="1" dirty="0" err="1">
                <a:solidFill>
                  <a:srgbClr val="F8F7F2"/>
                </a:solidFill>
                <a:latin typeface="Malgun Gothic"/>
                <a:ea typeface="Malgun Gothic"/>
                <a:cs typeface="Malgun Gothic"/>
              </a:rPr>
              <a:t>백엔드</a:t>
            </a:r>
            <a:endParaRPr lang="ko-KR" sz="2475" dirty="0"/>
          </a:p>
        </p:txBody>
      </p:sp>
      <p:sp>
        <p:nvSpPr>
          <p:cNvPr id="17" name="데이터 조회 · 지표 계산"/>
          <p:cNvSpPr txBox="1"/>
          <p:nvPr/>
        </p:nvSpPr>
        <p:spPr>
          <a:xfrm>
            <a:off x="6029325" y="4714875"/>
            <a:ext cx="3295650" cy="33337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F8F7F2"/>
                </a:solidFill>
                <a:latin typeface="Malgun Gothic"/>
                <a:ea typeface="Malgun Gothic"/>
                <a:cs typeface="Malgun Gothic"/>
              </a:rPr>
              <a:t>Render Web Service</a:t>
            </a:r>
            <a:endParaRPr lang="ko-KR"/>
          </a:p>
        </p:txBody>
      </p:sp>
      <p:sp>
        <p:nvSpPr>
          <p:cNvPr id="18" name="공통 점수 산출"/>
          <p:cNvSpPr txBox="1"/>
          <p:nvPr/>
        </p:nvSpPr>
        <p:spPr>
          <a:xfrm>
            <a:off x="6029325" y="5095875"/>
            <a:ext cx="3295650" cy="33337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F8F7F2"/>
                </a:solidFill>
                <a:latin typeface="Malgun Gothic"/>
                <a:ea typeface="Malgun Gothic"/>
                <a:cs typeface="Malgun Gothic"/>
              </a:rPr>
              <a:t>데이터 조회 · 점수 계산</a:t>
            </a:r>
            <a:endParaRPr lang="ko-KR"/>
          </a:p>
        </p:txBody>
      </p:sp>
      <p:sp>
        <p:nvSpPr>
          <p:cNvPr id="19" name="Panel 19">
            <a:hlinkClick r:id="rId3"/>
          </p:cNvPr>
          <p:cNvSpPr/>
          <p:nvPr/>
        </p:nvSpPr>
        <p:spPr>
          <a:xfrm>
            <a:off x="11353800" y="4029075"/>
            <a:ext cx="3200400" cy="1666875"/>
          </a:xfrm>
          <a:prstGeom prst="rect">
            <a:avLst/>
          </a:prstGeom>
          <a:solidFill>
            <a:srgbClr val="ECEEE6"/>
          </a:solidFill>
          <a:ln w="12700">
            <a:solidFill>
              <a:srgbClr val="101511"/>
            </a:solidFill>
          </a:ln>
        </p:spPr>
      </p:sp>
      <p:sp>
        <p:nvSpPr>
          <p:cNvPr id="20" name="Supabase"/>
          <p:cNvSpPr txBox="1"/>
          <p:nvPr/>
        </p:nvSpPr>
        <p:spPr>
          <a:xfrm>
            <a:off x="11572875" y="4210050"/>
            <a:ext cx="2762250" cy="438150"/>
          </a:xfrm>
          <a:prstGeom prst="rect">
            <a:avLst/>
          </a:prstGeom>
          <a:noFill/>
          <a:ln>
            <a:noFill/>
          </a:ln>
        </p:spPr>
        <p:txBody>
          <a:bodyPr wrap="square" lIns="0" tIns="0" rIns="0" bIns="0" anchor="t">
            <a:noAutofit/>
          </a:bodyPr>
          <a:lstStyle/>
          <a:p>
            <a:pPr algn="l">
              <a:lnSpc>
                <a:spcPct val="120000"/>
              </a:lnSpc>
              <a:spcAft>
                <a:spcPts val="0"/>
              </a:spcAft>
            </a:pPr>
            <a:r>
              <a:rPr lang="ko-KR" sz="2475" b="1">
                <a:solidFill>
                  <a:srgbClr val="101511"/>
                </a:solidFill>
                <a:latin typeface="Malgun Gothic"/>
                <a:ea typeface="Malgun Gothic"/>
                <a:cs typeface="Malgun Gothic"/>
              </a:rPr>
              <a:t>Supabase</a:t>
            </a:r>
            <a:endParaRPr lang="ko-KR" sz="2475"/>
          </a:p>
        </p:txBody>
      </p:sp>
      <p:sp>
        <p:nvSpPr>
          <p:cNvPr id="21" name="PostgreSQL"/>
          <p:cNvSpPr txBox="1"/>
          <p:nvPr/>
        </p:nvSpPr>
        <p:spPr>
          <a:xfrm>
            <a:off x="11572875" y="4714875"/>
            <a:ext cx="2762250" cy="33337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PostgreSQL</a:t>
            </a:r>
            <a:endParaRPr lang="ko-KR" sz="1875"/>
          </a:p>
        </p:txBody>
      </p:sp>
      <p:sp>
        <p:nvSpPr>
          <p:cNvPr id="22" name="매출·점포·기준정보"/>
          <p:cNvSpPr txBox="1"/>
          <p:nvPr/>
        </p:nvSpPr>
        <p:spPr>
          <a:xfrm>
            <a:off x="11572875" y="5095875"/>
            <a:ext cx="2762250" cy="333375"/>
          </a:xfrm>
          <a:prstGeom prst="rect">
            <a:avLst/>
          </a:prstGeom>
          <a:noFill/>
          <a:ln>
            <a:noFill/>
          </a:ln>
        </p:spPr>
        <p:txBody>
          <a:bodyPr wrap="square" lIns="0" tIns="0" rIns="0" bIns="0" anchor="t">
            <a:noAutofit/>
          </a:bodyPr>
          <a:lstStyle/>
          <a:p>
            <a:pPr algn="l">
              <a:lnSpc>
                <a:spcPct val="120000"/>
              </a:lnSpc>
              <a:spcAft>
                <a:spcPts val="0"/>
              </a:spcAft>
            </a:pPr>
            <a:r>
              <a:rPr lang="ko-KR" sz="1875" b="0" dirty="0" err="1">
                <a:solidFill>
                  <a:srgbClr val="101511"/>
                </a:solidFill>
                <a:latin typeface="Malgun Gothic"/>
                <a:ea typeface="Malgun Gothic"/>
                <a:cs typeface="Malgun Gothic"/>
              </a:rPr>
              <a:t>매출·점포·기준정보</a:t>
            </a:r>
            <a:endParaRPr lang="ko-KR" sz="1875" dirty="0"/>
          </a:p>
        </p:txBody>
      </p:sp>
      <p:cxnSp>
        <p:nvCxnSpPr>
          <p:cNvPr id="23" name="Architecture connection 23"/>
          <p:cNvCxnSpPr>
            <a:cxnSpLocks/>
            <a:stCxn id="11" idx="3"/>
            <a:endCxn id="15" idx="1"/>
          </p:cNvCxnSpPr>
          <p:nvPr/>
        </p:nvCxnSpPr>
        <p:spPr>
          <a:xfrm>
            <a:off x="4000500" y="4595813"/>
            <a:ext cx="1809750" cy="266700"/>
          </a:xfrm>
          <a:prstGeom prst="straightConnector1">
            <a:avLst/>
          </a:prstGeom>
          <a:ln w="25400">
            <a:solidFill>
              <a:srgbClr val="101511"/>
            </a:solidFill>
            <a:prstDash val="solid"/>
            <a:headEnd type="triangle" w="sm" len="sm"/>
            <a:tailEnd type="triangle" w="sm" len="sm"/>
          </a:ln>
        </p:spPr>
      </p:cxnSp>
      <p:sp>
        <p:nvSpPr>
          <p:cNvPr id="24" name="HTTP / JSON"/>
          <p:cNvSpPr txBox="1"/>
          <p:nvPr/>
        </p:nvSpPr>
        <p:spPr>
          <a:xfrm>
            <a:off x="4162425" y="4457700"/>
            <a:ext cx="1495425" cy="295275"/>
          </a:xfrm>
          <a:prstGeom prst="rect">
            <a:avLst/>
          </a:prstGeom>
          <a:noFill/>
          <a:ln>
            <a:noFill/>
          </a:ln>
        </p:spPr>
        <p:txBody>
          <a:bodyPr wrap="square" lIns="0" tIns="0" rIns="0" bIns="0" anchor="t">
            <a:noAutofit/>
          </a:bodyPr>
          <a:lstStyle/>
          <a:p>
            <a:pPr algn="ctr">
              <a:lnSpc>
                <a:spcPct val="120000"/>
              </a:lnSpc>
              <a:spcAft>
                <a:spcPts val="0"/>
              </a:spcAft>
            </a:pPr>
            <a:r>
              <a:rPr lang="ko-KR" sz="1500" b="0">
                <a:solidFill>
                  <a:srgbClr val="101511"/>
                </a:solidFill>
                <a:latin typeface="Malgun Gothic"/>
                <a:ea typeface="Malgun Gothic"/>
                <a:cs typeface="Malgun Gothic"/>
              </a:rPr>
              <a:t>HTTP / JSON</a:t>
            </a:r>
            <a:endParaRPr lang="ko-KR" sz="1500"/>
          </a:p>
        </p:txBody>
      </p:sp>
      <p:cxnSp>
        <p:nvCxnSpPr>
          <p:cNvPr id="25" name="Architecture connection 25"/>
          <p:cNvCxnSpPr>
            <a:stCxn id="15" idx="3"/>
            <a:endCxn id="19" idx="1"/>
          </p:cNvCxnSpPr>
          <p:nvPr/>
        </p:nvCxnSpPr>
        <p:spPr>
          <a:xfrm>
            <a:off x="9544050" y="4857750"/>
            <a:ext cx="1809750" cy="0"/>
          </a:xfrm>
          <a:prstGeom prst="straightConnector1">
            <a:avLst/>
          </a:prstGeom>
          <a:ln w="25400">
            <a:solidFill>
              <a:srgbClr val="101511"/>
            </a:solidFill>
            <a:prstDash val="solid"/>
            <a:headEnd type="triangle" w="sm" len="sm"/>
            <a:tailEnd type="triangle" w="sm" len="sm"/>
          </a:ln>
        </p:spPr>
      </p:cxnSp>
      <p:sp>
        <p:nvSpPr>
          <p:cNvPr id="26" name="SQLAlchemy"/>
          <p:cNvSpPr txBox="1"/>
          <p:nvPr/>
        </p:nvSpPr>
        <p:spPr>
          <a:xfrm>
            <a:off x="9715500" y="4457700"/>
            <a:ext cx="1457325" cy="295275"/>
          </a:xfrm>
          <a:prstGeom prst="rect">
            <a:avLst/>
          </a:prstGeom>
          <a:noFill/>
          <a:ln>
            <a:noFill/>
          </a:ln>
        </p:spPr>
        <p:txBody>
          <a:bodyPr wrap="square" lIns="0" tIns="0" rIns="0" bIns="0" anchor="t">
            <a:noAutofit/>
          </a:bodyPr>
          <a:lstStyle/>
          <a:p>
            <a:pPr algn="ctr">
              <a:lnSpc>
                <a:spcPct val="120000"/>
              </a:lnSpc>
              <a:spcAft>
                <a:spcPts val="0"/>
              </a:spcAft>
            </a:pPr>
            <a:r>
              <a:rPr lang="ko-KR" sz="1500" b="0">
                <a:solidFill>
                  <a:srgbClr val="101511"/>
                </a:solidFill>
                <a:latin typeface="Malgun Gothic"/>
                <a:ea typeface="Malgun Gothic"/>
                <a:cs typeface="Malgun Gothic"/>
              </a:rPr>
              <a:t>SQLAlchemy</a:t>
            </a:r>
            <a:endParaRPr lang="ko-KR" sz="1500"/>
          </a:p>
        </p:txBody>
      </p:sp>
      <p:cxnSp>
        <p:nvCxnSpPr>
          <p:cNvPr id="27" name="Architecture connection 27"/>
          <p:cNvCxnSpPr>
            <a:stCxn id="15" idx="0"/>
            <a:endCxn id="6" idx="2"/>
          </p:cNvCxnSpPr>
          <p:nvPr/>
        </p:nvCxnSpPr>
        <p:spPr>
          <a:xfrm flipV="1">
            <a:off x="7677150" y="3381375"/>
            <a:ext cx="0" cy="647700"/>
          </a:xfrm>
          <a:prstGeom prst="straightConnector1">
            <a:avLst/>
          </a:prstGeom>
          <a:ln w="25400">
            <a:solidFill>
              <a:srgbClr val="101511"/>
            </a:solidFill>
            <a:prstDash val="solid"/>
            <a:headEnd type="triangle" w="sm" len="sm"/>
            <a:tailEnd type="triangle" w="sm" len="sm"/>
          </a:ln>
        </p:spPr>
      </p:cxnSp>
      <p:sp>
        <p:nvSpPr>
          <p:cNvPr id="28" name="지표 / 문장"/>
          <p:cNvSpPr txBox="1"/>
          <p:nvPr/>
        </p:nvSpPr>
        <p:spPr>
          <a:xfrm>
            <a:off x="7877175" y="3581400"/>
            <a:ext cx="1866900" cy="295275"/>
          </a:xfrm>
          <a:prstGeom prst="rect">
            <a:avLst/>
          </a:prstGeom>
          <a:noFill/>
          <a:ln>
            <a:noFill/>
          </a:ln>
        </p:spPr>
        <p:txBody>
          <a:bodyPr wrap="square" lIns="0" tIns="0" rIns="0" bIns="0" anchor="t">
            <a:noAutofit/>
          </a:bodyPr>
          <a:lstStyle/>
          <a:p>
            <a:pPr algn="l">
              <a:lnSpc>
                <a:spcPct val="120000"/>
              </a:lnSpc>
              <a:spcAft>
                <a:spcPts val="0"/>
              </a:spcAft>
            </a:pPr>
            <a:r>
              <a:rPr lang="ko-KR" sz="1575" b="0">
                <a:solidFill>
                  <a:srgbClr val="66716B"/>
                </a:solidFill>
                <a:latin typeface="Malgun Gothic"/>
                <a:ea typeface="Malgun Gothic"/>
                <a:cs typeface="Malgun Gothic"/>
              </a:rPr>
              <a:t>지표 / 문장</a:t>
            </a:r>
            <a:endParaRPr lang="ko-KR" sz="1575"/>
          </a:p>
        </p:txBody>
      </p:sp>
      <p:sp>
        <p:nvSpPr>
          <p:cNvPr id="29" name="정기·수동 데이터 수집"/>
          <p:cNvSpPr txBox="1"/>
          <p:nvPr/>
        </p:nvSpPr>
        <p:spPr>
          <a:xfrm>
            <a:off x="723900" y="6019800"/>
            <a:ext cx="3905250" cy="333375"/>
          </a:xfrm>
          <a:prstGeom prst="rect">
            <a:avLst/>
          </a:prstGeom>
          <a:noFill/>
          <a:ln>
            <a:noFill/>
          </a:ln>
        </p:spPr>
        <p:txBody>
          <a:bodyPr wrap="square" lIns="0" tIns="0" rIns="0" bIns="0" anchor="t">
            <a:noAutofit/>
          </a:bodyPr>
          <a:lstStyle/>
          <a:p>
            <a:pPr algn="l">
              <a:lnSpc>
                <a:spcPct val="120000"/>
              </a:lnSpc>
              <a:spcAft>
                <a:spcPts val="0"/>
              </a:spcAft>
            </a:pPr>
            <a:r>
              <a:rPr lang="ko-KR" sz="1725" b="1">
                <a:solidFill>
                  <a:srgbClr val="66716B"/>
                </a:solidFill>
                <a:latin typeface="Malgun Gothic"/>
                <a:ea typeface="Malgun Gothic"/>
                <a:cs typeface="Malgun Gothic"/>
              </a:rPr>
              <a:t>정기·수동 데이터 수집</a:t>
            </a:r>
            <a:endParaRPr lang="ko-KR" sz="1725"/>
          </a:p>
        </p:txBody>
      </p:sp>
      <p:sp>
        <p:nvSpPr>
          <p:cNvPr id="30" name="Panel 30"/>
          <p:cNvSpPr/>
          <p:nvPr/>
        </p:nvSpPr>
        <p:spPr>
          <a:xfrm>
            <a:off x="704850" y="6438900"/>
            <a:ext cx="3295650" cy="1095375"/>
          </a:xfrm>
          <a:prstGeom prst="rect">
            <a:avLst/>
          </a:prstGeom>
          <a:solidFill>
            <a:srgbClr val="FFFFFF"/>
          </a:solidFill>
          <a:ln w="12700">
            <a:solidFill>
              <a:srgbClr val="101511"/>
            </a:solidFill>
          </a:ln>
        </p:spPr>
      </p:sp>
      <p:sp>
        <p:nvSpPr>
          <p:cNvPr id="31" name="서울 Open API"/>
          <p:cNvSpPr txBox="1"/>
          <p:nvPr/>
        </p:nvSpPr>
        <p:spPr>
          <a:xfrm>
            <a:off x="923925" y="6619875"/>
            <a:ext cx="2857500" cy="438150"/>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서울 Open API</a:t>
            </a:r>
            <a:endParaRPr lang="ko-KR" sz="2325"/>
          </a:p>
        </p:txBody>
      </p:sp>
      <p:sp>
        <p:nvSpPr>
          <p:cNvPr id="32" name="추정매출 · 점포"/>
          <p:cNvSpPr txBox="1"/>
          <p:nvPr/>
        </p:nvSpPr>
        <p:spPr>
          <a:xfrm>
            <a:off x="923925" y="7124700"/>
            <a:ext cx="2857500" cy="33337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추정매출 · 점포</a:t>
            </a:r>
            <a:endParaRPr lang="ko-KR" sz="1875"/>
          </a:p>
        </p:txBody>
      </p:sp>
      <p:sp>
        <p:nvSpPr>
          <p:cNvPr id="33" name="Panel 33"/>
          <p:cNvSpPr/>
          <p:nvPr/>
        </p:nvSpPr>
        <p:spPr>
          <a:xfrm>
            <a:off x="5810250" y="6438900"/>
            <a:ext cx="3733800" cy="1095375"/>
          </a:xfrm>
          <a:prstGeom prst="rect">
            <a:avLst/>
          </a:prstGeom>
          <a:solidFill>
            <a:srgbClr val="ECEEE6"/>
          </a:solidFill>
          <a:ln w="12700">
            <a:solidFill>
              <a:srgbClr val="101511"/>
            </a:solidFill>
          </a:ln>
        </p:spPr>
      </p:sp>
      <p:sp>
        <p:nvSpPr>
          <p:cNvPr id="34" name="수집·적재 작업"/>
          <p:cNvSpPr txBox="1"/>
          <p:nvPr/>
        </p:nvSpPr>
        <p:spPr>
          <a:xfrm>
            <a:off x="6029325" y="6619875"/>
            <a:ext cx="3295650" cy="438150"/>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수집·적재 작업</a:t>
            </a:r>
            <a:endParaRPr lang="ko-KR" sz="2325"/>
          </a:p>
        </p:txBody>
      </p:sp>
      <p:sp>
        <p:nvSpPr>
          <p:cNvPr id="35" name="GitHub Actions + Python"/>
          <p:cNvSpPr txBox="1"/>
          <p:nvPr/>
        </p:nvSpPr>
        <p:spPr>
          <a:xfrm>
            <a:off x="6029325" y="7124700"/>
            <a:ext cx="3295650" cy="333375"/>
          </a:xfrm>
          <a:prstGeom prst="rect">
            <a:avLst/>
          </a:prstGeom>
          <a:noFill/>
          <a:ln>
            <a:noFill/>
          </a:ln>
        </p:spPr>
        <p:txBody>
          <a:bodyPr wrap="square" lIns="0" tIns="0" rIns="0" bIns="0" anchor="t">
            <a:noAutofit/>
          </a:bodyPr>
          <a:lstStyle/>
          <a:p>
            <a:pPr algn="l">
              <a:lnSpc>
                <a:spcPct val="120000"/>
              </a:lnSpc>
              <a:spcAft>
                <a:spcPts val="0"/>
              </a:spcAft>
            </a:pPr>
            <a:r>
              <a:rPr lang="ko-KR" sz="1800" b="0">
                <a:solidFill>
                  <a:srgbClr val="101511"/>
                </a:solidFill>
                <a:latin typeface="Malgun Gothic"/>
                <a:ea typeface="Malgun Gothic"/>
                <a:cs typeface="Malgun Gothic"/>
              </a:rPr>
              <a:t>GitHub Actions + Python</a:t>
            </a:r>
            <a:endParaRPr lang="ko-KR" sz="1800"/>
          </a:p>
        </p:txBody>
      </p:sp>
      <p:cxnSp>
        <p:nvCxnSpPr>
          <p:cNvPr id="36" name="Architecture connection 36"/>
          <p:cNvCxnSpPr>
            <a:stCxn id="30" idx="3"/>
            <a:endCxn id="33" idx="1"/>
          </p:cNvCxnSpPr>
          <p:nvPr/>
        </p:nvCxnSpPr>
        <p:spPr>
          <a:xfrm>
            <a:off x="4000500" y="6991350"/>
            <a:ext cx="1809750" cy="0"/>
          </a:xfrm>
          <a:prstGeom prst="straightConnector1">
            <a:avLst/>
          </a:prstGeom>
          <a:ln w="25400">
            <a:solidFill>
              <a:srgbClr val="101511"/>
            </a:solidFill>
            <a:prstDash val="solid"/>
            <a:tailEnd type="triangle" w="sm" len="sm"/>
          </a:ln>
        </p:spPr>
      </p:cxnSp>
      <p:sp>
        <p:nvSpPr>
          <p:cNvPr id="37" name="원천 데이터"/>
          <p:cNvSpPr txBox="1"/>
          <p:nvPr/>
        </p:nvSpPr>
        <p:spPr>
          <a:xfrm>
            <a:off x="4133850" y="6581775"/>
            <a:ext cx="1543050" cy="285750"/>
          </a:xfrm>
          <a:prstGeom prst="rect">
            <a:avLst/>
          </a:prstGeom>
          <a:noFill/>
          <a:ln>
            <a:noFill/>
          </a:ln>
        </p:spPr>
        <p:txBody>
          <a:bodyPr wrap="square" lIns="0" tIns="0" rIns="0" bIns="0" anchor="t">
            <a:noAutofit/>
          </a:bodyPr>
          <a:lstStyle/>
          <a:p>
            <a:pPr algn="ctr">
              <a:lnSpc>
                <a:spcPct val="120000"/>
              </a:lnSpc>
              <a:spcAft>
                <a:spcPts val="0"/>
              </a:spcAft>
            </a:pPr>
            <a:r>
              <a:rPr lang="ko-KR" sz="1575" b="0">
                <a:solidFill>
                  <a:srgbClr val="101511"/>
                </a:solidFill>
                <a:latin typeface="Malgun Gothic"/>
                <a:ea typeface="Malgun Gothic"/>
                <a:cs typeface="Malgun Gothic"/>
              </a:rPr>
              <a:t>원천 데이터</a:t>
            </a:r>
            <a:endParaRPr lang="ko-KR" sz="1575"/>
          </a:p>
        </p:txBody>
      </p:sp>
      <p:cxnSp>
        <p:nvCxnSpPr>
          <p:cNvPr id="38" name="Architecture connection 38"/>
          <p:cNvCxnSpPr>
            <a:stCxn id="33" idx="3"/>
            <a:endCxn id="19" idx="2"/>
          </p:cNvCxnSpPr>
          <p:nvPr/>
        </p:nvCxnSpPr>
        <p:spPr>
          <a:xfrm flipV="1">
            <a:off x="9544050" y="5695950"/>
            <a:ext cx="3409950" cy="1295400"/>
          </a:xfrm>
          <a:prstGeom prst="bentConnector2">
            <a:avLst/>
          </a:prstGeom>
          <a:ln w="25400">
            <a:solidFill>
              <a:srgbClr val="101511"/>
            </a:solidFill>
            <a:prstDash val="solid"/>
            <a:tailEnd type="triangle" w="sm" len="sm"/>
          </a:ln>
        </p:spPr>
      </p:cxnSp>
      <p:sp>
        <p:nvSpPr>
          <p:cNvPr id="39" name="UPSERT"/>
          <p:cNvSpPr txBox="1"/>
          <p:nvPr/>
        </p:nvSpPr>
        <p:spPr>
          <a:xfrm>
            <a:off x="10315575" y="6581775"/>
            <a:ext cx="1638300" cy="285750"/>
          </a:xfrm>
          <a:prstGeom prst="rect">
            <a:avLst/>
          </a:prstGeom>
          <a:noFill/>
          <a:ln>
            <a:noFill/>
          </a:ln>
        </p:spPr>
        <p:txBody>
          <a:bodyPr wrap="square" lIns="0" tIns="0" rIns="0" bIns="0" anchor="t">
            <a:noAutofit/>
          </a:bodyPr>
          <a:lstStyle/>
          <a:p>
            <a:pPr algn="ctr">
              <a:lnSpc>
                <a:spcPct val="120000"/>
              </a:lnSpc>
              <a:spcAft>
                <a:spcPts val="0"/>
              </a:spcAft>
            </a:pPr>
            <a:r>
              <a:rPr lang="ko-KR" sz="1575" b="0">
                <a:solidFill>
                  <a:srgbClr val="101511"/>
                </a:solidFill>
                <a:latin typeface="Malgun Gothic"/>
                <a:ea typeface="Malgun Gothic"/>
                <a:cs typeface="Malgun Gothic"/>
              </a:rPr>
              <a:t>UPSERT</a:t>
            </a:r>
            <a:endParaRPr lang="ko-KR" sz="1575"/>
          </a:p>
        </p:txBody>
      </p:sp>
      <p:sp>
        <p:nvSpPr>
          <p:cNvPr id="40" name="DB에 저장한 데이터를 서버가 분석하고, Gemini가 지표의 설명을 보완합니다."/>
          <p:cNvSpPr txBox="1"/>
          <p:nvPr/>
        </p:nvSpPr>
        <p:spPr>
          <a:xfrm>
            <a:off x="762000" y="7734300"/>
            <a:ext cx="13811250" cy="323850"/>
          </a:xfrm>
          <a:prstGeom prst="rect">
            <a:avLst/>
          </a:prstGeom>
          <a:noFill/>
          <a:ln>
            <a:noFill/>
          </a:ln>
        </p:spPr>
        <p:txBody>
          <a:bodyPr wrap="square" lIns="0" tIns="0" rIns="0" bIns="0" anchor="t">
            <a:noAutofit/>
          </a:bodyPr>
          <a:lstStyle/>
          <a:p>
            <a:pPr algn="l">
              <a:lnSpc>
                <a:spcPct val="120000"/>
              </a:lnSpc>
              <a:spcAft>
                <a:spcPts val="0"/>
              </a:spcAft>
            </a:pPr>
            <a:r>
              <a:rPr lang="ko-KR" sz="1800" b="1">
                <a:solidFill>
                  <a:srgbClr val="101511"/>
                </a:solidFill>
                <a:latin typeface="Malgun Gothic"/>
                <a:ea typeface="Malgun Gothic"/>
                <a:cs typeface="Malgun Gothic"/>
              </a:rPr>
              <a:t>브라우저가 화면을 실행하고, 백엔드가 데이터 분석과 AI 설명을 제공합니다.</a:t>
            </a:r>
            <a:endParaRPr lang="ko-KR"/>
          </a:p>
        </p:txBody>
      </p:sp>
      <p:sp>
        <p:nvSpPr>
          <p:cNvPr id="41" name="Panel 41"/>
          <p:cNvSpPr/>
          <p:nvPr/>
        </p:nvSpPr>
        <p:spPr>
          <a:xfrm>
            <a:off x="685800" y="8077200"/>
            <a:ext cx="13868400" cy="14288"/>
          </a:xfrm>
          <a:prstGeom prst="rect">
            <a:avLst/>
          </a:prstGeom>
          <a:solidFill>
            <a:srgbClr val="CCD0C7"/>
          </a:solidFill>
          <a:ln w="0">
            <a:noFill/>
          </a:ln>
        </p:spPr>
      </p:sp>
      <p:sp>
        <p:nvSpPr>
          <p:cNvPr id="42"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43" name="17"/>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31</a:t>
            </a:r>
            <a:endParaRPr lang="ko-KR" sz="1725"/>
          </a:p>
        </p:txBody>
      </p:sp>
      <p:sp>
        <p:nvSpPr>
          <p:cNvPr id="45" name="Panel 11">
            <a:extLst>
              <a:ext uri="{FF2B5EF4-FFF2-40B4-BE49-F238E27FC236}">
                <a16:creationId xmlns:a16="http://schemas.microsoft.com/office/drawing/2014/main" id="{052ADA55-10F8-0D43-B284-C974C8DD7822}"/>
              </a:ext>
            </a:extLst>
          </p:cNvPr>
          <p:cNvSpPr/>
          <p:nvPr/>
        </p:nvSpPr>
        <p:spPr>
          <a:xfrm>
            <a:off x="716068" y="5167525"/>
            <a:ext cx="3284432" cy="561763"/>
          </a:xfrm>
          <a:prstGeom prst="rect">
            <a:avLst/>
          </a:prstGeom>
          <a:solidFill>
            <a:srgbClr val="FFFFFF"/>
          </a:solidFill>
          <a:ln w="12700">
            <a:solidFill>
              <a:srgbClr val="101511"/>
            </a:solidFill>
          </a:ln>
        </p:spPr>
        <p:txBody>
          <a:bodyPr/>
          <a:lstStyle/>
          <a:p>
            <a:endParaRPr lang="ko-KR" altLang="en-US" dirty="0"/>
          </a:p>
        </p:txBody>
      </p:sp>
      <p:sp>
        <p:nvSpPr>
          <p:cNvPr id="46" name="탐색 · 상세 · 비교">
            <a:extLst>
              <a:ext uri="{FF2B5EF4-FFF2-40B4-BE49-F238E27FC236}">
                <a16:creationId xmlns:a16="http://schemas.microsoft.com/office/drawing/2014/main" id="{00252781-57BA-D148-8B83-F7A9B7AD94F8}"/>
              </a:ext>
            </a:extLst>
          </p:cNvPr>
          <p:cNvSpPr txBox="1"/>
          <p:nvPr/>
        </p:nvSpPr>
        <p:spPr>
          <a:xfrm>
            <a:off x="923925" y="5295900"/>
            <a:ext cx="2857500" cy="333375"/>
          </a:xfrm>
          <a:prstGeom prst="rect">
            <a:avLst/>
          </a:prstGeom>
          <a:noFill/>
          <a:ln>
            <a:noFill/>
          </a:ln>
        </p:spPr>
        <p:txBody>
          <a:bodyPr wrap="square" lIns="0" tIns="0" rIns="0" bIns="0" anchor="t">
            <a:noAutofit/>
          </a:bodyPr>
          <a:lstStyle/>
          <a:p>
            <a:pPr algn="l">
              <a:lnSpc>
                <a:spcPct val="120000"/>
              </a:lnSpc>
              <a:spcAft>
                <a:spcPts val="0"/>
              </a:spcAft>
            </a:pPr>
            <a:r>
              <a:rPr lang="ko-KR" sz="1875" b="0" dirty="0" err="1">
                <a:solidFill>
                  <a:srgbClr val="101511"/>
                </a:solidFill>
                <a:latin typeface="Malgun Gothic"/>
                <a:ea typeface="Malgun Gothic"/>
                <a:cs typeface="Malgun Gothic"/>
              </a:rPr>
              <a:t>Render</a:t>
            </a:r>
            <a:r>
              <a:rPr lang="ko-KR" sz="1875" b="0" dirty="0">
                <a:solidFill>
                  <a:srgbClr val="101511"/>
                </a:solidFill>
                <a:latin typeface="Malgun Gothic"/>
                <a:ea typeface="Malgun Gothic"/>
                <a:cs typeface="Malgun Gothic"/>
              </a:rPr>
              <a:t> </a:t>
            </a:r>
            <a:r>
              <a:rPr lang="ko-KR" sz="1875" b="0" dirty="0" err="1">
                <a:solidFill>
                  <a:srgbClr val="101511"/>
                </a:solidFill>
                <a:latin typeface="Malgun Gothic"/>
                <a:ea typeface="Malgun Gothic"/>
                <a:cs typeface="Malgun Gothic"/>
              </a:rPr>
              <a:t>Static</a:t>
            </a:r>
            <a:r>
              <a:rPr lang="ko-KR" sz="1875" b="0" dirty="0">
                <a:solidFill>
                  <a:srgbClr val="101511"/>
                </a:solidFill>
                <a:latin typeface="Malgun Gothic"/>
                <a:ea typeface="Malgun Gothic"/>
                <a:cs typeface="Malgun Gothic"/>
              </a:rPr>
              <a:t> </a:t>
            </a:r>
            <a:r>
              <a:rPr lang="ko-KR" sz="1875" b="0" dirty="0" err="1">
                <a:solidFill>
                  <a:srgbClr val="101511"/>
                </a:solidFill>
                <a:latin typeface="Malgun Gothic"/>
                <a:ea typeface="Malgun Gothic"/>
                <a:cs typeface="Malgun Gothic"/>
              </a:rPr>
              <a:t>Site</a:t>
            </a:r>
            <a:endParaRPr lang="ko-K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프론트엔드와 백엔드의 역할 분리"/>
          <p:cNvSpPr txBox="1"/>
          <p:nvPr/>
        </p:nvSpPr>
        <p:spPr>
          <a:xfrm>
            <a:off x="685800" y="847725"/>
            <a:ext cx="13868400" cy="733425"/>
          </a:xfrm>
          <a:prstGeom prst="rect">
            <a:avLst/>
          </a:prstGeom>
          <a:noFill/>
          <a:ln>
            <a:noFill/>
          </a:ln>
        </p:spPr>
        <p:txBody>
          <a:bodyPr wrap="square" lIns="0" tIns="0" rIns="0" bIns="0" anchor="t">
            <a:noAutofit/>
          </a:bodyPr>
          <a:lstStyle/>
          <a:p>
            <a:pPr>
              <a:lnSpc>
                <a:spcPct val="120000"/>
              </a:lnSpc>
            </a:pPr>
            <a:r>
              <a:rPr lang="ko-KR" altLang="en-US" sz="3600" b="1" dirty="0">
                <a:solidFill>
                  <a:srgbClr val="101511"/>
                </a:solidFill>
                <a:latin typeface="Malgun Gothic"/>
                <a:ea typeface="Malgun Gothic"/>
                <a:cs typeface="Malgun Gothic"/>
              </a:rPr>
              <a:t>프론트와 </a:t>
            </a:r>
            <a:r>
              <a:rPr lang="ko-KR" altLang="en-US" sz="3600" b="1" dirty="0" err="1">
                <a:solidFill>
                  <a:srgbClr val="101511"/>
                </a:solidFill>
                <a:latin typeface="Malgun Gothic"/>
                <a:ea typeface="Malgun Gothic"/>
                <a:cs typeface="Malgun Gothic"/>
              </a:rPr>
              <a:t>백엔드의</a:t>
            </a:r>
            <a:r>
              <a:rPr lang="ko-KR" altLang="en-US" sz="3600" b="1" dirty="0">
                <a:solidFill>
                  <a:srgbClr val="101511"/>
                </a:solidFill>
                <a:latin typeface="Malgun Gothic"/>
                <a:ea typeface="Malgun Gothic"/>
                <a:cs typeface="Malgun Gothic"/>
              </a:rPr>
              <a:t> 기술 스택</a:t>
            </a:r>
            <a:endParaRPr lang="ko-KR" sz="3600" b="1" dirty="0"/>
          </a:p>
        </p:txBody>
      </p:sp>
      <p:sp>
        <p:nvSpPr>
          <p:cNvPr id="5" name="화면은 조회·선택·표현을, 서버는 데이터 검증·계산·AI 호출을 담당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화면은 조회·선택·표현을, 서버는 데이터 검증·계산·AI 호출을 담당합니다.</a:t>
            </a:r>
            <a:endParaRPr lang="ko-KR" sz="1650"/>
          </a:p>
        </p:txBody>
      </p:sp>
      <p:graphicFrame>
        <p:nvGraphicFramePr>
          <p:cNvPr id="6" name="Editable table 6"/>
          <p:cNvGraphicFramePr/>
          <p:nvPr/>
        </p:nvGraphicFramePr>
        <p:xfrm>
          <a:off x="704850" y="2381250"/>
          <a:ext cx="13849350" cy="5276850"/>
        </p:xfrm>
        <a:graphic>
          <a:graphicData uri="http://schemas.openxmlformats.org/drawingml/2006/table">
            <a:tbl>
              <a:tblPr firstRow="1">
                <a:tableStyleId>{5C22544A-7EE6-4342-B048-85BDC9FD1C3A}</a:tableStyleId>
              </a:tblPr>
              <a:tblGrid>
                <a:gridCol w="238125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6705600">
                  <a:extLst>
                    <a:ext uri="{9D8B030D-6E8A-4147-A177-3AD203B41FA5}">
                      <a16:colId xmlns:a16="http://schemas.microsoft.com/office/drawing/2014/main" val="20002"/>
                    </a:ext>
                  </a:extLst>
                </a:gridCol>
              </a:tblGrid>
              <a:tr h="628650">
                <a:tc>
                  <a:txBody>
                    <a:bodyPr/>
                    <a:lstStyle/>
                    <a:p>
                      <a:pPr algn="l">
                        <a:lnSpc>
                          <a:spcPct val="120000"/>
                        </a:lnSpc>
                        <a:spcAft>
                          <a:spcPts val="0"/>
                        </a:spcAft>
                      </a:pPr>
                      <a:r>
                        <a:rPr lang="ko-KR" sz="1950" b="1">
                          <a:solidFill>
                            <a:srgbClr val="FFFFFF"/>
                          </a:solidFill>
                          <a:latin typeface="Malgun Gothic"/>
                          <a:ea typeface="Malgun Gothic"/>
                          <a:cs typeface="Malgun Gothic"/>
                        </a:rPr>
                        <a:t>영역</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주요 기술</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구현에서 맡은 역할</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화면</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React 19 · TypeScript 5</a:t>
                      </a:r>
                      <a:endParaRPr lang="ko-KR" sz="1950"/>
                    </a:p>
                    <a:p>
                      <a:pPr algn="l">
                        <a:lnSpc>
                          <a:spcPct val="120000"/>
                        </a:lnSpc>
                        <a:spcAft>
                          <a:spcPts val="0"/>
                        </a:spcAft>
                      </a:pPr>
                      <a:r>
                        <a:rPr lang="ko-KR" sz="1950" b="0">
                          <a:solidFill>
                            <a:srgbClr val="101511"/>
                          </a:solidFill>
                          <a:latin typeface="Malgun Gothic"/>
                          <a:ea typeface="Malgun Gothic"/>
                          <a:cs typeface="Malgun Gothic"/>
                        </a:rPr>
                        <a:t>Vite 6 · Tailwind CSS 4</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탐색·상세·비교 컴포넌트</a:t>
                      </a:r>
                      <a:endParaRPr lang="ko-KR" sz="1950"/>
                    </a:p>
                    <a:p>
                      <a:pPr algn="l">
                        <a:lnSpc>
                          <a:spcPct val="120000"/>
                        </a:lnSpc>
                        <a:spcAft>
                          <a:spcPts val="0"/>
                        </a:spcAft>
                      </a:pPr>
                      <a:r>
                        <a:rPr lang="ko-KR" sz="1950" b="0">
                          <a:solidFill>
                            <a:srgbClr val="101511"/>
                          </a:solidFill>
                          <a:latin typeface="Malgun Gothic"/>
                          <a:ea typeface="Malgun Gothic"/>
                          <a:cs typeface="Malgun Gothic"/>
                        </a:rPr>
                        <a:t>URL로 상세 업종·분기 전달</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상태·통신</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TanStack Query 5</a:t>
                      </a:r>
                      <a:endParaRPr lang="ko-KR" sz="1950"/>
                    </a:p>
                    <a:p>
                      <a:pPr algn="l">
                        <a:lnSpc>
                          <a:spcPct val="120000"/>
                        </a:lnSpc>
                        <a:spcAft>
                          <a:spcPts val="0"/>
                        </a:spcAft>
                      </a:pPr>
                      <a:r>
                        <a:rPr lang="ko-KR" sz="1950" b="0">
                          <a:solidFill>
                            <a:srgbClr val="101511"/>
                          </a:solidFill>
                          <a:latin typeface="Malgun Gothic"/>
                          <a:ea typeface="Malgun Gothic"/>
                          <a:cs typeface="Malgun Gothic"/>
                        </a:rPr>
                        <a:t>Zustand 5 · Axios</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서버 응답과 캐시는 Query</a:t>
                      </a:r>
                      <a:endParaRPr lang="ko-KR" sz="1950"/>
                    </a:p>
                    <a:p>
                      <a:pPr algn="l">
                        <a:lnSpc>
                          <a:spcPct val="120000"/>
                        </a:lnSpc>
                        <a:spcAft>
                          <a:spcPts val="0"/>
                        </a:spcAft>
                      </a:pPr>
                      <a:r>
                        <a:rPr lang="ko-KR" sz="1950" b="0">
                          <a:solidFill>
                            <a:srgbClr val="101511"/>
                          </a:solidFill>
                          <a:latin typeface="Malgun Gothic"/>
                          <a:ea typeface="Malgun Gothic"/>
                          <a:cs typeface="Malgun Gothic"/>
                        </a:rPr>
                        <a:t>비교 후보 등 공유 선택 상태는 Zustand</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분석 API</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FastAPI · Pydantic 2</a:t>
                      </a:r>
                      <a:endParaRPr lang="ko-KR" sz="1950"/>
                    </a:p>
                    <a:p>
                      <a:pPr algn="l">
                        <a:lnSpc>
                          <a:spcPct val="120000"/>
                        </a:lnSpc>
                        <a:spcAft>
                          <a:spcPts val="0"/>
                        </a:spcAft>
                      </a:pPr>
                      <a:r>
                        <a:rPr lang="ko-KR" sz="1950" b="0">
                          <a:solidFill>
                            <a:srgbClr val="101511"/>
                          </a:solidFill>
                          <a:latin typeface="Malgun Gothic"/>
                          <a:ea typeface="Malgun Gothic"/>
                          <a:cs typeface="Malgun Gothic"/>
                        </a:rPr>
                        <a:t>SQLAlchemy 2</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Router → Service → Repository</a:t>
                      </a:r>
                      <a:endParaRPr lang="ko-KR" sz="1950"/>
                    </a:p>
                    <a:p>
                      <a:pPr algn="l">
                        <a:lnSpc>
                          <a:spcPct val="120000"/>
                        </a:lnSpc>
                        <a:spcAft>
                          <a:spcPts val="0"/>
                        </a:spcAft>
                      </a:pPr>
                      <a:r>
                        <a:rPr lang="ko-KR" sz="1950" b="0">
                          <a:solidFill>
                            <a:srgbClr val="101511"/>
                          </a:solidFill>
                          <a:latin typeface="Malgun Gothic"/>
                          <a:ea typeface="Malgun Gothic"/>
                          <a:cs typeface="Malgun Gothic"/>
                        </a:rPr>
                        <a:t>입출력 검증과 공통 지표 계산</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1162050">
                <a:tc>
                  <a:txBody>
                    <a:bodyPr/>
                    <a:lstStyle/>
                    <a:p>
                      <a:pPr algn="l">
                        <a:lnSpc>
                          <a:spcPct val="120000"/>
                        </a:lnSpc>
                        <a:spcAft>
                          <a:spcPts val="0"/>
                        </a:spcAft>
                      </a:pPr>
                      <a:r>
                        <a:rPr lang="ko-KR" sz="1950" b="1">
                          <a:solidFill>
                            <a:srgbClr val="101511"/>
                          </a:solidFill>
                          <a:latin typeface="Malgun Gothic"/>
                          <a:ea typeface="Malgun Gothic"/>
                          <a:cs typeface="Malgun Gothic"/>
                        </a:rPr>
                        <a:t>데이터·AI</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PostgreSQL / Supabase</a:t>
                      </a:r>
                      <a:endParaRPr lang="ko-KR" sz="1950"/>
                    </a:p>
                    <a:p>
                      <a:pPr algn="l">
                        <a:lnSpc>
                          <a:spcPct val="120000"/>
                        </a:lnSpc>
                        <a:spcAft>
                          <a:spcPts val="0"/>
                        </a:spcAft>
                      </a:pPr>
                      <a:r>
                        <a:rPr lang="ko-KR" sz="1950" b="0">
                          <a:solidFill>
                            <a:srgbClr val="101511"/>
                          </a:solidFill>
                          <a:latin typeface="Malgun Gothic"/>
                          <a:ea typeface="Malgun Gothic"/>
                          <a:cs typeface="Malgun Gothic"/>
                        </a:rPr>
                        <a:t>Google Gen AI SDK</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분기별 매출·점포 저장</a:t>
                      </a:r>
                      <a:endParaRPr lang="ko-KR" sz="1950"/>
                    </a:p>
                    <a:p>
                      <a:pPr algn="l">
                        <a:lnSpc>
                          <a:spcPct val="120000"/>
                        </a:lnSpc>
                        <a:spcAft>
                          <a:spcPts val="0"/>
                        </a:spcAft>
                      </a:pPr>
                      <a:r>
                        <a:rPr lang="ko-KR" sz="1950" b="0">
                          <a:solidFill>
                            <a:srgbClr val="101511"/>
                          </a:solidFill>
                          <a:latin typeface="Malgun Gothic"/>
                          <a:ea typeface="Malgun Gothic"/>
                          <a:cs typeface="Malgun Gothic"/>
                        </a:rPr>
                        <a:t>Gemini 호출은 백엔드에서 수행</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Panel 7"/>
          <p:cNvSpPr/>
          <p:nvPr/>
        </p:nvSpPr>
        <p:spPr>
          <a:xfrm>
            <a:off x="685800" y="8077200"/>
            <a:ext cx="13868400" cy="14288"/>
          </a:xfrm>
          <a:prstGeom prst="rect">
            <a:avLst/>
          </a:prstGeom>
          <a:solidFill>
            <a:srgbClr val="CCD0C7"/>
          </a:solidFill>
          <a:ln w="0">
            <a:noFill/>
          </a:ln>
        </p:spPr>
      </p:sp>
      <p:sp>
        <p:nvSpPr>
          <p:cNvPr id="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9" name="08"/>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32</a:t>
            </a:r>
            <a:endParaRPr lang="ko-KR" sz="1725"/>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프론트엔드: 상태를 쓰임새에 따라 관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프론트엔드: 상태를 쓰임새에 따라 관리</a:t>
            </a:r>
            <a:endParaRPr lang="ko-KR" sz="3600"/>
          </a:p>
        </p:txBody>
      </p:sp>
      <p:sp>
        <p:nvSpPr>
          <p:cNvPr id="5" name="서버 데이터, 여러 화면의 선택, 현재 화면의 입력을 구분했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서버 데이터, 여러 화면의 선택, 현재 화면의 입력을 구분했습니다.</a:t>
            </a:r>
            <a:endParaRPr lang="ko-KR" sz="1650"/>
          </a:p>
        </p:txBody>
      </p:sp>
      <p:graphicFrame>
        <p:nvGraphicFramePr>
          <p:cNvPr id="6" name="Editable table 6"/>
          <p:cNvGraphicFramePr/>
          <p:nvPr/>
        </p:nvGraphicFramePr>
        <p:xfrm>
          <a:off x="704850" y="2409825"/>
          <a:ext cx="13849350" cy="5048250"/>
        </p:xfrm>
        <a:graphic>
          <a:graphicData uri="http://schemas.openxmlformats.org/drawingml/2006/table">
            <a:tbl>
              <a:tblPr firstRow="1">
                <a:tableStyleId>{5C22544A-7EE6-4342-B048-85BDC9FD1C3A}</a:tableStyleId>
              </a:tblPr>
              <a:tblGrid>
                <a:gridCol w="2990850">
                  <a:extLst>
                    <a:ext uri="{9D8B030D-6E8A-4147-A177-3AD203B41FA5}">
                      <a16:colId xmlns:a16="http://schemas.microsoft.com/office/drawing/2014/main" val="20000"/>
                    </a:ext>
                  </a:extLst>
                </a:gridCol>
                <a:gridCol w="5200650">
                  <a:extLst>
                    <a:ext uri="{9D8B030D-6E8A-4147-A177-3AD203B41FA5}">
                      <a16:colId xmlns:a16="http://schemas.microsoft.com/office/drawing/2014/main" val="20001"/>
                    </a:ext>
                  </a:extLst>
                </a:gridCol>
                <a:gridCol w="5657850">
                  <a:extLst>
                    <a:ext uri="{9D8B030D-6E8A-4147-A177-3AD203B41FA5}">
                      <a16:colId xmlns:a16="http://schemas.microsoft.com/office/drawing/2014/main" val="20002"/>
                    </a:ext>
                  </a:extLst>
                </a:gridCol>
              </a:tblGrid>
              <a:tr h="628650">
                <a:tc>
                  <a:txBody>
                    <a:bodyPr/>
                    <a:lstStyle/>
                    <a:p>
                      <a:pPr algn="l">
                        <a:lnSpc>
                          <a:spcPct val="120000"/>
                        </a:lnSpc>
                        <a:spcAft>
                          <a:spcPts val="0"/>
                        </a:spcAft>
                      </a:pPr>
                      <a:r>
                        <a:rPr lang="ko-KR" sz="1950" b="1">
                          <a:solidFill>
                            <a:srgbClr val="FFFFFF"/>
                          </a:solidFill>
                          <a:latin typeface="Malgun Gothic"/>
                          <a:ea typeface="Malgun Gothic"/>
                          <a:cs typeface="Malgun Gothic"/>
                        </a:rPr>
                        <a:t>담당</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관리하는 값</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사용자 흐름의 예</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104900">
                <a:tc>
                  <a:txBody>
                    <a:bodyPr/>
                    <a:lstStyle/>
                    <a:p>
                      <a:pPr algn="l">
                        <a:lnSpc>
                          <a:spcPct val="120000"/>
                        </a:lnSpc>
                        <a:spcAft>
                          <a:spcPts val="0"/>
                        </a:spcAft>
                      </a:pPr>
                      <a:r>
                        <a:rPr lang="ko-KR" sz="1950" b="1">
                          <a:solidFill>
                            <a:srgbClr val="101511"/>
                          </a:solidFill>
                          <a:latin typeface="Malgun Gothic"/>
                          <a:ea typeface="Malgun Gothic"/>
                          <a:cs typeface="Malgun Gothic"/>
                        </a:rPr>
                        <a:t>TanStack Query</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조회 조건별 API 응답과 캐시</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업종·분기·지역·검색 조건에 맞춰</a:t>
                      </a:r>
                      <a:endParaRPr lang="ko-KR"/>
                    </a:p>
                    <a:p>
                      <a:pPr algn="l">
                        <a:lnSpc>
                          <a:spcPct val="120000"/>
                        </a:lnSpc>
                        <a:spcAft>
                          <a:spcPts val="0"/>
                        </a:spcAft>
                      </a:pPr>
                      <a:r>
                        <a:rPr lang="ko-KR" sz="1950" b="0">
                          <a:solidFill>
                            <a:srgbClr val="101511"/>
                          </a:solidFill>
                          <a:latin typeface="Malgun Gothic"/>
                          <a:ea typeface="Malgun Gothic"/>
                          <a:cs typeface="Malgun Gothic"/>
                        </a:rPr>
                        <a:t>조회 결과를 가져오고 재사용</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104900">
                <a:tc>
                  <a:txBody>
                    <a:bodyPr/>
                    <a:lstStyle/>
                    <a:p>
                      <a:pPr algn="l">
                        <a:lnSpc>
                          <a:spcPct val="120000"/>
                        </a:lnSpc>
                        <a:spcAft>
                          <a:spcPts val="0"/>
                        </a:spcAft>
                      </a:pPr>
                      <a:r>
                        <a:rPr lang="ko-KR" sz="1950" b="1">
                          <a:solidFill>
                            <a:srgbClr val="101511"/>
                          </a:solidFill>
                          <a:latin typeface="Malgun Gothic"/>
                          <a:ea typeface="Malgun Gothic"/>
                          <a:cs typeface="Malgun Gothic"/>
                        </a:rPr>
                        <a:t>Zustand</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업종·분기·지역과 비교 후보</a:t>
                      </a:r>
                      <a:endParaRPr lang="ko-KR"/>
                    </a:p>
                    <a:p>
                      <a:pPr algn="l">
                        <a:lnSpc>
                          <a:spcPct val="120000"/>
                        </a:lnSpc>
                        <a:spcAft>
                          <a:spcPts val="0"/>
                        </a:spcAft>
                      </a:pPr>
                      <a:r>
                        <a:rPr lang="ko-KR" sz="1950" b="0">
                          <a:solidFill>
                            <a:srgbClr val="101511"/>
                          </a:solidFill>
                          <a:latin typeface="Malgun Gothic"/>
                          <a:ea typeface="Malgun Gothic"/>
                          <a:cs typeface="Malgun Gothic"/>
                        </a:rPr>
                        <a:t>검색 입력·상세 헤더 정보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탐색과 비교 화면 사이에서</a:t>
                      </a:r>
                      <a:endParaRPr lang="ko-KR"/>
                    </a:p>
                    <a:p>
                      <a:pPr algn="l">
                        <a:lnSpc>
                          <a:spcPct val="120000"/>
                        </a:lnSpc>
                        <a:spcAft>
                          <a:spcPts val="0"/>
                        </a:spcAft>
                      </a:pPr>
                      <a:r>
                        <a:rPr lang="ko-KR" sz="1950" b="0">
                          <a:solidFill>
                            <a:srgbClr val="101511"/>
                          </a:solidFill>
                          <a:latin typeface="Malgun Gothic"/>
                          <a:ea typeface="Malgun Gothic"/>
                          <a:cs typeface="Malgun Gothic"/>
                        </a:rPr>
                        <a:t>같은 조건과 후보를 공유</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1104900">
                <a:tc>
                  <a:txBody>
                    <a:bodyPr/>
                    <a:lstStyle/>
                    <a:p>
                      <a:pPr algn="l">
                        <a:lnSpc>
                          <a:spcPct val="120000"/>
                        </a:lnSpc>
                        <a:spcAft>
                          <a:spcPts val="0"/>
                        </a:spcAft>
                      </a:pPr>
                      <a:r>
                        <a:rPr lang="ko-KR" sz="1950" b="1">
                          <a:solidFill>
                            <a:srgbClr val="101511"/>
                          </a:solidFill>
                          <a:latin typeface="Malgun Gothic"/>
                          <a:ea typeface="Malgun Gothic"/>
                          <a:cs typeface="Malgun Gothic"/>
                        </a:rPr>
                        <a:t>URL</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상권 코드·상세 업종·분기</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앱 안에서 상세 화면으로 이동할 때</a:t>
                      </a:r>
                      <a:endParaRPr lang="ko-KR"/>
                    </a:p>
                    <a:p>
                      <a:pPr algn="l">
                        <a:lnSpc>
                          <a:spcPct val="120000"/>
                        </a:lnSpc>
                        <a:spcAft>
                          <a:spcPts val="0"/>
                        </a:spcAft>
                      </a:pPr>
                      <a:r>
                        <a:rPr lang="ko-KR" sz="1950" b="0">
                          <a:solidFill>
                            <a:srgbClr val="101511"/>
                          </a:solidFill>
                          <a:latin typeface="Malgun Gothic"/>
                          <a:ea typeface="Malgun Gothic"/>
                          <a:cs typeface="Malgun Gothic"/>
                        </a:rPr>
                        <a:t>분석 대상을 경로와 쿼리로 전달</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1104900">
                <a:tc>
                  <a:txBody>
                    <a:bodyPr/>
                    <a:lstStyle/>
                    <a:p>
                      <a:pPr algn="l">
                        <a:lnSpc>
                          <a:spcPct val="120000"/>
                        </a:lnSpc>
                        <a:spcAft>
                          <a:spcPts val="0"/>
                        </a:spcAft>
                      </a:pPr>
                      <a:r>
                        <a:rPr lang="ko-KR" sz="1950" b="1">
                          <a:solidFill>
                            <a:srgbClr val="101511"/>
                          </a:solidFill>
                          <a:latin typeface="Malgun Gothic"/>
                          <a:ea typeface="Malgun Gothic"/>
                          <a:cs typeface="Malgun Gothic"/>
                        </a:rPr>
                        <a:t>React state</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확정 검색어·탭</a:t>
                      </a:r>
                      <a:endParaRPr lang="ko-KR"/>
                    </a:p>
                    <a:p>
                      <a:pPr algn="l">
                        <a:lnSpc>
                          <a:spcPct val="120000"/>
                        </a:lnSpc>
                        <a:spcAft>
                          <a:spcPts val="0"/>
                        </a:spcAft>
                      </a:pPr>
                      <a:r>
                        <a:rPr lang="ko-KR" sz="1950" b="0">
                          <a:solidFill>
                            <a:srgbClr val="101511"/>
                          </a:solidFill>
                          <a:latin typeface="Malgun Gothic"/>
                          <a:ea typeface="Malgun Gothic"/>
                          <a:cs typeface="Malgun Gothic"/>
                        </a:rPr>
                        <a:t>비교표에 표시할 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입력과 검색 확정을 나누고</a:t>
                      </a:r>
                      <a:endParaRPr lang="ko-KR"/>
                    </a:p>
                    <a:p>
                      <a:pPr algn="l">
                        <a:lnSpc>
                          <a:spcPct val="120000"/>
                        </a:lnSpc>
                        <a:spcAft>
                          <a:spcPts val="0"/>
                        </a:spcAft>
                      </a:pPr>
                      <a:r>
                        <a:rPr lang="ko-KR" sz="1950" b="0">
                          <a:solidFill>
                            <a:srgbClr val="101511"/>
                          </a:solidFill>
                          <a:latin typeface="Malgun Gothic"/>
                          <a:ea typeface="Malgun Gothic"/>
                          <a:cs typeface="Malgun Gothic"/>
                        </a:rPr>
                        <a:t>현재 보이는 후보 열을 교체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상세 지표·소비 패턴·경쟁·AI 설명은 각각의 요청으로 구성했습니다."/>
          <p:cNvSpPr txBox="1"/>
          <p:nvPr/>
        </p:nvSpPr>
        <p:spPr>
          <a:xfrm>
            <a:off x="762000" y="7591425"/>
            <a:ext cx="13811250" cy="333375"/>
          </a:xfrm>
          <a:prstGeom prst="rect">
            <a:avLst/>
          </a:prstGeom>
          <a:noFill/>
          <a:ln>
            <a:noFill/>
          </a:ln>
        </p:spPr>
        <p:txBody>
          <a:bodyPr wrap="square" lIns="0" tIns="0" rIns="0" bIns="0" anchor="t">
            <a:noAutofit/>
          </a:bodyPr>
          <a:lstStyle/>
          <a:p>
            <a:pPr algn="l">
              <a:lnSpc>
                <a:spcPct val="120000"/>
              </a:lnSpc>
              <a:spcAft>
                <a:spcPts val="0"/>
              </a:spcAft>
            </a:pPr>
            <a:r>
              <a:rPr lang="ko-KR" sz="1875" b="1">
                <a:solidFill>
                  <a:srgbClr val="101511"/>
                </a:solidFill>
                <a:latin typeface="Malgun Gothic"/>
                <a:ea typeface="Malgun Gothic"/>
                <a:cs typeface="Malgun Gothic"/>
              </a:rPr>
              <a:t>상세 지표·소비 패턴·경쟁·AI 설명은 각각의 요청으로 구성했습니다.</a:t>
            </a:r>
            <a:endParaRPr lang="ko-KR" sz="1875"/>
          </a:p>
        </p:txBody>
      </p:sp>
      <p:sp>
        <p:nvSpPr>
          <p:cNvPr id="8" name="Panel 8"/>
          <p:cNvSpPr/>
          <p:nvPr/>
        </p:nvSpPr>
        <p:spPr>
          <a:xfrm>
            <a:off x="685800" y="8077200"/>
            <a:ext cx="13868400" cy="14288"/>
          </a:xfrm>
          <a:prstGeom prst="rect">
            <a:avLst/>
          </a:prstGeom>
          <a:solidFill>
            <a:srgbClr val="CCD0C7"/>
          </a:solidFill>
          <a:ln w="0">
            <a:noFill/>
          </a:ln>
        </p:spPr>
      </p:sp>
      <p:sp>
        <p:nvSpPr>
          <p:cNvPr id="9"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0" name="09"/>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33</a:t>
            </a:r>
            <a:endParaRPr lang="ko-KR" sz="1725"/>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백엔드: 관계형 데이터와 공통 분석 API"/>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백엔드: 관계형 데이터와 공통 분석 API</a:t>
            </a:r>
            <a:endParaRPr lang="ko-KR" sz="3600"/>
          </a:p>
        </p:txBody>
      </p:sp>
      <p:sp>
        <p:nvSpPr>
          <p:cNvPr id="5" name="상권·업종·분기라는 공통 기준으로 매출과 점포 데이터를 연결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상권·업종·분기라는 공통 기준으로 매출과 점포 데이터를 연결합니다.</a:t>
            </a:r>
            <a:endParaRPr lang="ko-KR" sz="1650"/>
          </a:p>
        </p:txBody>
      </p:sp>
      <p:sp>
        <p:nvSpPr>
          <p:cNvPr id="6" name="기준정보"/>
          <p:cNvSpPr txBox="1"/>
          <p:nvPr/>
        </p:nvSpPr>
        <p:spPr>
          <a:xfrm>
            <a:off x="762000" y="2362200"/>
            <a:ext cx="6419850" cy="495300"/>
          </a:xfrm>
          <a:prstGeom prst="rect">
            <a:avLst/>
          </a:prstGeom>
          <a:noFill/>
          <a:ln>
            <a:noFill/>
          </a:ln>
        </p:spPr>
        <p:txBody>
          <a:bodyPr wrap="square" lIns="0" tIns="0" rIns="0" bIns="0" anchor="t">
            <a:noAutofit/>
          </a:bodyPr>
          <a:lstStyle/>
          <a:p>
            <a:pPr algn="l">
              <a:lnSpc>
                <a:spcPct val="120000"/>
              </a:lnSpc>
              <a:spcAft>
                <a:spcPts val="0"/>
              </a:spcAft>
            </a:pPr>
            <a:r>
              <a:rPr lang="ko-KR" sz="2625" b="1">
                <a:solidFill>
                  <a:srgbClr val="101511"/>
                </a:solidFill>
                <a:latin typeface="Malgun Gothic"/>
                <a:ea typeface="Malgun Gothic"/>
                <a:cs typeface="Malgun Gothic"/>
              </a:rPr>
              <a:t>기준정보</a:t>
            </a:r>
            <a:endParaRPr lang="ko-KR" sz="2625"/>
          </a:p>
        </p:txBody>
      </p:sp>
      <p:sp>
        <p:nvSpPr>
          <p:cNvPr id="7" name="자치구 1 : N 상권  ·  업종"/>
          <p:cNvSpPr txBox="1"/>
          <p:nvPr/>
        </p:nvSpPr>
        <p:spPr>
          <a:xfrm>
            <a:off x="762000" y="3028950"/>
            <a:ext cx="6419850" cy="495300"/>
          </a:xfrm>
          <a:prstGeom prst="rect">
            <a:avLst/>
          </a:prstGeom>
          <a:noFill/>
          <a:ln>
            <a:noFill/>
          </a:ln>
        </p:spPr>
        <p:txBody>
          <a:bodyPr wrap="square" lIns="0" tIns="0" rIns="0" bIns="0" anchor="t">
            <a:noAutofit/>
          </a:bodyPr>
          <a:lstStyle/>
          <a:p>
            <a:pPr algn="l">
              <a:lnSpc>
                <a:spcPct val="120000"/>
              </a:lnSpc>
              <a:spcAft>
                <a:spcPts val="0"/>
              </a:spcAft>
            </a:pPr>
            <a:r>
              <a:rPr lang="ko-KR" sz="2325" b="0">
                <a:solidFill>
                  <a:srgbClr val="101511"/>
                </a:solidFill>
                <a:latin typeface="Malgun Gothic"/>
                <a:ea typeface="Malgun Gothic"/>
                <a:cs typeface="Malgun Gothic"/>
              </a:rPr>
              <a:t>자치구 1 : N 상권  ·  업종</a:t>
            </a:r>
            <a:endParaRPr lang="ko-KR" sz="2325"/>
          </a:p>
        </p:txBody>
      </p:sp>
      <p:sp>
        <p:nvSpPr>
          <p:cNvPr id="8" name="상권과 업종을 외래키로 연결하고 분기별 사실 데이터를 분리해 저장합니다."/>
          <p:cNvSpPr txBox="1"/>
          <p:nvPr/>
        </p:nvSpPr>
        <p:spPr>
          <a:xfrm>
            <a:off x="762000" y="3771900"/>
            <a:ext cx="6419850" cy="1066800"/>
          </a:xfrm>
          <a:prstGeom prst="rect">
            <a:avLst/>
          </a:prstGeom>
          <a:noFill/>
          <a:ln>
            <a:noFill/>
          </a:ln>
        </p:spPr>
        <p:txBody>
          <a:bodyPr wrap="square" lIns="0" tIns="0" rIns="0" bIns="0" anchor="t">
            <a:noAutofit/>
          </a:bodyPr>
          <a:lstStyle/>
          <a:p>
            <a:pPr algn="l">
              <a:lnSpc>
                <a:spcPct val="120000"/>
              </a:lnSpc>
              <a:spcAft>
                <a:spcPts val="0"/>
              </a:spcAft>
            </a:pPr>
            <a:r>
              <a:rPr lang="ko-KR" sz="2100" b="0">
                <a:solidFill>
                  <a:srgbClr val="101511"/>
                </a:solidFill>
                <a:latin typeface="Malgun Gothic"/>
                <a:ea typeface="Malgun Gothic"/>
                <a:cs typeface="Malgun Gothic"/>
              </a:rPr>
              <a:t>상권과 업종을 외래키로 연결하고</a:t>
            </a:r>
            <a:endParaRPr lang="ko-KR" sz="2100"/>
          </a:p>
          <a:p>
            <a:pPr algn="l">
              <a:lnSpc>
                <a:spcPct val="120000"/>
              </a:lnSpc>
              <a:spcAft>
                <a:spcPts val="0"/>
              </a:spcAft>
            </a:pPr>
            <a:r>
              <a:rPr lang="ko-KR" sz="2100" b="0">
                <a:solidFill>
                  <a:srgbClr val="101511"/>
                </a:solidFill>
                <a:latin typeface="Malgun Gothic"/>
                <a:ea typeface="Malgun Gothic"/>
                <a:cs typeface="Malgun Gothic"/>
              </a:rPr>
              <a:t>분기별 사실 데이터를 분리해 저장합니다.</a:t>
            </a:r>
            <a:endParaRPr lang="ko-KR" sz="2100"/>
          </a:p>
        </p:txBody>
      </p:sp>
      <p:graphicFrame>
        <p:nvGraphicFramePr>
          <p:cNvPr id="9" name="Editable table 9"/>
          <p:cNvGraphicFramePr/>
          <p:nvPr/>
        </p:nvGraphicFramePr>
        <p:xfrm>
          <a:off x="7648575" y="2343150"/>
          <a:ext cx="6886575" cy="3286125"/>
        </p:xfrm>
        <a:graphic>
          <a:graphicData uri="http://schemas.openxmlformats.org/drawingml/2006/table">
            <a:tbl>
              <a:tblPr firstRow="1">
                <a:tableStyleId>{5C22544A-7EE6-4342-B048-85BDC9FD1C3A}</a:tableStyleId>
              </a:tblPr>
              <a:tblGrid>
                <a:gridCol w="2247900">
                  <a:extLst>
                    <a:ext uri="{9D8B030D-6E8A-4147-A177-3AD203B41FA5}">
                      <a16:colId xmlns:a16="http://schemas.microsoft.com/office/drawing/2014/main" val="20000"/>
                    </a:ext>
                  </a:extLst>
                </a:gridCol>
                <a:gridCol w="4638675">
                  <a:extLst>
                    <a:ext uri="{9D8B030D-6E8A-4147-A177-3AD203B41FA5}">
                      <a16:colId xmlns:a16="http://schemas.microsoft.com/office/drawing/2014/main" val="20001"/>
                    </a:ext>
                  </a:extLst>
                </a:gridCol>
              </a:tblGrid>
              <a:tr h="638175">
                <a:tc>
                  <a:txBody>
                    <a:bodyPr/>
                    <a:lstStyle/>
                    <a:p>
                      <a:pPr algn="l">
                        <a:lnSpc>
                          <a:spcPct val="120000"/>
                        </a:lnSpc>
                        <a:spcAft>
                          <a:spcPts val="0"/>
                        </a:spcAft>
                      </a:pPr>
                      <a:r>
                        <a:rPr lang="ko-KR" sz="1950" b="1">
                          <a:solidFill>
                            <a:srgbClr val="FFFFFF"/>
                          </a:solidFill>
                          <a:latin typeface="Malgun Gothic"/>
                          <a:ea typeface="Malgun Gothic"/>
                          <a:cs typeface="Malgun Gothic"/>
                        </a:rPr>
                        <a:t>분기별 데이터</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주요 저장 내용</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323975">
                <a:tc>
                  <a:txBody>
                    <a:bodyPr/>
                    <a:lstStyle/>
                    <a:p>
                      <a:pPr algn="l">
                        <a:lnSpc>
                          <a:spcPct val="120000"/>
                        </a:lnSpc>
                        <a:spcAft>
                          <a:spcPts val="0"/>
                        </a:spcAft>
                      </a:pPr>
                      <a:r>
                        <a:rPr lang="ko-KR" sz="1950" b="1">
                          <a:solidFill>
                            <a:srgbClr val="101511"/>
                          </a:solidFill>
                          <a:latin typeface="Malgun Gothic"/>
                          <a:ea typeface="Malgun Gothic"/>
                          <a:cs typeface="Malgun Gothic"/>
                        </a:rPr>
                        <a:t>매출</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금액·거래 건수</a:t>
                      </a:r>
                      <a:endParaRPr lang="ko-KR" sz="1950"/>
                    </a:p>
                    <a:p>
                      <a:pPr algn="l">
                        <a:lnSpc>
                          <a:spcPct val="120000"/>
                        </a:lnSpc>
                        <a:spcAft>
                          <a:spcPts val="0"/>
                        </a:spcAft>
                      </a:pPr>
                      <a:r>
                        <a:rPr lang="ko-KR" sz="1950" b="0">
                          <a:solidFill>
                            <a:srgbClr val="101511"/>
                          </a:solidFill>
                          <a:latin typeface="Malgun Gothic"/>
                          <a:ea typeface="Malgun Gothic"/>
                          <a:cs typeface="Malgun Gothic"/>
                        </a:rPr>
                        <a:t>시간·요일·연령·성별 집계</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323975">
                <a:tc>
                  <a:txBody>
                    <a:bodyPr/>
                    <a:lstStyle/>
                    <a:p>
                      <a:pPr algn="l">
                        <a:lnSpc>
                          <a:spcPct val="120000"/>
                        </a:lnSpc>
                        <a:spcAft>
                          <a:spcPts val="0"/>
                        </a:spcAft>
                      </a:pPr>
                      <a:r>
                        <a:rPr lang="ko-KR" sz="1950" b="1">
                          <a:solidFill>
                            <a:srgbClr val="101511"/>
                          </a:solidFill>
                          <a:latin typeface="Malgun Gothic"/>
                          <a:ea typeface="Malgun Gothic"/>
                          <a:cs typeface="Malgun Gothic"/>
                        </a:rPr>
                        <a:t>점포</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점포 수·개폐업률</a:t>
                      </a:r>
                      <a:endParaRPr lang="ko-KR" sz="1950"/>
                    </a:p>
                    <a:p>
                      <a:pPr algn="l">
                        <a:lnSpc>
                          <a:spcPct val="120000"/>
                        </a:lnSpc>
                        <a:spcAft>
                          <a:spcPts val="0"/>
                        </a:spcAft>
                      </a:pPr>
                      <a:r>
                        <a:rPr lang="ko-KR" sz="1950" b="0">
                          <a:solidFill>
                            <a:srgbClr val="101511"/>
                          </a:solidFill>
                          <a:latin typeface="Malgun Gothic"/>
                          <a:ea typeface="Malgun Gothic"/>
                          <a:cs typeface="Malgun Gothic"/>
                        </a:rPr>
                        <a:t>프랜차이즈 수</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0" name="Panel 10"/>
          <p:cNvSpPr/>
          <p:nvPr/>
        </p:nvSpPr>
        <p:spPr>
          <a:xfrm>
            <a:off x="762000" y="5638800"/>
            <a:ext cx="13763625" cy="14288"/>
          </a:xfrm>
          <a:prstGeom prst="rect">
            <a:avLst/>
          </a:prstGeom>
          <a:solidFill>
            <a:srgbClr val="101511"/>
          </a:solidFill>
          <a:ln w="0">
            <a:noFill/>
          </a:ln>
        </p:spPr>
      </p:sp>
      <p:sp>
        <p:nvSpPr>
          <p:cNvPr id="11" name="Router"/>
          <p:cNvSpPr txBox="1"/>
          <p:nvPr/>
        </p:nvSpPr>
        <p:spPr>
          <a:xfrm>
            <a:off x="762000" y="6029325"/>
            <a:ext cx="3762375" cy="504825"/>
          </a:xfrm>
          <a:prstGeom prst="rect">
            <a:avLst/>
          </a:prstGeom>
          <a:noFill/>
          <a:ln>
            <a:noFill/>
          </a:ln>
        </p:spPr>
        <p:txBody>
          <a:bodyPr wrap="square" lIns="0" tIns="0" rIns="0" bIns="0" anchor="t">
            <a:noAutofit/>
          </a:bodyPr>
          <a:lstStyle/>
          <a:p>
            <a:pPr algn="l">
              <a:lnSpc>
                <a:spcPct val="120000"/>
              </a:lnSpc>
              <a:spcAft>
                <a:spcPts val="0"/>
              </a:spcAft>
            </a:pPr>
            <a:r>
              <a:rPr lang="ko-KR" sz="2625" b="1">
                <a:solidFill>
                  <a:srgbClr val="101511"/>
                </a:solidFill>
                <a:latin typeface="Malgun Gothic"/>
                <a:ea typeface="Malgun Gothic"/>
                <a:cs typeface="Malgun Gothic"/>
              </a:rPr>
              <a:t>Router</a:t>
            </a:r>
            <a:endParaRPr lang="ko-KR" sz="2625"/>
          </a:p>
        </p:txBody>
      </p:sp>
      <p:sp>
        <p:nvSpPr>
          <p:cNvPr id="12" name="요청 파라미터와 응답 계약"/>
          <p:cNvSpPr txBox="1"/>
          <p:nvPr/>
        </p:nvSpPr>
        <p:spPr>
          <a:xfrm>
            <a:off x="762000" y="6705600"/>
            <a:ext cx="3905250" cy="857250"/>
          </a:xfrm>
          <a:prstGeom prst="rect">
            <a:avLst/>
          </a:prstGeom>
          <a:noFill/>
          <a:ln>
            <a:noFill/>
          </a:ln>
        </p:spPr>
        <p:txBody>
          <a:bodyPr wrap="square" lIns="0" tIns="0" rIns="0" bIns="0" anchor="t">
            <a:noAutofit/>
          </a:bodyPr>
          <a:lstStyle/>
          <a:p>
            <a:pPr algn="l">
              <a:lnSpc>
                <a:spcPct val="120000"/>
              </a:lnSpc>
              <a:spcAft>
                <a:spcPts val="0"/>
              </a:spcAft>
            </a:pPr>
            <a:r>
              <a:rPr lang="ko-KR" sz="2025" b="0">
                <a:solidFill>
                  <a:srgbClr val="101511"/>
                </a:solidFill>
                <a:latin typeface="Malgun Gothic"/>
                <a:ea typeface="Malgun Gothic"/>
                <a:cs typeface="Malgun Gothic"/>
              </a:rPr>
              <a:t>요청 파라미터와 응답 계약</a:t>
            </a:r>
            <a:endParaRPr lang="ko-KR" sz="2025"/>
          </a:p>
        </p:txBody>
      </p:sp>
      <p:sp>
        <p:nvSpPr>
          <p:cNvPr id="13" name="Service"/>
          <p:cNvSpPr txBox="1"/>
          <p:nvPr/>
        </p:nvSpPr>
        <p:spPr>
          <a:xfrm>
            <a:off x="5524500" y="6029325"/>
            <a:ext cx="3714750" cy="504825"/>
          </a:xfrm>
          <a:prstGeom prst="rect">
            <a:avLst/>
          </a:prstGeom>
          <a:noFill/>
          <a:ln>
            <a:noFill/>
          </a:ln>
        </p:spPr>
        <p:txBody>
          <a:bodyPr wrap="square" lIns="0" tIns="0" rIns="0" bIns="0" anchor="t">
            <a:noAutofit/>
          </a:bodyPr>
          <a:lstStyle/>
          <a:p>
            <a:pPr algn="l">
              <a:lnSpc>
                <a:spcPct val="120000"/>
              </a:lnSpc>
              <a:spcAft>
                <a:spcPts val="0"/>
              </a:spcAft>
            </a:pPr>
            <a:r>
              <a:rPr lang="ko-KR" sz="2625" b="1">
                <a:solidFill>
                  <a:srgbClr val="101511"/>
                </a:solidFill>
                <a:latin typeface="Malgun Gothic"/>
                <a:ea typeface="Malgun Gothic"/>
                <a:cs typeface="Malgun Gothic"/>
              </a:rPr>
              <a:t>Service</a:t>
            </a:r>
            <a:endParaRPr lang="ko-KR" sz="2625"/>
          </a:p>
        </p:txBody>
      </p:sp>
      <p:sp>
        <p:nvSpPr>
          <p:cNvPr id="14" name="분석 규칙과 점수·요약 조합"/>
          <p:cNvSpPr txBox="1"/>
          <p:nvPr/>
        </p:nvSpPr>
        <p:spPr>
          <a:xfrm>
            <a:off x="5524500" y="6705600"/>
            <a:ext cx="4095750" cy="857250"/>
          </a:xfrm>
          <a:prstGeom prst="rect">
            <a:avLst/>
          </a:prstGeom>
          <a:noFill/>
          <a:ln>
            <a:noFill/>
          </a:ln>
        </p:spPr>
        <p:txBody>
          <a:bodyPr wrap="square" lIns="0" tIns="0" rIns="0" bIns="0" anchor="t">
            <a:noAutofit/>
          </a:bodyPr>
          <a:lstStyle/>
          <a:p>
            <a:pPr algn="l">
              <a:lnSpc>
                <a:spcPct val="120000"/>
              </a:lnSpc>
              <a:spcAft>
                <a:spcPts val="0"/>
              </a:spcAft>
            </a:pPr>
            <a:r>
              <a:rPr lang="ko-KR" sz="2025" b="0">
                <a:solidFill>
                  <a:srgbClr val="101511"/>
                </a:solidFill>
                <a:latin typeface="Malgun Gothic"/>
                <a:ea typeface="Malgun Gothic"/>
                <a:cs typeface="Malgun Gothic"/>
              </a:rPr>
              <a:t>분석 규칙과 점수·요약 조합</a:t>
            </a:r>
            <a:endParaRPr lang="ko-KR" sz="2025"/>
          </a:p>
        </p:txBody>
      </p:sp>
      <p:sp>
        <p:nvSpPr>
          <p:cNvPr id="15" name="Repository"/>
          <p:cNvSpPr txBox="1"/>
          <p:nvPr/>
        </p:nvSpPr>
        <p:spPr>
          <a:xfrm>
            <a:off x="10287000" y="6029325"/>
            <a:ext cx="4229100" cy="504825"/>
          </a:xfrm>
          <a:prstGeom prst="rect">
            <a:avLst/>
          </a:prstGeom>
          <a:noFill/>
          <a:ln>
            <a:noFill/>
          </a:ln>
        </p:spPr>
        <p:txBody>
          <a:bodyPr wrap="square" lIns="0" tIns="0" rIns="0" bIns="0" anchor="t">
            <a:noAutofit/>
          </a:bodyPr>
          <a:lstStyle/>
          <a:p>
            <a:pPr algn="l">
              <a:lnSpc>
                <a:spcPct val="120000"/>
              </a:lnSpc>
              <a:spcAft>
                <a:spcPts val="0"/>
              </a:spcAft>
            </a:pPr>
            <a:r>
              <a:rPr lang="ko-KR" sz="2625" b="1">
                <a:solidFill>
                  <a:srgbClr val="101511"/>
                </a:solidFill>
                <a:latin typeface="Malgun Gothic"/>
                <a:ea typeface="Malgun Gothic"/>
                <a:cs typeface="Malgun Gothic"/>
              </a:rPr>
              <a:t>Repository</a:t>
            </a:r>
            <a:endParaRPr lang="ko-KR" sz="2625"/>
          </a:p>
        </p:txBody>
      </p:sp>
      <p:sp>
        <p:nvSpPr>
          <p:cNvPr id="16" name="조회 조건과 DB 접근"/>
          <p:cNvSpPr txBox="1"/>
          <p:nvPr/>
        </p:nvSpPr>
        <p:spPr>
          <a:xfrm>
            <a:off x="10287000" y="6705600"/>
            <a:ext cx="4229100" cy="857250"/>
          </a:xfrm>
          <a:prstGeom prst="rect">
            <a:avLst/>
          </a:prstGeom>
          <a:noFill/>
          <a:ln>
            <a:noFill/>
          </a:ln>
        </p:spPr>
        <p:txBody>
          <a:bodyPr wrap="square" lIns="0" tIns="0" rIns="0" bIns="0" anchor="t">
            <a:noAutofit/>
          </a:bodyPr>
          <a:lstStyle/>
          <a:p>
            <a:pPr algn="l">
              <a:lnSpc>
                <a:spcPct val="120000"/>
              </a:lnSpc>
              <a:spcAft>
                <a:spcPts val="0"/>
              </a:spcAft>
            </a:pPr>
            <a:r>
              <a:rPr lang="ko-KR" sz="2025" b="0">
                <a:solidFill>
                  <a:srgbClr val="101511"/>
                </a:solidFill>
                <a:latin typeface="Malgun Gothic"/>
                <a:ea typeface="Malgun Gothic"/>
                <a:cs typeface="Malgun Gothic"/>
              </a:rPr>
              <a:t>조회 조건과 DB 접근</a:t>
            </a:r>
            <a:endParaRPr lang="ko-KR" sz="2025"/>
          </a:p>
        </p:txBody>
      </p:sp>
      <p:sp>
        <p:nvSpPr>
          <p:cNvPr id="17" name="Panel 17"/>
          <p:cNvSpPr/>
          <p:nvPr/>
        </p:nvSpPr>
        <p:spPr>
          <a:xfrm>
            <a:off x="685800" y="8077200"/>
            <a:ext cx="13868400" cy="14288"/>
          </a:xfrm>
          <a:prstGeom prst="rect">
            <a:avLst/>
          </a:prstGeom>
          <a:solidFill>
            <a:srgbClr val="CCD0C7"/>
          </a:solidFill>
          <a:ln w="0">
            <a:noFill/>
          </a:ln>
        </p:spPr>
      </p:sp>
      <p:sp>
        <p:nvSpPr>
          <p:cNvPr id="1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9" name="10"/>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34</a:t>
            </a:r>
            <a:endParaRPr lang="ko-KR" sz="1725"/>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공공데이터와 설명 가능한 탐색 점수"/>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공공데이터와 설명 가능한 탐색 점수</a:t>
            </a:r>
            <a:endParaRPr lang="ko-KR" sz="3600"/>
          </a:p>
        </p:txBody>
      </p:sp>
      <p:sp>
        <p:nvSpPr>
          <p:cNvPr id="5" name="같은 업종·분기의 서울 상권을 기준으로 상대적인 탐색 우선순위를 계산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같은 업종·분기의 서울 상권을 기준으로 상대적인 탐색 우선순위를 계산합니다.</a:t>
            </a:r>
            <a:endParaRPr lang="ko-KR" sz="1650"/>
          </a:p>
        </p:txBody>
      </p:sp>
      <p:sp>
        <p:nvSpPr>
          <p:cNvPr id="6" name="서울 Open API 2종"/>
          <p:cNvSpPr txBox="1"/>
          <p:nvPr/>
        </p:nvSpPr>
        <p:spPr>
          <a:xfrm>
            <a:off x="733425" y="2324100"/>
            <a:ext cx="6000750" cy="447675"/>
          </a:xfrm>
          <a:prstGeom prst="rect">
            <a:avLst/>
          </a:prstGeom>
          <a:noFill/>
          <a:ln>
            <a:noFill/>
          </a:ln>
        </p:spPr>
        <p:txBody>
          <a:bodyPr wrap="square" lIns="0" tIns="0" rIns="0" bIns="0" anchor="t">
            <a:noAutofit/>
          </a:bodyPr>
          <a:lstStyle/>
          <a:p>
            <a:pPr algn="l">
              <a:lnSpc>
                <a:spcPct val="120000"/>
              </a:lnSpc>
              <a:spcAft>
                <a:spcPts val="0"/>
              </a:spcAft>
            </a:pPr>
            <a:r>
              <a:rPr lang="ko-KR" sz="2550" b="1">
                <a:solidFill>
                  <a:srgbClr val="101511"/>
                </a:solidFill>
                <a:latin typeface="Malgun Gothic"/>
                <a:ea typeface="Malgun Gothic"/>
                <a:cs typeface="Malgun Gothic"/>
              </a:rPr>
              <a:t>서울 Open API 2종</a:t>
            </a:r>
            <a:endParaRPr lang="ko-KR" sz="2550"/>
          </a:p>
        </p:txBody>
      </p:sp>
      <p:sp>
        <p:nvSpPr>
          <p:cNvPr id="7" name="추정매출–상권  ·  점포–상권"/>
          <p:cNvSpPr txBox="1"/>
          <p:nvPr/>
        </p:nvSpPr>
        <p:spPr>
          <a:xfrm>
            <a:off x="733425" y="2914650"/>
            <a:ext cx="6858000" cy="466725"/>
          </a:xfrm>
          <a:prstGeom prst="rect">
            <a:avLst/>
          </a:prstGeom>
          <a:noFill/>
          <a:ln>
            <a:noFill/>
          </a:ln>
        </p:spPr>
        <p:txBody>
          <a:bodyPr wrap="square" lIns="0" tIns="0" rIns="0" bIns="0" anchor="t">
            <a:noAutofit/>
          </a:bodyPr>
          <a:lstStyle/>
          <a:p>
            <a:pPr algn="l">
              <a:lnSpc>
                <a:spcPct val="120000"/>
              </a:lnSpc>
              <a:spcAft>
                <a:spcPts val="0"/>
              </a:spcAft>
            </a:pPr>
            <a:r>
              <a:rPr lang="ko-KR" sz="2250" b="0">
                <a:solidFill>
                  <a:srgbClr val="101511"/>
                </a:solidFill>
                <a:latin typeface="Malgun Gothic"/>
                <a:ea typeface="Malgun Gothic"/>
                <a:cs typeface="Malgun Gothic"/>
              </a:rPr>
              <a:t>추정매출–상권  ·  점포–상권</a:t>
            </a:r>
            <a:endParaRPr lang="ko-KR" sz="2250"/>
          </a:p>
        </p:txBody>
      </p:sp>
      <p:sp>
        <p:nvSpPr>
          <p:cNvPr id="8" name="수집 → 기준정보 연결 → PostgreSQL 적재"/>
          <p:cNvSpPr txBox="1"/>
          <p:nvPr/>
        </p:nvSpPr>
        <p:spPr>
          <a:xfrm>
            <a:off x="733425" y="3619500"/>
            <a:ext cx="13782675" cy="457200"/>
          </a:xfrm>
          <a:prstGeom prst="rect">
            <a:avLst/>
          </a:prstGeom>
          <a:noFill/>
          <a:ln>
            <a:noFill/>
          </a:ln>
        </p:spPr>
        <p:txBody>
          <a:bodyPr wrap="square" lIns="0" tIns="0" rIns="0" bIns="0" anchor="t">
            <a:noAutofit/>
          </a:bodyPr>
          <a:lstStyle/>
          <a:p>
            <a:pPr algn="l">
              <a:lnSpc>
                <a:spcPct val="120000"/>
              </a:lnSpc>
              <a:spcAft>
                <a:spcPts val="0"/>
              </a:spcAft>
            </a:pPr>
            <a:r>
              <a:rPr lang="ko-KR" sz="2400" b="1">
                <a:solidFill>
                  <a:srgbClr val="101511"/>
                </a:solidFill>
                <a:latin typeface="Malgun Gothic"/>
                <a:ea typeface="Malgun Gothic"/>
                <a:cs typeface="Malgun Gothic"/>
              </a:rPr>
              <a:t>수집 → 기준정보 연결 → PostgreSQL 적재</a:t>
            </a:r>
            <a:endParaRPr lang="ko-KR" sz="2400"/>
          </a:p>
        </p:txBody>
      </p:sp>
      <p:sp>
        <p:nvSpPr>
          <p:cNvPr id="9" name="분기·상권·업종 유일키로 UPSERT하여 재수집 시 중복을 방지합니다."/>
          <p:cNvSpPr txBox="1"/>
          <p:nvPr/>
        </p:nvSpPr>
        <p:spPr>
          <a:xfrm>
            <a:off x="742950" y="4200525"/>
            <a:ext cx="13811250" cy="390525"/>
          </a:xfrm>
          <a:prstGeom prst="rect">
            <a:avLst/>
          </a:prstGeom>
          <a:noFill/>
          <a:ln>
            <a:noFill/>
          </a:ln>
        </p:spPr>
        <p:txBody>
          <a:bodyPr wrap="square" lIns="0" tIns="0" rIns="0" bIns="0" anchor="t">
            <a:noAutofit/>
          </a:bodyPr>
          <a:lstStyle/>
          <a:p>
            <a:pPr algn="l">
              <a:lnSpc>
                <a:spcPct val="120000"/>
              </a:lnSpc>
              <a:spcAft>
                <a:spcPts val="0"/>
              </a:spcAft>
            </a:pPr>
            <a:r>
              <a:rPr lang="ko-KR" sz="1950" b="0">
                <a:solidFill>
                  <a:srgbClr val="66716B"/>
                </a:solidFill>
                <a:latin typeface="Malgun Gothic"/>
                <a:ea typeface="Malgun Gothic"/>
                <a:cs typeface="Malgun Gothic"/>
              </a:rPr>
              <a:t>분기·상권·업종 유일키로 UPSERT하여 재수집 시 중복을 방지합니다.</a:t>
            </a:r>
            <a:endParaRPr lang="ko-KR" sz="1950"/>
          </a:p>
        </p:txBody>
      </p:sp>
      <p:sp>
        <p:nvSpPr>
          <p:cNvPr id="10" name="Panel 10"/>
          <p:cNvSpPr/>
          <p:nvPr/>
        </p:nvSpPr>
        <p:spPr>
          <a:xfrm>
            <a:off x="723900" y="4924425"/>
            <a:ext cx="13811250" cy="14288"/>
          </a:xfrm>
          <a:prstGeom prst="rect">
            <a:avLst/>
          </a:prstGeom>
          <a:solidFill>
            <a:srgbClr val="101511"/>
          </a:solidFill>
          <a:ln w="0">
            <a:noFill/>
          </a:ln>
        </p:spPr>
      </p:sp>
      <p:sp>
        <p:nvSpPr>
          <p:cNvPr id="11" name="40%"/>
          <p:cNvSpPr txBox="1"/>
          <p:nvPr/>
        </p:nvSpPr>
        <p:spPr>
          <a:xfrm>
            <a:off x="762000" y="5286375"/>
            <a:ext cx="4381500" cy="942975"/>
          </a:xfrm>
          <a:prstGeom prst="rect">
            <a:avLst/>
          </a:prstGeom>
          <a:noFill/>
          <a:ln>
            <a:noFill/>
          </a:ln>
        </p:spPr>
        <p:txBody>
          <a:bodyPr wrap="square" lIns="0" tIns="0" rIns="0" bIns="0" anchor="t">
            <a:noAutofit/>
          </a:bodyPr>
          <a:lstStyle/>
          <a:p>
            <a:pPr algn="l">
              <a:lnSpc>
                <a:spcPct val="120000"/>
              </a:lnSpc>
              <a:spcAft>
                <a:spcPts val="0"/>
              </a:spcAft>
            </a:pPr>
            <a:r>
              <a:rPr lang="ko-KR" sz="5100" b="1">
                <a:solidFill>
                  <a:srgbClr val="101511"/>
                </a:solidFill>
                <a:latin typeface="Malgun Gothic"/>
                <a:ea typeface="Malgun Gothic"/>
                <a:cs typeface="Malgun Gothic"/>
              </a:rPr>
              <a:t>40%</a:t>
            </a:r>
            <a:endParaRPr lang="ko-KR" sz="5100"/>
          </a:p>
        </p:txBody>
      </p:sp>
      <p:sp>
        <p:nvSpPr>
          <p:cNvPr id="12" name="GrowthScore"/>
          <p:cNvSpPr txBox="1"/>
          <p:nvPr/>
        </p:nvSpPr>
        <p:spPr>
          <a:xfrm>
            <a:off x="762000" y="6315075"/>
            <a:ext cx="4381500" cy="419100"/>
          </a:xfrm>
          <a:prstGeom prst="rect">
            <a:avLst/>
          </a:prstGeom>
          <a:noFill/>
          <a:ln>
            <a:noFill/>
          </a:ln>
        </p:spPr>
        <p:txBody>
          <a:bodyPr wrap="square" lIns="0" tIns="0" rIns="0" bIns="0" anchor="t">
            <a:noAutofit/>
          </a:bodyPr>
          <a:lstStyle/>
          <a:p>
            <a:pPr algn="l">
              <a:lnSpc>
                <a:spcPct val="120000"/>
              </a:lnSpc>
              <a:spcAft>
                <a:spcPts val="0"/>
              </a:spcAft>
            </a:pPr>
            <a:r>
              <a:rPr lang="ko-KR" sz="2100" b="1">
                <a:solidFill>
                  <a:srgbClr val="101511"/>
                </a:solidFill>
                <a:latin typeface="Malgun Gothic"/>
                <a:ea typeface="Malgun Gothic"/>
                <a:cs typeface="Malgun Gothic"/>
              </a:rPr>
              <a:t>GrowthScore</a:t>
            </a:r>
            <a:endParaRPr lang="ko-KR" sz="2100"/>
          </a:p>
        </p:txBody>
      </p:sp>
      <p:sp>
        <p:nvSpPr>
          <p:cNvPr id="13" name="전분기 대비 매출 성장"/>
          <p:cNvSpPr txBox="1"/>
          <p:nvPr/>
        </p:nvSpPr>
        <p:spPr>
          <a:xfrm>
            <a:off x="762000" y="6867525"/>
            <a:ext cx="4381500" cy="42862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전분기 대비 매출 성장</a:t>
            </a:r>
            <a:endParaRPr lang="ko-KR" sz="1875"/>
          </a:p>
        </p:txBody>
      </p:sp>
      <p:sp>
        <p:nvSpPr>
          <p:cNvPr id="14" name="35%"/>
          <p:cNvSpPr txBox="1"/>
          <p:nvPr/>
        </p:nvSpPr>
        <p:spPr>
          <a:xfrm>
            <a:off x="5457825" y="5286375"/>
            <a:ext cx="4381500" cy="942975"/>
          </a:xfrm>
          <a:prstGeom prst="rect">
            <a:avLst/>
          </a:prstGeom>
          <a:noFill/>
          <a:ln>
            <a:noFill/>
          </a:ln>
        </p:spPr>
        <p:txBody>
          <a:bodyPr wrap="square" lIns="0" tIns="0" rIns="0" bIns="0" anchor="t">
            <a:noAutofit/>
          </a:bodyPr>
          <a:lstStyle/>
          <a:p>
            <a:pPr algn="l">
              <a:lnSpc>
                <a:spcPct val="120000"/>
              </a:lnSpc>
              <a:spcAft>
                <a:spcPts val="0"/>
              </a:spcAft>
            </a:pPr>
            <a:r>
              <a:rPr lang="ko-KR" sz="5100" b="1">
                <a:solidFill>
                  <a:srgbClr val="101511"/>
                </a:solidFill>
                <a:latin typeface="Malgun Gothic"/>
                <a:ea typeface="Malgun Gothic"/>
                <a:cs typeface="Malgun Gothic"/>
              </a:rPr>
              <a:t>35%</a:t>
            </a:r>
            <a:endParaRPr lang="ko-KR" sz="5100"/>
          </a:p>
        </p:txBody>
      </p:sp>
      <p:sp>
        <p:nvSpPr>
          <p:cNvPr id="15" name="TransactionScore"/>
          <p:cNvSpPr txBox="1"/>
          <p:nvPr/>
        </p:nvSpPr>
        <p:spPr>
          <a:xfrm>
            <a:off x="5457825" y="6315075"/>
            <a:ext cx="4381500" cy="419100"/>
          </a:xfrm>
          <a:prstGeom prst="rect">
            <a:avLst/>
          </a:prstGeom>
          <a:noFill/>
          <a:ln>
            <a:noFill/>
          </a:ln>
        </p:spPr>
        <p:txBody>
          <a:bodyPr wrap="square" lIns="0" tIns="0" rIns="0" bIns="0" anchor="t">
            <a:noAutofit/>
          </a:bodyPr>
          <a:lstStyle/>
          <a:p>
            <a:pPr algn="l">
              <a:lnSpc>
                <a:spcPct val="120000"/>
              </a:lnSpc>
              <a:spcAft>
                <a:spcPts val="0"/>
              </a:spcAft>
            </a:pPr>
            <a:r>
              <a:rPr lang="ko-KR" sz="2100" b="1">
                <a:solidFill>
                  <a:srgbClr val="101511"/>
                </a:solidFill>
                <a:latin typeface="Malgun Gothic"/>
                <a:ea typeface="Malgun Gothic"/>
                <a:cs typeface="Malgun Gothic"/>
              </a:rPr>
              <a:t>TransactionScore</a:t>
            </a:r>
            <a:endParaRPr lang="ko-KR" sz="2100"/>
          </a:p>
        </p:txBody>
      </p:sp>
      <p:sp>
        <p:nvSpPr>
          <p:cNvPr id="16" name="거래 활성도"/>
          <p:cNvSpPr txBox="1"/>
          <p:nvPr/>
        </p:nvSpPr>
        <p:spPr>
          <a:xfrm>
            <a:off x="5457825" y="6867525"/>
            <a:ext cx="4381500" cy="42862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거래 활성도</a:t>
            </a:r>
            <a:endParaRPr lang="ko-KR" sz="1875"/>
          </a:p>
        </p:txBody>
      </p:sp>
      <p:sp>
        <p:nvSpPr>
          <p:cNvPr id="17" name="25%"/>
          <p:cNvSpPr txBox="1"/>
          <p:nvPr/>
        </p:nvSpPr>
        <p:spPr>
          <a:xfrm>
            <a:off x="10153650" y="5286375"/>
            <a:ext cx="4381500" cy="942975"/>
          </a:xfrm>
          <a:prstGeom prst="rect">
            <a:avLst/>
          </a:prstGeom>
          <a:noFill/>
          <a:ln>
            <a:noFill/>
          </a:ln>
        </p:spPr>
        <p:txBody>
          <a:bodyPr wrap="square" lIns="0" tIns="0" rIns="0" bIns="0" anchor="t">
            <a:noAutofit/>
          </a:bodyPr>
          <a:lstStyle/>
          <a:p>
            <a:pPr algn="l">
              <a:lnSpc>
                <a:spcPct val="120000"/>
              </a:lnSpc>
              <a:spcAft>
                <a:spcPts val="0"/>
              </a:spcAft>
            </a:pPr>
            <a:r>
              <a:rPr lang="ko-KR" sz="5100" b="1">
                <a:solidFill>
                  <a:srgbClr val="101511"/>
                </a:solidFill>
                <a:latin typeface="Malgun Gothic"/>
                <a:ea typeface="Malgun Gothic"/>
                <a:cs typeface="Malgun Gothic"/>
              </a:rPr>
              <a:t>25%</a:t>
            </a:r>
            <a:endParaRPr lang="ko-KR" sz="5100"/>
          </a:p>
        </p:txBody>
      </p:sp>
      <p:sp>
        <p:nvSpPr>
          <p:cNvPr id="18" name="CompetitionScore"/>
          <p:cNvSpPr txBox="1"/>
          <p:nvPr/>
        </p:nvSpPr>
        <p:spPr>
          <a:xfrm>
            <a:off x="10153650" y="6315075"/>
            <a:ext cx="4381500" cy="419100"/>
          </a:xfrm>
          <a:prstGeom prst="rect">
            <a:avLst/>
          </a:prstGeom>
          <a:noFill/>
          <a:ln>
            <a:noFill/>
          </a:ln>
        </p:spPr>
        <p:txBody>
          <a:bodyPr wrap="square" lIns="0" tIns="0" rIns="0" bIns="0" anchor="t">
            <a:noAutofit/>
          </a:bodyPr>
          <a:lstStyle/>
          <a:p>
            <a:pPr algn="l">
              <a:lnSpc>
                <a:spcPct val="120000"/>
              </a:lnSpc>
              <a:spcAft>
                <a:spcPts val="0"/>
              </a:spcAft>
            </a:pPr>
            <a:r>
              <a:rPr lang="ko-KR" sz="2100" b="1">
                <a:solidFill>
                  <a:srgbClr val="101511"/>
                </a:solidFill>
                <a:latin typeface="Malgun Gothic"/>
                <a:ea typeface="Malgun Gothic"/>
                <a:cs typeface="Malgun Gothic"/>
              </a:rPr>
              <a:t>CompetitionScore</a:t>
            </a:r>
            <a:endParaRPr lang="ko-KR" sz="2100"/>
          </a:p>
        </p:txBody>
      </p:sp>
      <p:sp>
        <p:nvSpPr>
          <p:cNvPr id="19" name="점포 수·점포당 거래·폐업률"/>
          <p:cNvSpPr txBox="1"/>
          <p:nvPr/>
        </p:nvSpPr>
        <p:spPr>
          <a:xfrm>
            <a:off x="10153650" y="6867525"/>
            <a:ext cx="4381500" cy="42862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점포 수·점포당 거래·폐업률</a:t>
            </a:r>
            <a:endParaRPr lang="ko-KR" sz="1875"/>
          </a:p>
        </p:txBody>
      </p:sp>
      <p:sp>
        <p:nvSpPr>
          <p:cNvPr id="20" name="ExplorationScore  =  성장성 40% + 거래 활성도 35% + 경쟁 여건 25%"/>
          <p:cNvSpPr txBox="1"/>
          <p:nvPr/>
        </p:nvSpPr>
        <p:spPr>
          <a:xfrm>
            <a:off x="762000" y="7600950"/>
            <a:ext cx="13811250" cy="304800"/>
          </a:xfrm>
          <a:prstGeom prst="rect">
            <a:avLst/>
          </a:prstGeom>
          <a:noFill/>
          <a:ln>
            <a:noFill/>
          </a:ln>
        </p:spPr>
        <p:txBody>
          <a:bodyPr wrap="square" lIns="0" tIns="0" rIns="0" bIns="0" anchor="t">
            <a:noAutofit/>
          </a:bodyPr>
          <a:lstStyle/>
          <a:p>
            <a:pPr algn="l">
              <a:lnSpc>
                <a:spcPct val="120000"/>
              </a:lnSpc>
              <a:spcAft>
                <a:spcPts val="0"/>
              </a:spcAft>
            </a:pPr>
            <a:r>
              <a:rPr lang="ko-KR" sz="1650" b="1">
                <a:solidFill>
                  <a:srgbClr val="101511"/>
                </a:solidFill>
                <a:latin typeface="Malgun Gothic"/>
                <a:ea typeface="Malgun Gothic"/>
                <a:cs typeface="Malgun Gothic"/>
              </a:rPr>
              <a:t>ExplorationScore  =  성장성 40% + 거래 활성도 35% + 경쟁 여건 25%</a:t>
            </a:r>
            <a:endParaRPr lang="ko-KR" sz="1650"/>
          </a:p>
        </p:txBody>
      </p:sp>
      <p:sp>
        <p:nvSpPr>
          <p:cNvPr id="21" name="Panel 21"/>
          <p:cNvSpPr/>
          <p:nvPr/>
        </p:nvSpPr>
        <p:spPr>
          <a:xfrm>
            <a:off x="685800" y="8077200"/>
            <a:ext cx="13868400" cy="14288"/>
          </a:xfrm>
          <a:prstGeom prst="rect">
            <a:avLst/>
          </a:prstGeom>
          <a:solidFill>
            <a:srgbClr val="CCD0C7"/>
          </a:solidFill>
          <a:ln w="0">
            <a:noFill/>
          </a:ln>
        </p:spPr>
      </p:sp>
      <p:sp>
        <p:nvSpPr>
          <p:cNvPr id="22"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23" name="11"/>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35</a:t>
            </a:r>
            <a:endParaRPr lang="ko-KR" sz="1725"/>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Gemini 인사이트: 계산과 설명의 분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Gemini 인사이트: 계산과 설명의 분리</a:t>
            </a:r>
            <a:endParaRPr lang="ko-KR" sz="3600"/>
          </a:p>
        </p:txBody>
      </p:sp>
      <p:sp>
        <p:nvSpPr>
          <p:cNvPr id="5" name="1차 발표의 확장 설계에서, 상세 화면의 별도 인사이트 API 연결로 구현을 진행했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수치와 등급의 나열에서, 매출·거래·점포 변화의 관계를 설명하도록 개선했습니다.</a:t>
            </a:r>
            <a:endParaRPr lang="ko-KR"/>
          </a:p>
        </p:txBody>
      </p:sp>
      <p:sp>
        <p:nvSpPr>
          <p:cNvPr id="6" name="기본 지표 조회와 AI 문장 요청을 분리"/>
          <p:cNvSpPr txBox="1"/>
          <p:nvPr/>
        </p:nvSpPr>
        <p:spPr>
          <a:xfrm>
            <a:off x="733425" y="2371725"/>
            <a:ext cx="13811250" cy="619125"/>
          </a:xfrm>
          <a:prstGeom prst="rect">
            <a:avLst/>
          </a:prstGeom>
          <a:noFill/>
          <a:ln>
            <a:noFill/>
          </a:ln>
        </p:spPr>
        <p:txBody>
          <a:bodyPr wrap="square" lIns="0" tIns="0" rIns="0" bIns="0" anchor="t">
            <a:noAutofit/>
          </a:bodyPr>
          <a:lstStyle/>
          <a:p>
            <a:pPr algn="l">
              <a:lnSpc>
                <a:spcPct val="120000"/>
              </a:lnSpc>
              <a:spcAft>
                <a:spcPts val="0"/>
              </a:spcAft>
            </a:pPr>
            <a:r>
              <a:rPr lang="ko-KR" sz="2925" b="1">
                <a:solidFill>
                  <a:srgbClr val="101511"/>
                </a:solidFill>
                <a:latin typeface="Malgun Gothic"/>
                <a:ea typeface="Malgun Gothic"/>
                <a:cs typeface="Malgun Gothic"/>
              </a:rPr>
              <a:t>기본 지표 조회와 AI 문장 요청을 분리</a:t>
            </a:r>
            <a:endParaRPr lang="ko-KR" sz="2925"/>
          </a:p>
        </p:txBody>
      </p:sp>
      <p:sp>
        <p:nvSpPr>
          <p:cNvPr id="7" name="AI 응답을 기다리거나 생성에 실패해도 기본 분석 화면은 유지합니다."/>
          <p:cNvSpPr txBox="1"/>
          <p:nvPr/>
        </p:nvSpPr>
        <p:spPr>
          <a:xfrm>
            <a:off x="742950" y="3105150"/>
            <a:ext cx="13716000" cy="504825"/>
          </a:xfrm>
          <a:prstGeom prst="rect">
            <a:avLst/>
          </a:prstGeom>
          <a:noFill/>
          <a:ln>
            <a:noFill/>
          </a:ln>
        </p:spPr>
        <p:txBody>
          <a:bodyPr wrap="square" lIns="0" tIns="0" rIns="0" bIns="0" anchor="t">
            <a:noAutofit/>
          </a:bodyPr>
          <a:lstStyle/>
          <a:p>
            <a:pPr algn="l">
              <a:lnSpc>
                <a:spcPct val="120000"/>
              </a:lnSpc>
              <a:spcAft>
                <a:spcPts val="0"/>
              </a:spcAft>
            </a:pPr>
            <a:r>
              <a:rPr lang="ko-KR" sz="2175" b="0">
                <a:solidFill>
                  <a:srgbClr val="66716B"/>
                </a:solidFill>
                <a:latin typeface="Malgun Gothic"/>
                <a:ea typeface="Malgun Gothic"/>
                <a:cs typeface="Malgun Gothic"/>
              </a:rPr>
              <a:t>AI 응답을 기다리거나 생성에 실패해도 기본 분석 화면은 유지합니다.</a:t>
            </a:r>
            <a:endParaRPr lang="ko-KR" sz="2175"/>
          </a:p>
        </p:txBody>
      </p:sp>
      <p:graphicFrame>
        <p:nvGraphicFramePr>
          <p:cNvPr id="8" name="Editable table 8"/>
          <p:cNvGraphicFramePr/>
          <p:nvPr/>
        </p:nvGraphicFramePr>
        <p:xfrm>
          <a:off x="704850" y="4048125"/>
          <a:ext cx="13849350" cy="2314575"/>
        </p:xfrm>
        <a:graphic>
          <a:graphicData uri="http://schemas.openxmlformats.org/drawingml/2006/table">
            <a:tbl>
              <a:tblPr firstRow="1">
                <a:tableStyleId>{5C22544A-7EE6-4342-B048-85BDC9FD1C3A}</a:tableStyleId>
              </a:tblPr>
              <a:tblGrid>
                <a:gridCol w="3467100">
                  <a:extLst>
                    <a:ext uri="{9D8B030D-6E8A-4147-A177-3AD203B41FA5}">
                      <a16:colId xmlns:a16="http://schemas.microsoft.com/office/drawing/2014/main" val="20000"/>
                    </a:ext>
                  </a:extLst>
                </a:gridCol>
                <a:gridCol w="3467100">
                  <a:extLst>
                    <a:ext uri="{9D8B030D-6E8A-4147-A177-3AD203B41FA5}">
                      <a16:colId xmlns:a16="http://schemas.microsoft.com/office/drawing/2014/main" val="20001"/>
                    </a:ext>
                  </a:extLst>
                </a:gridCol>
                <a:gridCol w="3467100">
                  <a:extLst>
                    <a:ext uri="{9D8B030D-6E8A-4147-A177-3AD203B41FA5}">
                      <a16:colId xmlns:a16="http://schemas.microsoft.com/office/drawing/2014/main" val="20002"/>
                    </a:ext>
                  </a:extLst>
                </a:gridCol>
                <a:gridCol w="3448050">
                  <a:extLst>
                    <a:ext uri="{9D8B030D-6E8A-4147-A177-3AD203B41FA5}">
                      <a16:colId xmlns:a16="http://schemas.microsoft.com/office/drawing/2014/main" val="20003"/>
                    </a:ext>
                  </a:extLst>
                </a:gridCol>
              </a:tblGrid>
              <a:tr h="714375">
                <a:tc>
                  <a:txBody>
                    <a:bodyPr/>
                    <a:lstStyle/>
                    <a:p>
                      <a:pPr algn="l">
                        <a:lnSpc>
                          <a:spcPct val="120000"/>
                        </a:lnSpc>
                        <a:spcAft>
                          <a:spcPts val="0"/>
                        </a:spcAft>
                      </a:pPr>
                      <a:r>
                        <a:rPr lang="ko-KR" sz="2025" b="1">
                          <a:solidFill>
                            <a:srgbClr val="FFFFFF"/>
                          </a:solidFill>
                          <a:latin typeface="Malgun Gothic"/>
                          <a:ea typeface="Malgun Gothic"/>
                          <a:cs typeface="Malgun Gothic"/>
                        </a:rPr>
                        <a:t>01  근거 준비</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02  Gemini 생성</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03  결과 검증</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2025" b="1">
                          <a:solidFill>
                            <a:srgbClr val="FFFFFF"/>
                          </a:solidFill>
                          <a:latin typeface="Malgun Gothic"/>
                          <a:ea typeface="Malgun Gothic"/>
                          <a:cs typeface="Malgun Gothic"/>
                        </a:rPr>
                        <a:t>04  화면 표시</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600200">
                <a:tc>
                  <a:txBody>
                    <a:bodyPr/>
                    <a:lstStyle/>
                    <a:p>
                      <a:pPr algn="l">
                        <a:lnSpc>
                          <a:spcPct val="120000"/>
                        </a:lnSpc>
                        <a:spcAft>
                          <a:spcPts val="0"/>
                        </a:spcAft>
                      </a:pPr>
                      <a:r>
                        <a:rPr lang="ko-KR" sz="2025" b="1">
                          <a:solidFill>
                            <a:srgbClr val="101511"/>
                          </a:solidFill>
                          <a:latin typeface="Malgun Gothic"/>
                          <a:ea typeface="Malgun Gothic"/>
                          <a:cs typeface="Malgun Gothic"/>
                        </a:rPr>
                        <a:t>서버가 지표·등급 계산</a:t>
                      </a:r>
                      <a:endParaRPr lang="ko-KR"/>
                    </a:p>
                    <a:p>
                      <a:pPr algn="l">
                        <a:lnSpc>
                          <a:spcPct val="120000"/>
                        </a:lnSpc>
                        <a:spcAft>
                          <a:spcPts val="0"/>
                        </a:spcAft>
                      </a:pPr>
                      <a:r>
                        <a:rPr lang="ko-KR" sz="2025" b="1">
                          <a:solidFill>
                            <a:srgbClr val="101511"/>
                          </a:solidFill>
                          <a:latin typeface="Malgun Gothic"/>
                          <a:ea typeface="Malgun Gothic"/>
                          <a:cs typeface="Malgun Gothic"/>
                        </a:rPr>
                        <a:t>허용할 태그 후보 준비</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의미 있는 지표 관계를</a:t>
                      </a:r>
                      <a:endParaRPr lang="ko-KR"/>
                    </a:p>
                    <a:p>
                      <a:pPr algn="l">
                        <a:lnSpc>
                          <a:spcPct val="120000"/>
                        </a:lnSpc>
                        <a:spcAft>
                          <a:spcPts val="0"/>
                        </a:spcAft>
                      </a:pPr>
                      <a:r>
                        <a:rPr lang="ko-KR" sz="2025" b="0">
                          <a:solidFill>
                            <a:srgbClr val="101511"/>
                          </a:solidFill>
                          <a:latin typeface="Malgun Gothic"/>
                          <a:ea typeface="Malgun Gothic"/>
                          <a:cs typeface="Malgun Gothic"/>
                        </a:rPr>
                        <a:t>한두 문장으로 설명</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숫자·단위·등급 확인</a:t>
                      </a:r>
                      <a:endParaRPr lang="ko-KR"/>
                    </a:p>
                    <a:p>
                      <a:pPr algn="l">
                        <a:lnSpc>
                          <a:spcPct val="120000"/>
                        </a:lnSpc>
                        <a:spcAft>
                          <a:spcPts val="0"/>
                        </a:spcAft>
                      </a:pPr>
                      <a:r>
                        <a:rPr lang="ko-KR" sz="2025" b="0">
                          <a:solidFill>
                            <a:srgbClr val="101511"/>
                          </a:solidFill>
                          <a:latin typeface="Malgun Gothic"/>
                          <a:ea typeface="Malgun Gothic"/>
                          <a:cs typeface="Malgun Gothic"/>
                        </a:rPr>
                        <a:t>금지 표현·태그 검사</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2025" b="0">
                          <a:solidFill>
                            <a:srgbClr val="101511"/>
                          </a:solidFill>
                          <a:latin typeface="Malgun Gothic"/>
                          <a:ea typeface="Malgun Gothic"/>
                          <a:cs typeface="Malgun Gothic"/>
                        </a:rPr>
                        <a:t>검증 통과 문장 표시</a:t>
                      </a:r>
                      <a:endParaRPr lang="ko-KR"/>
                    </a:p>
                    <a:p>
                      <a:pPr algn="l">
                        <a:lnSpc>
                          <a:spcPct val="120000"/>
                        </a:lnSpc>
                        <a:spcAft>
                          <a:spcPts val="0"/>
                        </a:spcAft>
                      </a:pPr>
                      <a:r>
                        <a:rPr lang="ko-KR" sz="2025" b="0">
                          <a:solidFill>
                            <a:srgbClr val="101511"/>
                          </a:solidFill>
                          <a:latin typeface="Malgun Gothic"/>
                          <a:ea typeface="Malgun Gothic"/>
                          <a:cs typeface="Malgun Gothic"/>
                        </a:rPr>
                        <a:t>실패 시 규칙 문장 대체</a:t>
                      </a:r>
                      <a:endParaRPr lang="ko-K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9" name="AI INSIGHT"/>
          <p:cNvSpPr txBox="1"/>
          <p:nvPr/>
        </p:nvSpPr>
        <p:spPr>
          <a:xfrm>
            <a:off x="762000" y="6972300"/>
            <a:ext cx="3571875" cy="466725"/>
          </a:xfrm>
          <a:prstGeom prst="rect">
            <a:avLst/>
          </a:prstGeom>
          <a:noFill/>
          <a:ln>
            <a:noFill/>
          </a:ln>
        </p:spPr>
        <p:txBody>
          <a:bodyPr wrap="square" lIns="0" tIns="0" rIns="0" bIns="0" anchor="t">
            <a:noAutofit/>
          </a:bodyPr>
          <a:lstStyle/>
          <a:p>
            <a:pPr algn="l">
              <a:lnSpc>
                <a:spcPct val="120000"/>
              </a:lnSpc>
              <a:spcAft>
                <a:spcPts val="0"/>
              </a:spcAft>
            </a:pPr>
            <a:r>
              <a:rPr lang="ko-KR" sz="2325" b="1">
                <a:solidFill>
                  <a:srgbClr val="101511"/>
                </a:solidFill>
                <a:latin typeface="Malgun Gothic"/>
                <a:ea typeface="Malgun Gothic"/>
                <a:cs typeface="Malgun Gothic"/>
              </a:rPr>
              <a:t>AI INSIGHT</a:t>
            </a:r>
            <a:endParaRPr lang="ko-KR" sz="2325"/>
          </a:p>
        </p:txBody>
      </p:sp>
      <p:sp>
        <p:nvSpPr>
          <p:cNvPr id="10" name="Gemini 생성 응답일 때만 표시  ·  source / status로 대체 응답과 구분"/>
          <p:cNvSpPr txBox="1"/>
          <p:nvPr/>
        </p:nvSpPr>
        <p:spPr>
          <a:xfrm>
            <a:off x="4095750" y="6981825"/>
            <a:ext cx="10429875" cy="657225"/>
          </a:xfrm>
          <a:prstGeom prst="rect">
            <a:avLst/>
          </a:prstGeom>
          <a:noFill/>
          <a:ln>
            <a:noFill/>
          </a:ln>
        </p:spPr>
        <p:txBody>
          <a:bodyPr wrap="square" lIns="0" tIns="0" rIns="0" bIns="0" anchor="t">
            <a:noAutofit/>
          </a:bodyPr>
          <a:lstStyle/>
          <a:p>
            <a:pPr algn="l">
              <a:lnSpc>
                <a:spcPct val="120000"/>
              </a:lnSpc>
              <a:spcAft>
                <a:spcPts val="0"/>
              </a:spcAft>
            </a:pPr>
            <a:r>
              <a:rPr lang="ko-KR" sz="1875" b="0">
                <a:solidFill>
                  <a:srgbClr val="101511"/>
                </a:solidFill>
                <a:latin typeface="Malgun Gothic"/>
                <a:ea typeface="Malgun Gothic"/>
                <a:cs typeface="Malgun Gothic"/>
              </a:rPr>
              <a:t>생성 문장과 대체 문장을 구분 · AI를 기다리기 전에 DB 연결 반환</a:t>
            </a:r>
            <a:endParaRPr lang="ko-KR"/>
          </a:p>
        </p:txBody>
      </p:sp>
      <p:sp>
        <p:nvSpPr>
          <p:cNvPr id="11" name="Panel 11"/>
          <p:cNvSpPr/>
          <p:nvPr/>
        </p:nvSpPr>
        <p:spPr>
          <a:xfrm>
            <a:off x="685800" y="8077200"/>
            <a:ext cx="13868400" cy="14288"/>
          </a:xfrm>
          <a:prstGeom prst="rect">
            <a:avLst/>
          </a:prstGeom>
          <a:solidFill>
            <a:srgbClr val="CCD0C7"/>
          </a:solidFill>
          <a:ln w="0">
            <a:noFill/>
          </a:ln>
        </p:spPr>
      </p:sp>
      <p:sp>
        <p:nvSpPr>
          <p:cNvPr id="12"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3" name="12"/>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36</a:t>
            </a:r>
            <a:endParaRPr lang="ko-KR" sz="1725"/>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5  협업과 운영"/>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04  설계와 구현</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데이터 수집: 다시 실행해도 중복 없이 갱신"/>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데이터 수집: 다시 실행해도 중복 없이 갱신</a:t>
            </a:r>
            <a:endParaRPr lang="ko-KR" sz="3600"/>
          </a:p>
        </p:txBody>
      </p:sp>
      <p:sp>
        <p:nvSpPr>
          <p:cNvPr id="5" name="서울 Open API 수집과 DB 적재를 GitHub Actions에서 반복 실행할 수 있도록 구성했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dirty="0">
                <a:solidFill>
                  <a:srgbClr val="66716B"/>
                </a:solidFill>
                <a:latin typeface="Malgun Gothic"/>
                <a:ea typeface="Malgun Gothic"/>
                <a:cs typeface="Malgun Gothic"/>
              </a:rPr>
              <a:t>서울 </a:t>
            </a:r>
            <a:r>
              <a:rPr lang="ko-KR" sz="1650" b="0" dirty="0" err="1">
                <a:solidFill>
                  <a:srgbClr val="66716B"/>
                </a:solidFill>
                <a:latin typeface="Malgun Gothic"/>
                <a:ea typeface="Malgun Gothic"/>
                <a:cs typeface="Malgun Gothic"/>
              </a:rPr>
              <a:t>Open</a:t>
            </a:r>
            <a:r>
              <a:rPr lang="ko-KR" sz="1650" b="0" dirty="0">
                <a:solidFill>
                  <a:srgbClr val="66716B"/>
                </a:solidFill>
                <a:latin typeface="Malgun Gothic"/>
                <a:ea typeface="Malgun Gothic"/>
                <a:cs typeface="Malgun Gothic"/>
              </a:rPr>
              <a:t> API 수집과 DB 적재를 GitHub </a:t>
            </a:r>
            <a:r>
              <a:rPr lang="ko-KR" sz="1650" b="0" dirty="0" err="1">
                <a:solidFill>
                  <a:srgbClr val="66716B"/>
                </a:solidFill>
                <a:latin typeface="Malgun Gothic"/>
                <a:ea typeface="Malgun Gothic"/>
                <a:cs typeface="Malgun Gothic"/>
              </a:rPr>
              <a:t>Actions에서</a:t>
            </a:r>
            <a:r>
              <a:rPr lang="ko-KR" sz="1650" b="0" dirty="0">
                <a:solidFill>
                  <a:srgbClr val="66716B"/>
                </a:solidFill>
                <a:latin typeface="Malgun Gothic"/>
                <a:ea typeface="Malgun Gothic"/>
                <a:cs typeface="Malgun Gothic"/>
              </a:rPr>
              <a:t> 반복 실행할 수 있도록 구성했습니다.</a:t>
            </a:r>
            <a:endParaRPr lang="ko-KR" sz="1650" dirty="0"/>
          </a:p>
        </p:txBody>
      </p:sp>
      <p:graphicFrame>
        <p:nvGraphicFramePr>
          <p:cNvPr id="6" name="Editable table 6"/>
          <p:cNvGraphicFramePr/>
          <p:nvPr/>
        </p:nvGraphicFramePr>
        <p:xfrm>
          <a:off x="704850" y="2457450"/>
          <a:ext cx="13849350" cy="5010150"/>
        </p:xfrm>
        <a:graphic>
          <a:graphicData uri="http://schemas.openxmlformats.org/drawingml/2006/table">
            <a:tbl>
              <a:tblPr firstRow="1">
                <a:tableStyleId>{5C22544A-7EE6-4342-B048-85BDC9FD1C3A}</a:tableStyleId>
              </a:tblPr>
              <a:tblGrid>
                <a:gridCol w="3028950">
                  <a:extLst>
                    <a:ext uri="{9D8B030D-6E8A-4147-A177-3AD203B41FA5}">
                      <a16:colId xmlns:a16="http://schemas.microsoft.com/office/drawing/2014/main" val="20000"/>
                    </a:ext>
                  </a:extLst>
                </a:gridCol>
                <a:gridCol w="5419725">
                  <a:extLst>
                    <a:ext uri="{9D8B030D-6E8A-4147-A177-3AD203B41FA5}">
                      <a16:colId xmlns:a16="http://schemas.microsoft.com/office/drawing/2014/main" val="20001"/>
                    </a:ext>
                  </a:extLst>
                </a:gridCol>
                <a:gridCol w="5400675">
                  <a:extLst>
                    <a:ext uri="{9D8B030D-6E8A-4147-A177-3AD203B41FA5}">
                      <a16:colId xmlns:a16="http://schemas.microsoft.com/office/drawing/2014/main" val="20002"/>
                    </a:ext>
                  </a:extLst>
                </a:gridCol>
              </a:tblGrid>
              <a:tr h="628650">
                <a:tc>
                  <a:txBody>
                    <a:bodyPr/>
                    <a:lstStyle/>
                    <a:p>
                      <a:pPr algn="l">
                        <a:lnSpc>
                          <a:spcPct val="120000"/>
                        </a:lnSpc>
                        <a:spcAft>
                          <a:spcPts val="0"/>
                        </a:spcAft>
                      </a:pPr>
                      <a:r>
                        <a:rPr lang="ko-KR" sz="1950" b="1">
                          <a:solidFill>
                            <a:srgbClr val="FFFFFF"/>
                          </a:solidFill>
                          <a:latin typeface="Malgun Gothic"/>
                          <a:ea typeface="Malgun Gothic"/>
                          <a:cs typeface="Malgun Gothic"/>
                        </a:rPr>
                        <a:t>단계</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구현 방식</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목적</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1095375">
                <a:tc>
                  <a:txBody>
                    <a:bodyPr/>
                    <a:lstStyle/>
                    <a:p>
                      <a:pPr algn="l">
                        <a:lnSpc>
                          <a:spcPct val="120000"/>
                        </a:lnSpc>
                        <a:spcAft>
                          <a:spcPts val="0"/>
                        </a:spcAft>
                      </a:pPr>
                      <a:r>
                        <a:rPr lang="ko-KR" sz="1950" b="1">
                          <a:solidFill>
                            <a:srgbClr val="101511"/>
                          </a:solidFill>
                          <a:latin typeface="Malgun Gothic"/>
                          <a:ea typeface="Malgun Gothic"/>
                          <a:cs typeface="Malgun Gothic"/>
                        </a:rPr>
                        <a:t>조회</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서울 Open API를 1,000행씩 조회</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매출·점포 원천 데이터를</a:t>
                      </a:r>
                      <a:endParaRPr lang="ko-KR" sz="1950"/>
                    </a:p>
                    <a:p>
                      <a:pPr algn="l">
                        <a:lnSpc>
                          <a:spcPct val="120000"/>
                        </a:lnSpc>
                        <a:spcAft>
                          <a:spcPts val="0"/>
                        </a:spcAft>
                      </a:pPr>
                      <a:r>
                        <a:rPr lang="ko-KR" sz="1950" b="0">
                          <a:solidFill>
                            <a:srgbClr val="101511"/>
                          </a:solidFill>
                          <a:latin typeface="Malgun Gothic"/>
                          <a:ea typeface="Malgun Gothic"/>
                          <a:cs typeface="Malgun Gothic"/>
                        </a:rPr>
                        <a:t>페이지 단위로 수집</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1095375">
                <a:tc>
                  <a:txBody>
                    <a:bodyPr/>
                    <a:lstStyle/>
                    <a:p>
                      <a:pPr algn="l">
                        <a:lnSpc>
                          <a:spcPct val="120000"/>
                        </a:lnSpc>
                        <a:spcAft>
                          <a:spcPts val="0"/>
                        </a:spcAft>
                      </a:pPr>
                      <a:r>
                        <a:rPr lang="ko-KR" sz="1950" b="1">
                          <a:solidFill>
                            <a:srgbClr val="101511"/>
                          </a:solidFill>
                          <a:latin typeface="Malgun Gothic"/>
                          <a:ea typeface="Malgun Gothic"/>
                          <a:cs typeface="Malgun Gothic"/>
                        </a:rPr>
                        <a:t>저장</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기준정보 연결 후 500행씩 UPSERT</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분기·상권·업종 유일키로</a:t>
                      </a:r>
                      <a:endParaRPr lang="ko-KR" sz="1950"/>
                    </a:p>
                    <a:p>
                      <a:pPr algn="l">
                        <a:lnSpc>
                          <a:spcPct val="120000"/>
                        </a:lnSpc>
                        <a:spcAft>
                          <a:spcPts val="0"/>
                        </a:spcAft>
                      </a:pPr>
                      <a:r>
                        <a:rPr lang="ko-KR" sz="1950" b="0">
                          <a:solidFill>
                            <a:srgbClr val="101511"/>
                          </a:solidFill>
                          <a:latin typeface="Malgun Gothic"/>
                          <a:ea typeface="Malgun Gothic"/>
                          <a:cs typeface="Malgun Gothic"/>
                        </a:rPr>
                        <a:t>중복 대신 기존 값 갱신</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1095375">
                <a:tc>
                  <a:txBody>
                    <a:bodyPr/>
                    <a:lstStyle/>
                    <a:p>
                      <a:pPr algn="l">
                        <a:lnSpc>
                          <a:spcPct val="120000"/>
                        </a:lnSpc>
                        <a:spcAft>
                          <a:spcPts val="0"/>
                        </a:spcAft>
                      </a:pPr>
                      <a:r>
                        <a:rPr lang="ko-KR" sz="1950" b="1">
                          <a:solidFill>
                            <a:srgbClr val="101511"/>
                          </a:solidFill>
                          <a:latin typeface="Malgun Gothic"/>
                          <a:ea typeface="Malgun Gothic"/>
                          <a:cs typeface="Malgun Gothic"/>
                        </a:rPr>
                        <a:t>실행</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GitHub Actions 예약 + 수동 실행</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분기 데이터 갱신과</a:t>
                      </a:r>
                      <a:endParaRPr lang="ko-KR" sz="1950"/>
                    </a:p>
                    <a:p>
                      <a:pPr algn="l">
                        <a:lnSpc>
                          <a:spcPct val="120000"/>
                        </a:lnSpc>
                        <a:spcAft>
                          <a:spcPts val="0"/>
                        </a:spcAft>
                      </a:pPr>
                      <a:r>
                        <a:rPr lang="ko-KR" sz="1950" b="0">
                          <a:solidFill>
                            <a:srgbClr val="101511"/>
                          </a:solidFill>
                          <a:latin typeface="Malgun Gothic"/>
                          <a:ea typeface="Malgun Gothic"/>
                          <a:cs typeface="Malgun Gothic"/>
                        </a:rPr>
                        <a:t>필요한 재수집 경로 확보</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1095375">
                <a:tc>
                  <a:txBody>
                    <a:bodyPr/>
                    <a:lstStyle/>
                    <a:p>
                      <a:pPr algn="l">
                        <a:lnSpc>
                          <a:spcPct val="120000"/>
                        </a:lnSpc>
                        <a:spcAft>
                          <a:spcPts val="0"/>
                        </a:spcAft>
                      </a:pPr>
                      <a:r>
                        <a:rPr lang="ko-KR" sz="1950" b="1">
                          <a:solidFill>
                            <a:srgbClr val="101511"/>
                          </a:solidFill>
                          <a:latin typeface="Malgun Gothic"/>
                          <a:ea typeface="Malgun Gothic"/>
                          <a:cs typeface="Malgun Gothic"/>
                        </a:rPr>
                        <a:t>실패 처리</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실패 단계 rollback · 실패 코드 반환</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매출·점포 각각의 적재 결과를</a:t>
                      </a:r>
                      <a:endParaRPr lang="ko-KR" sz="1950"/>
                    </a:p>
                    <a:p>
                      <a:pPr algn="l">
                        <a:lnSpc>
                          <a:spcPct val="120000"/>
                        </a:lnSpc>
                        <a:spcAft>
                          <a:spcPts val="0"/>
                        </a:spcAft>
                      </a:pPr>
                      <a:r>
                        <a:rPr lang="ko-KR" sz="1950" b="0">
                          <a:solidFill>
                            <a:srgbClr val="101511"/>
                          </a:solidFill>
                          <a:latin typeface="Malgun Gothic"/>
                          <a:ea typeface="Malgun Gothic"/>
                          <a:cs typeface="Malgun Gothic"/>
                        </a:rPr>
                        <a:t>확인하고 필요한 작업 재실행</a:t>
                      </a:r>
                      <a:endParaRPr lang="ko-KR" sz="1950"/>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운영 확인점: 매출과 점포는 별도 저장 단계이므로 두 결과를 함께 확인합니다."/>
          <p:cNvSpPr txBox="1"/>
          <p:nvPr/>
        </p:nvSpPr>
        <p:spPr>
          <a:xfrm>
            <a:off x="762000" y="7591425"/>
            <a:ext cx="13811250" cy="342900"/>
          </a:xfrm>
          <a:prstGeom prst="rect">
            <a:avLst/>
          </a:prstGeom>
          <a:noFill/>
          <a:ln>
            <a:noFill/>
          </a:ln>
        </p:spPr>
        <p:txBody>
          <a:bodyPr wrap="square" lIns="0" tIns="0" rIns="0" bIns="0" anchor="t">
            <a:noAutofit/>
          </a:bodyPr>
          <a:lstStyle/>
          <a:p>
            <a:pPr algn="l">
              <a:lnSpc>
                <a:spcPct val="120000"/>
              </a:lnSpc>
              <a:spcAft>
                <a:spcPts val="0"/>
              </a:spcAft>
            </a:pPr>
            <a:r>
              <a:rPr lang="ko-KR" sz="1875" b="1">
                <a:solidFill>
                  <a:srgbClr val="101511"/>
                </a:solidFill>
                <a:latin typeface="Malgun Gothic"/>
                <a:ea typeface="Malgun Gothic"/>
                <a:cs typeface="Malgun Gothic"/>
              </a:rPr>
              <a:t>운영 확인점: 매출과 점포는 별도 저장 단계이므로 두 결과를 함께 확인합니다.</a:t>
            </a:r>
            <a:endParaRPr lang="ko-KR" sz="1875"/>
          </a:p>
        </p:txBody>
      </p:sp>
      <p:sp>
        <p:nvSpPr>
          <p:cNvPr id="8" name="Panel 8"/>
          <p:cNvSpPr/>
          <p:nvPr/>
        </p:nvSpPr>
        <p:spPr>
          <a:xfrm>
            <a:off x="685800" y="8077200"/>
            <a:ext cx="13868400" cy="14288"/>
          </a:xfrm>
          <a:prstGeom prst="rect">
            <a:avLst/>
          </a:prstGeom>
          <a:solidFill>
            <a:srgbClr val="CCD0C7"/>
          </a:solidFill>
          <a:ln w="0">
            <a:noFill/>
          </a:ln>
        </p:spPr>
      </p:sp>
      <p:sp>
        <p:nvSpPr>
          <p:cNvPr id="9"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0" name="13"/>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37</a:t>
            </a:r>
            <a:endParaRPr lang="ko-KR" sz="1725"/>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1511"/>
        </a:solidFill>
        <a:effectLst/>
      </p:bgPr>
    </p:bg>
    <p:spTree>
      <p:nvGrpSpPr>
        <p:cNvPr id="1" name=""/>
        <p:cNvGrpSpPr/>
        <p:nvPr/>
      </p:nvGrpSpPr>
      <p:grpSpPr>
        <a:xfrm>
          <a:off x="0" y="0"/>
          <a:ext cx="0" cy="0"/>
          <a:chOff x="0" y="0"/>
          <a:chExt cx="0" cy="0"/>
        </a:xfrm>
      </p:grpSpPr>
      <p:sp>
        <p:nvSpPr>
          <p:cNvPr id="2" name="04"/>
          <p:cNvSpPr txBox="1"/>
          <p:nvPr/>
        </p:nvSpPr>
        <p:spPr>
          <a:xfrm>
            <a:off x="990600" y="1914525"/>
            <a:ext cx="3429000" cy="1381125"/>
          </a:xfrm>
          <a:prstGeom prst="rect">
            <a:avLst/>
          </a:prstGeom>
          <a:noFill/>
          <a:ln>
            <a:noFill/>
          </a:ln>
        </p:spPr>
        <p:txBody>
          <a:bodyPr wrap="square" lIns="0" tIns="0" rIns="0" bIns="0">
            <a:noAutofit/>
          </a:bodyPr>
          <a:lstStyle/>
          <a:p>
            <a:pPr algn="l">
              <a:lnSpc>
                <a:spcPct val="118000"/>
              </a:lnSpc>
              <a:spcAft>
                <a:spcPts val="0"/>
              </a:spcAft>
            </a:pPr>
            <a:r>
              <a:rPr lang="ko-KR" sz="8250" b="1">
                <a:solidFill>
                  <a:srgbClr val="CCFF00"/>
                </a:solidFill>
                <a:latin typeface="Malgun Gothic"/>
                <a:ea typeface="Malgun Gothic"/>
                <a:cs typeface="Malgun Gothic"/>
              </a:rPr>
              <a:t>05</a:t>
            </a:r>
            <a:endParaRPr lang="ko-KR" sz="8250"/>
          </a:p>
        </p:txBody>
      </p:sp>
      <p:sp>
        <p:nvSpPr>
          <p:cNvPr id="3" name="협업과 운영"/>
          <p:cNvSpPr txBox="1"/>
          <p:nvPr/>
        </p:nvSpPr>
        <p:spPr>
          <a:xfrm>
            <a:off x="952500" y="3629025"/>
            <a:ext cx="7953375" cy="2524125"/>
          </a:xfrm>
          <a:prstGeom prst="rect">
            <a:avLst/>
          </a:prstGeom>
          <a:noFill/>
          <a:ln>
            <a:noFill/>
          </a:ln>
        </p:spPr>
        <p:txBody>
          <a:bodyPr wrap="square" lIns="0" tIns="0" rIns="0" bIns="0">
            <a:noAutofit/>
          </a:bodyPr>
          <a:lstStyle/>
          <a:p>
            <a:pPr algn="l">
              <a:lnSpc>
                <a:spcPct val="118000"/>
              </a:lnSpc>
              <a:spcAft>
                <a:spcPts val="0"/>
              </a:spcAft>
            </a:pPr>
            <a:r>
              <a:rPr lang="ko-KR" sz="6525" b="1">
                <a:solidFill>
                  <a:srgbClr val="F8F7F2"/>
                </a:solidFill>
                <a:latin typeface="Malgun Gothic"/>
                <a:ea typeface="Malgun Gothic"/>
                <a:cs typeface="Malgun Gothic"/>
              </a:rPr>
              <a:t>협업과 운영</a:t>
            </a:r>
            <a:endParaRPr lang="ko-KR" sz="6525"/>
          </a:p>
        </p:txBody>
      </p:sp>
      <p:pic>
        <p:nvPicPr>
          <p:cNvPr id="4" name="04-teamwork" descr="장 주제를 표현한 AI 생성 개념 일러스트"/>
          <p:cNvPicPr>
            <a:picLocks noChangeAspect="1"/>
          </p:cNvPicPr>
          <p:nvPr/>
        </p:nvPicPr>
        <p:blipFill>
          <a:blip r:embed="rId3"/>
          <a:stretch>
            <a:fillRect/>
          </a:stretch>
        </p:blipFill>
        <p:spPr>
          <a:xfrm>
            <a:off x="9144000" y="1981200"/>
            <a:ext cx="5143500" cy="5143500"/>
          </a:xfrm>
          <a:prstGeom prst="rect">
            <a:avLst/>
          </a:prstGeom>
          <a:effectLst>
            <a:softEdge rad="22860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4  설계와 구현"/>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05  협업과 운영</a:t>
            </a:r>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프론트엔드와 백엔드의 역할 분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dirty="0">
                <a:solidFill>
                  <a:srgbClr val="101511"/>
                </a:solidFill>
                <a:latin typeface="Malgun Gothic"/>
                <a:ea typeface="Malgun Gothic"/>
                <a:cs typeface="Malgun Gothic"/>
              </a:rPr>
              <a:t>팀 소개</a:t>
            </a:r>
            <a:r>
              <a:rPr lang="ko-KR" altLang="en-US" sz="3600" b="1" dirty="0">
                <a:solidFill>
                  <a:srgbClr val="101511"/>
                </a:solidFill>
                <a:latin typeface="Malgun Gothic"/>
                <a:ea typeface="Malgun Gothic"/>
                <a:cs typeface="Malgun Gothic"/>
              </a:rPr>
              <a:t> 및 업무 분장</a:t>
            </a:r>
            <a:endParaRPr lang="ko-KR" sz="3600" b="1" dirty="0">
              <a:solidFill>
                <a:srgbClr val="101511"/>
              </a:solidFill>
              <a:latin typeface="Malgun Gothic"/>
              <a:ea typeface="Malgun Gothic"/>
              <a:cs typeface="Malgun Gothic"/>
            </a:endParaRPr>
          </a:p>
        </p:txBody>
      </p:sp>
      <p:sp>
        <p:nvSpPr>
          <p:cNvPr id="5" name="화면은 조회·선택·표현을, 서버는 데이터 검증·계산·AI 호출을 담당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또바기 · 언제나 한결같이</a:t>
            </a:r>
          </a:p>
        </p:txBody>
      </p:sp>
      <p:graphicFrame>
        <p:nvGraphicFramePr>
          <p:cNvPr id="6" name="Editable table 6"/>
          <p:cNvGraphicFramePr/>
          <p:nvPr>
            <p:extLst>
              <p:ext uri="{D42A27DB-BD31-4B8C-83A1-F6EECF244321}">
                <p14:modId xmlns:p14="http://schemas.microsoft.com/office/powerpoint/2010/main" val="1789043818"/>
              </p:ext>
            </p:extLst>
          </p:nvPr>
        </p:nvGraphicFramePr>
        <p:xfrm>
          <a:off x="6191250" y="2400300"/>
          <a:ext cx="8362950" cy="4476750"/>
        </p:xfrm>
        <a:graphic>
          <a:graphicData uri="http://schemas.openxmlformats.org/drawingml/2006/table">
            <a:tbl>
              <a:tblPr firstRow="1">
                <a:tableStyleId>{5C22544A-7EE6-4342-B048-85BDC9FD1C3A}</a:tableStyleId>
              </a:tblPr>
              <a:tblGrid>
                <a:gridCol w="3238500">
                  <a:extLst>
                    <a:ext uri="{9D8B030D-6E8A-4147-A177-3AD203B41FA5}">
                      <a16:colId xmlns:a16="http://schemas.microsoft.com/office/drawing/2014/main" val="20000"/>
                    </a:ext>
                  </a:extLst>
                </a:gridCol>
                <a:gridCol w="5124450">
                  <a:extLst>
                    <a:ext uri="{9D8B030D-6E8A-4147-A177-3AD203B41FA5}">
                      <a16:colId xmlns:a16="http://schemas.microsoft.com/office/drawing/2014/main" val="20001"/>
                    </a:ext>
                  </a:extLst>
                </a:gridCol>
              </a:tblGrid>
              <a:tr h="666750">
                <a:tc>
                  <a:txBody>
                    <a:bodyPr/>
                    <a:lstStyle/>
                    <a:p>
                      <a:pPr algn="l">
                        <a:lnSpc>
                          <a:spcPct val="120000"/>
                        </a:lnSpc>
                        <a:spcAft>
                          <a:spcPts val="0"/>
                        </a:spcAft>
                      </a:pPr>
                      <a:r>
                        <a:rPr lang="ko-KR" sz="1950" b="1">
                          <a:solidFill>
                            <a:srgbClr val="FFFFFF"/>
                          </a:solidFill>
                          <a:latin typeface="Malgun Gothic"/>
                          <a:ea typeface="Malgun Gothic"/>
                          <a:cs typeface="Malgun Gothic"/>
                        </a:rPr>
                        <a:t>팀원</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tc>
                  <a:txBody>
                    <a:bodyPr/>
                    <a:lstStyle/>
                    <a:p>
                      <a:pPr algn="l">
                        <a:lnSpc>
                          <a:spcPct val="120000"/>
                        </a:lnSpc>
                        <a:spcAft>
                          <a:spcPts val="0"/>
                        </a:spcAft>
                      </a:pPr>
                      <a:r>
                        <a:rPr lang="ko-KR" sz="1950" b="1">
                          <a:solidFill>
                            <a:srgbClr val="FFFFFF"/>
                          </a:solidFill>
                          <a:latin typeface="Malgun Gothic"/>
                          <a:ea typeface="Malgun Gothic"/>
                          <a:cs typeface="Malgun Gothic"/>
                        </a:rPr>
                        <a:t>담당</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111713"/>
                    </a:solidFill>
                  </a:tcPr>
                </a:tc>
                <a:extLst>
                  <a:ext uri="{0D108BD9-81ED-4DB2-BD59-A6C34878D82A}">
                    <a16:rowId xmlns:a16="http://schemas.microsoft.com/office/drawing/2014/main" val="10000"/>
                  </a:ext>
                </a:extLst>
              </a:tr>
              <a:tr h="952500">
                <a:tc>
                  <a:txBody>
                    <a:bodyPr/>
                    <a:lstStyle/>
                    <a:p>
                      <a:pPr algn="l">
                        <a:lnSpc>
                          <a:spcPct val="120000"/>
                        </a:lnSpc>
                        <a:spcAft>
                          <a:spcPts val="0"/>
                        </a:spcAft>
                      </a:pPr>
                      <a:r>
                        <a:rPr lang="ko-KR" sz="1950" b="1">
                          <a:solidFill>
                            <a:srgbClr val="101511"/>
                          </a:solidFill>
                          <a:latin typeface="Malgun Gothic"/>
                          <a:ea typeface="Malgun Gothic"/>
                          <a:cs typeface="Malgun Gothic"/>
                        </a:rPr>
                        <a:t>김수빈</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백엔드 리더 (BE)</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1"/>
                  </a:ext>
                </a:extLst>
              </a:tr>
              <a:tr h="952500">
                <a:tc>
                  <a:txBody>
                    <a:bodyPr/>
                    <a:lstStyle/>
                    <a:p>
                      <a:pPr algn="l">
                        <a:lnSpc>
                          <a:spcPct val="120000"/>
                        </a:lnSpc>
                        <a:spcAft>
                          <a:spcPts val="0"/>
                        </a:spcAft>
                      </a:pPr>
                      <a:r>
                        <a:rPr lang="ko-KR" sz="1950" b="1">
                          <a:solidFill>
                            <a:srgbClr val="101511"/>
                          </a:solidFill>
                          <a:latin typeface="Malgun Gothic"/>
                          <a:ea typeface="Malgun Gothic"/>
                          <a:cs typeface="Malgun Gothic"/>
                        </a:rPr>
                        <a:t>유시웅</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백엔드</a:t>
                      </a:r>
                      <a:r>
                        <a:rPr lang="ko-KR" sz="1950" b="0" dirty="0">
                          <a:solidFill>
                            <a:srgbClr val="101511"/>
                          </a:solidFill>
                          <a:latin typeface="Malgun Gothic"/>
                          <a:ea typeface="Malgun Gothic"/>
                          <a:cs typeface="Malgun Gothic"/>
                        </a:rPr>
                        <a:t> (BE)</a:t>
                      </a:r>
                      <a:r>
                        <a:rPr lang="ko-KR" altLang="en-US" sz="1950" b="0" dirty="0">
                          <a:solidFill>
                            <a:srgbClr val="101511"/>
                          </a:solidFill>
                          <a:latin typeface="Malgun Gothic"/>
                          <a:ea typeface="Malgun Gothic"/>
                          <a:cs typeface="Malgun Gothic"/>
                        </a:rPr>
                        <a:t> 최종 발표자</a:t>
                      </a:r>
                      <a:endParaRPr lang="ko-KR" sz="1950" b="0" dirty="0">
                        <a:solidFill>
                          <a:srgbClr val="101511"/>
                        </a:solidFill>
                        <a:latin typeface="Malgun Gothic"/>
                        <a:ea typeface="Malgun Gothic"/>
                        <a:cs typeface="Malgun Gothic"/>
                      </a:endParaRP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2"/>
                  </a:ext>
                </a:extLst>
              </a:tr>
              <a:tr h="952500">
                <a:tc>
                  <a:txBody>
                    <a:bodyPr/>
                    <a:lstStyle/>
                    <a:p>
                      <a:pPr algn="l">
                        <a:lnSpc>
                          <a:spcPct val="120000"/>
                        </a:lnSpc>
                        <a:spcAft>
                          <a:spcPts val="0"/>
                        </a:spcAft>
                      </a:pPr>
                      <a:r>
                        <a:rPr lang="ko-KR" sz="1950" b="1">
                          <a:solidFill>
                            <a:srgbClr val="101511"/>
                          </a:solidFill>
                          <a:latin typeface="Malgun Gothic"/>
                          <a:ea typeface="Malgun Gothic"/>
                          <a:cs typeface="Malgun Gothic"/>
                        </a:rPr>
                        <a:t>이정민</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a:solidFill>
                            <a:srgbClr val="101511"/>
                          </a:solidFill>
                          <a:latin typeface="Malgun Gothic"/>
                          <a:ea typeface="Malgun Gothic"/>
                          <a:cs typeface="Malgun Gothic"/>
                        </a:rPr>
                        <a:t>프론트엔드 (FE)</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3"/>
                  </a:ext>
                </a:extLst>
              </a:tr>
              <a:tr h="952500">
                <a:tc>
                  <a:txBody>
                    <a:bodyPr/>
                    <a:lstStyle/>
                    <a:p>
                      <a:pPr algn="l">
                        <a:lnSpc>
                          <a:spcPct val="120000"/>
                        </a:lnSpc>
                        <a:spcAft>
                          <a:spcPts val="0"/>
                        </a:spcAft>
                      </a:pPr>
                      <a:r>
                        <a:rPr lang="ko-KR" sz="1950" b="1">
                          <a:solidFill>
                            <a:srgbClr val="101511"/>
                          </a:solidFill>
                          <a:latin typeface="Malgun Gothic"/>
                          <a:ea typeface="Malgun Gothic"/>
                          <a:cs typeface="Malgun Gothic"/>
                        </a:rPr>
                        <a:t>이소영</a:t>
                      </a: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ECEEE6"/>
                    </a:solidFill>
                  </a:tcPr>
                </a:tc>
                <a:tc>
                  <a:txBody>
                    <a:bodyPr/>
                    <a:lstStyle/>
                    <a:p>
                      <a:pPr algn="l">
                        <a:lnSpc>
                          <a:spcPct val="120000"/>
                        </a:lnSpc>
                        <a:spcAft>
                          <a:spcPts val="0"/>
                        </a:spcAft>
                      </a:pPr>
                      <a:r>
                        <a:rPr lang="ko-KR" sz="1950" b="0" dirty="0" err="1">
                          <a:solidFill>
                            <a:srgbClr val="101511"/>
                          </a:solidFill>
                          <a:latin typeface="Malgun Gothic"/>
                          <a:ea typeface="Malgun Gothic"/>
                          <a:cs typeface="Malgun Gothic"/>
                        </a:rPr>
                        <a:t>프론트엔드</a:t>
                      </a:r>
                      <a:r>
                        <a:rPr lang="ko-KR" sz="1950" b="0" dirty="0">
                          <a:solidFill>
                            <a:srgbClr val="101511"/>
                          </a:solidFill>
                          <a:latin typeface="Malgun Gothic"/>
                          <a:ea typeface="Malgun Gothic"/>
                          <a:cs typeface="Malgun Gothic"/>
                        </a:rPr>
                        <a:t> (FE)</a:t>
                      </a:r>
                      <a:r>
                        <a:rPr lang="ko-KR" altLang="en-US" sz="1950" b="0" dirty="0">
                          <a:solidFill>
                            <a:srgbClr val="101511"/>
                          </a:solidFill>
                          <a:latin typeface="Malgun Gothic"/>
                          <a:ea typeface="Malgun Gothic"/>
                          <a:cs typeface="Malgun Gothic"/>
                        </a:rPr>
                        <a:t> </a:t>
                      </a:r>
                      <a:r>
                        <a:rPr lang="en-US" altLang="ko-KR" sz="1950" b="0" dirty="0">
                          <a:solidFill>
                            <a:srgbClr val="101511"/>
                          </a:solidFill>
                          <a:latin typeface="Malgun Gothic"/>
                          <a:ea typeface="Malgun Gothic"/>
                          <a:cs typeface="Malgun Gothic"/>
                        </a:rPr>
                        <a:t>1</a:t>
                      </a:r>
                      <a:r>
                        <a:rPr lang="ko-KR" altLang="en-US" sz="1950" b="0" dirty="0">
                          <a:solidFill>
                            <a:srgbClr val="101511"/>
                          </a:solidFill>
                          <a:latin typeface="Malgun Gothic"/>
                          <a:ea typeface="Malgun Gothic"/>
                          <a:cs typeface="Malgun Gothic"/>
                        </a:rPr>
                        <a:t>차</a:t>
                      </a:r>
                      <a:r>
                        <a:rPr lang="en-US" altLang="ko-KR" sz="1950" b="0" dirty="0">
                          <a:solidFill>
                            <a:srgbClr val="101511"/>
                          </a:solidFill>
                          <a:latin typeface="Malgun Gothic"/>
                          <a:ea typeface="Malgun Gothic"/>
                          <a:cs typeface="Malgun Gothic"/>
                        </a:rPr>
                        <a:t>,</a:t>
                      </a:r>
                      <a:r>
                        <a:rPr lang="ko-KR" altLang="en-US" sz="1950" b="0" dirty="0">
                          <a:solidFill>
                            <a:srgbClr val="101511"/>
                          </a:solidFill>
                          <a:latin typeface="Malgun Gothic"/>
                          <a:ea typeface="Malgun Gothic"/>
                          <a:cs typeface="Malgun Gothic"/>
                        </a:rPr>
                        <a:t> </a:t>
                      </a:r>
                      <a:r>
                        <a:rPr lang="en-US" altLang="ko-KR" sz="1950" b="0" dirty="0">
                          <a:solidFill>
                            <a:srgbClr val="101511"/>
                          </a:solidFill>
                          <a:latin typeface="Malgun Gothic"/>
                          <a:ea typeface="Malgun Gothic"/>
                          <a:cs typeface="Malgun Gothic"/>
                        </a:rPr>
                        <a:t>2</a:t>
                      </a:r>
                      <a:r>
                        <a:rPr lang="ko-KR" altLang="en-US" sz="1950" b="0" dirty="0">
                          <a:solidFill>
                            <a:srgbClr val="101511"/>
                          </a:solidFill>
                          <a:latin typeface="Malgun Gothic"/>
                          <a:ea typeface="Malgun Gothic"/>
                          <a:cs typeface="Malgun Gothic"/>
                        </a:rPr>
                        <a:t>차 발표자</a:t>
                      </a:r>
                      <a:endParaRPr lang="ko-KR" sz="1950" b="0" dirty="0">
                        <a:solidFill>
                          <a:srgbClr val="101511"/>
                        </a:solidFill>
                        <a:latin typeface="Malgun Gothic"/>
                        <a:ea typeface="Malgun Gothic"/>
                        <a:cs typeface="Malgun Gothic"/>
                      </a:endParaRPr>
                    </a:p>
                  </a:txBody>
                  <a:tcPr marL="209550" marR="209550" marT="114300" marB="114300">
                    <a:lnL w="9525">
                      <a:solidFill>
                        <a:srgbClr val="CCD0C7"/>
                      </a:solidFill>
                      <a:prstDash val="solid"/>
                    </a:lnL>
                    <a:lnR w="9525">
                      <a:solidFill>
                        <a:srgbClr val="CCD0C7"/>
                      </a:solidFill>
                      <a:prstDash val="solid"/>
                    </a:lnR>
                    <a:lnT w="9525">
                      <a:solidFill>
                        <a:srgbClr val="CCD0C7"/>
                      </a:solidFill>
                      <a:prstDash val="solid"/>
                    </a:lnT>
                    <a:lnB w="9525">
                      <a:solidFill>
                        <a:srgbClr val="CCD0C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Panel 7"/>
          <p:cNvSpPr/>
          <p:nvPr/>
        </p:nvSpPr>
        <p:spPr>
          <a:xfrm>
            <a:off x="685800" y="8077200"/>
            <a:ext cx="13868400" cy="14288"/>
          </a:xfrm>
          <a:prstGeom prst="rect">
            <a:avLst/>
          </a:prstGeom>
          <a:solidFill>
            <a:srgbClr val="CCD0C7"/>
          </a:solidFill>
          <a:ln w="0">
            <a:noFill/>
          </a:ln>
        </p:spPr>
      </p:sp>
      <p:sp>
        <p:nvSpPr>
          <p:cNvPr id="8"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9" name="08"/>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39</a:t>
            </a:r>
          </a:p>
        </p:txBody>
      </p:sp>
      <p:pic>
        <p:nvPicPr>
          <p:cNvPr id="10" name="/Users/siungryu/Downloads/로고_팀로고.webp" descr="또바기 팀 로고 · 원형 바깥 배경 투명"/>
          <p:cNvPicPr>
            <a:picLocks noChangeAspect="1"/>
          </p:cNvPicPr>
          <p:nvPr/>
        </p:nvPicPr>
        <p:blipFill>
          <a:blip r:embed="rId3"/>
          <a:srcRect/>
          <a:stretch>
            <a:fillRect/>
          </a:stretch>
        </p:blipFill>
        <p:spPr>
          <a:xfrm>
            <a:off x="1666875" y="2571750"/>
            <a:ext cx="3143250" cy="3143250"/>
          </a:xfrm>
          <a:prstGeom prst="rect">
            <a:avLst/>
          </a:prstGeom>
          <a:ln>
            <a:noFill/>
          </a:ln>
        </p:spPr>
      </p:pic>
      <p:sp>
        <p:nvSpPr>
          <p:cNvPr id="11" name="또바기 팀명"/>
          <p:cNvSpPr txBox="1"/>
          <p:nvPr/>
        </p:nvSpPr>
        <p:spPr>
          <a:xfrm>
            <a:off x="1428750" y="5962650"/>
            <a:ext cx="3619500" cy="619125"/>
          </a:xfrm>
          <a:prstGeom prst="rect">
            <a:avLst/>
          </a:prstGeom>
          <a:noFill/>
          <a:ln>
            <a:noFill/>
          </a:ln>
        </p:spPr>
        <p:txBody>
          <a:bodyPr wrap="square" lIns="0" tIns="0" rIns="0" bIns="0" anchor="t">
            <a:noAutofit/>
          </a:bodyPr>
          <a:lstStyle/>
          <a:p>
            <a:pPr algn="ctr">
              <a:lnSpc>
                <a:spcPct val="120000"/>
              </a:lnSpc>
              <a:spcAft>
                <a:spcPts val="0"/>
              </a:spcAft>
            </a:pPr>
            <a:r>
              <a:rPr lang="ko-KR" sz="2800" b="1">
                <a:solidFill>
                  <a:srgbClr val="101511"/>
                </a:solidFill>
                <a:latin typeface="Malgun Gothic"/>
                <a:ea typeface="Malgun Gothic"/>
                <a:cs typeface="Malgun Gothic"/>
              </a:rPr>
              <a:t>또바기</a:t>
            </a:r>
          </a:p>
        </p:txBody>
      </p:sp>
      <p:sp>
        <p:nvSpPr>
          <p:cNvPr id="12" name="팀 소개 코멘트"/>
          <p:cNvSpPr txBox="1"/>
          <p:nvPr/>
        </p:nvSpPr>
        <p:spPr>
          <a:xfrm>
            <a:off x="762000" y="7448550"/>
            <a:ext cx="13716000" cy="381000"/>
          </a:xfrm>
          <a:prstGeom prst="rect">
            <a:avLst/>
          </a:prstGeom>
          <a:noFill/>
          <a:ln>
            <a:noFill/>
          </a:ln>
        </p:spPr>
        <p:txBody>
          <a:bodyPr wrap="square" lIns="0" tIns="0" rIns="0" bIns="0" anchor="t">
            <a:noAutofit/>
          </a:bodyPr>
          <a:lstStyle/>
          <a:p>
            <a:pPr algn="l">
              <a:lnSpc>
                <a:spcPct val="120000"/>
              </a:lnSpc>
              <a:spcAft>
                <a:spcPts val="0"/>
              </a:spcAft>
            </a:pPr>
            <a:r>
              <a:rPr lang="ko-KR" sz="1950" b="1">
                <a:solidFill>
                  <a:srgbClr val="101511"/>
                </a:solidFill>
                <a:latin typeface="Malgun Gothic"/>
                <a:ea typeface="Malgun Gothic"/>
                <a:cs typeface="Malgun Gothic"/>
              </a:rPr>
              <a:t>언제나 한결같은 성실함과 열정으로 SPOT RADAR를 함께 만들었습니다.</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8F7F2"/>
        </a:solidFill>
        <a:effectLst/>
      </p:bgPr>
    </p:bg>
    <p:spTree>
      <p:nvGrpSpPr>
        <p:cNvPr id="1" name=""/>
        <p:cNvGrpSpPr/>
        <p:nvPr/>
      </p:nvGrpSpPr>
      <p:grpSpPr>
        <a:xfrm>
          <a:off x="0" y="0"/>
          <a:ext cx="0" cy="0"/>
          <a:chOff x="0" y="0"/>
          <a:chExt cx="0" cy="0"/>
        </a:xfrm>
      </p:grpSpPr>
      <p:sp>
        <p:nvSpPr>
          <p:cNvPr id="2" name="05  협업과 운영"/>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05  협업과 운영</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Figma 보드로 진행하는 데일리 스크럼"/>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Figma 보드로 진행하는 데일리 스크럼</a:t>
            </a:r>
            <a:endParaRPr lang="ko-KR" sz="3600"/>
          </a:p>
        </p:txBody>
      </p:sp>
      <p:sp>
        <p:nvSpPr>
          <p:cNvPr id="5" name="매일 아침 사전 기록을 공유하고, 필요한 논의와 업무 분담을 함께 진행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매일 아침 사전 기록을 공유하고, 필요한 논의와 업무 분담을 함께 진행합니다.</a:t>
            </a:r>
            <a:endParaRPr lang="ko-KR" sz="1650"/>
          </a:p>
        </p:txBody>
      </p:sp>
      <p:sp>
        <p:nvSpPr>
          <p:cNvPr id="6" name="실제 팀 보드 · 일정과 팀원별 체크인"/>
          <p:cNvSpPr txBox="1"/>
          <p:nvPr/>
        </p:nvSpPr>
        <p:spPr>
          <a:xfrm>
            <a:off x="704850" y="2162175"/>
            <a:ext cx="9239250" cy="323850"/>
          </a:xfrm>
          <a:prstGeom prst="rect">
            <a:avLst/>
          </a:prstGeom>
          <a:noFill/>
          <a:ln>
            <a:noFill/>
          </a:ln>
        </p:spPr>
        <p:txBody>
          <a:bodyPr wrap="square" lIns="0" tIns="0" rIns="0" bIns="0" anchor="t">
            <a:noAutofit/>
          </a:bodyPr>
          <a:lstStyle/>
          <a:p>
            <a:pPr algn="l">
              <a:lnSpc>
                <a:spcPct val="120000"/>
              </a:lnSpc>
              <a:spcAft>
                <a:spcPts val="0"/>
              </a:spcAft>
            </a:pPr>
            <a:r>
              <a:rPr lang="ko-KR" sz="1650" b="1">
                <a:solidFill>
                  <a:srgbClr val="66716B"/>
                </a:solidFill>
                <a:latin typeface="Malgun Gothic"/>
                <a:ea typeface="Malgun Gothic"/>
                <a:cs typeface="Malgun Gothic"/>
              </a:rPr>
              <a:t>실제 팀 보드 · 일정과 팀원별 체크인</a:t>
            </a:r>
            <a:endParaRPr lang="ko-KR" sz="1650"/>
          </a:p>
        </p:txBody>
      </p:sp>
      <p:pic>
        <p:nvPicPr>
          <p:cNvPr id="7" name="또바기 FigJam 보드의 실제 일정 및 체크인 화면" descr="또바기 FigJam 보드의 실제 일정 및 체크인 화면"/>
          <p:cNvPicPr>
            <a:picLocks noChangeAspect="1"/>
          </p:cNvPicPr>
          <p:nvPr/>
        </p:nvPicPr>
        <p:blipFill>
          <a:blip r:embed="rId3"/>
          <a:srcRect l="9451" t="17448" r="330" b="8333"/>
          <a:stretch>
            <a:fillRect/>
          </a:stretch>
        </p:blipFill>
        <p:spPr>
          <a:xfrm>
            <a:off x="704850" y="2571750"/>
            <a:ext cx="9220200" cy="3850193"/>
          </a:xfrm>
          <a:prstGeom prst="rect">
            <a:avLst/>
          </a:prstGeom>
          <a:ln>
            <a:noFill/>
          </a:ln>
        </p:spPr>
      </p:pic>
      <p:sp>
        <p:nvSpPr>
          <p:cNvPr id="8" name="01  일정 확인"/>
          <p:cNvSpPr txBox="1"/>
          <p:nvPr/>
        </p:nvSpPr>
        <p:spPr>
          <a:xfrm>
            <a:off x="10325100" y="2238375"/>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01  일정 확인</a:t>
            </a:r>
            <a:endParaRPr lang="ko-KR" sz="2250"/>
          </a:p>
        </p:txBody>
      </p:sp>
      <p:sp>
        <p:nvSpPr>
          <p:cNvPr id="9" name="공지·마일스톤과 주요 일정을 확인합니다."/>
          <p:cNvSpPr txBox="1"/>
          <p:nvPr/>
        </p:nvSpPr>
        <p:spPr>
          <a:xfrm>
            <a:off x="10325100" y="2705100"/>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공지·마일스톤과</a:t>
            </a:r>
            <a:endParaRPr lang="ko-KR" sz="1875"/>
          </a:p>
          <a:p>
            <a:pPr algn="l">
              <a:lnSpc>
                <a:spcPct val="125000"/>
              </a:lnSpc>
              <a:spcAft>
                <a:spcPts val="0"/>
              </a:spcAft>
            </a:pPr>
            <a:r>
              <a:rPr lang="ko-KR" sz="1875" b="0">
                <a:solidFill>
                  <a:srgbClr val="101511"/>
                </a:solidFill>
                <a:latin typeface="Malgun Gothic"/>
                <a:ea typeface="Malgun Gothic"/>
                <a:cs typeface="Malgun Gothic"/>
              </a:rPr>
              <a:t>주요 일정을 확인합니다.</a:t>
            </a:r>
            <a:endParaRPr lang="ko-KR" sz="1875"/>
          </a:p>
        </p:txBody>
      </p:sp>
      <p:sp>
        <p:nvSpPr>
          <p:cNvPr id="10" name="Panel 10"/>
          <p:cNvSpPr/>
          <p:nvPr/>
        </p:nvSpPr>
        <p:spPr>
          <a:xfrm>
            <a:off x="10325100" y="3457575"/>
            <a:ext cx="4210050" cy="14288"/>
          </a:xfrm>
          <a:prstGeom prst="rect">
            <a:avLst/>
          </a:prstGeom>
          <a:solidFill>
            <a:srgbClr val="CCD0C7"/>
          </a:solidFill>
          <a:ln w="0">
            <a:noFill/>
          </a:ln>
        </p:spPr>
      </p:sp>
      <p:sp>
        <p:nvSpPr>
          <p:cNvPr id="11" name="02  사전 기록"/>
          <p:cNvSpPr txBox="1"/>
          <p:nvPr/>
        </p:nvSpPr>
        <p:spPr>
          <a:xfrm>
            <a:off x="10325100" y="3562350"/>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02  사전 기록</a:t>
            </a:r>
            <a:endParaRPr lang="ko-KR" sz="2250"/>
          </a:p>
        </p:txBody>
      </p:sp>
      <p:sp>
        <p:nvSpPr>
          <p:cNvPr id="12" name="어제 한 일·오늘 할 일· 도움이 필요한 일을 씁니다."/>
          <p:cNvSpPr txBox="1"/>
          <p:nvPr/>
        </p:nvSpPr>
        <p:spPr>
          <a:xfrm>
            <a:off x="10325100" y="4029075"/>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어제 한 일·오늘 할 일·</a:t>
            </a:r>
            <a:endParaRPr lang="ko-KR" sz="1875"/>
          </a:p>
          <a:p>
            <a:pPr algn="l">
              <a:lnSpc>
                <a:spcPct val="125000"/>
              </a:lnSpc>
              <a:spcAft>
                <a:spcPts val="0"/>
              </a:spcAft>
            </a:pPr>
            <a:r>
              <a:rPr lang="ko-KR" sz="1875" b="0">
                <a:solidFill>
                  <a:srgbClr val="101511"/>
                </a:solidFill>
                <a:latin typeface="Malgun Gothic"/>
                <a:ea typeface="Malgun Gothic"/>
                <a:cs typeface="Malgun Gothic"/>
              </a:rPr>
              <a:t>도움이 필요한 일을 씁니다.</a:t>
            </a:r>
            <a:endParaRPr lang="ko-KR" sz="1875"/>
          </a:p>
        </p:txBody>
      </p:sp>
      <p:sp>
        <p:nvSpPr>
          <p:cNvPr id="13" name="Panel 13"/>
          <p:cNvSpPr/>
          <p:nvPr/>
        </p:nvSpPr>
        <p:spPr>
          <a:xfrm>
            <a:off x="10325100" y="4781550"/>
            <a:ext cx="4210050" cy="14288"/>
          </a:xfrm>
          <a:prstGeom prst="rect">
            <a:avLst/>
          </a:prstGeom>
          <a:solidFill>
            <a:srgbClr val="CCD0C7"/>
          </a:solidFill>
          <a:ln w="0">
            <a:noFill/>
          </a:ln>
        </p:spPr>
      </p:sp>
      <p:sp>
        <p:nvSpPr>
          <p:cNvPr id="14" name="03  검토와 논의"/>
          <p:cNvSpPr txBox="1"/>
          <p:nvPr/>
        </p:nvSpPr>
        <p:spPr>
          <a:xfrm>
            <a:off x="10325100" y="4886325"/>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03  검토와 논의</a:t>
            </a:r>
            <a:endParaRPr lang="ko-KR" sz="2250"/>
          </a:p>
        </p:txBody>
      </p:sp>
      <p:sp>
        <p:nvSpPr>
          <p:cNvPr id="15" name="팀장이 기록을 검토하고, 필요한 사항을 함께 논의합니다."/>
          <p:cNvSpPr txBox="1"/>
          <p:nvPr/>
        </p:nvSpPr>
        <p:spPr>
          <a:xfrm>
            <a:off x="10325100" y="5353050"/>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팀장이 기록을 검토하고,</a:t>
            </a:r>
            <a:endParaRPr lang="ko-KR" sz="1875"/>
          </a:p>
          <a:p>
            <a:pPr algn="l">
              <a:lnSpc>
                <a:spcPct val="125000"/>
              </a:lnSpc>
              <a:spcAft>
                <a:spcPts val="0"/>
              </a:spcAft>
            </a:pPr>
            <a:r>
              <a:rPr lang="ko-KR" sz="1875" b="0">
                <a:solidFill>
                  <a:srgbClr val="101511"/>
                </a:solidFill>
                <a:latin typeface="Malgun Gothic"/>
                <a:ea typeface="Malgun Gothic"/>
                <a:cs typeface="Malgun Gothic"/>
              </a:rPr>
              <a:t>필요한 사항을 함께 논의합니다.</a:t>
            </a:r>
            <a:endParaRPr lang="ko-KR" sz="1875"/>
          </a:p>
        </p:txBody>
      </p:sp>
      <p:sp>
        <p:nvSpPr>
          <p:cNvPr id="16" name="Panel 16"/>
          <p:cNvSpPr/>
          <p:nvPr/>
        </p:nvSpPr>
        <p:spPr>
          <a:xfrm>
            <a:off x="10325100" y="6105525"/>
            <a:ext cx="4210050" cy="14288"/>
          </a:xfrm>
          <a:prstGeom prst="rect">
            <a:avLst/>
          </a:prstGeom>
          <a:solidFill>
            <a:srgbClr val="CCD0C7"/>
          </a:solidFill>
          <a:ln w="0">
            <a:noFill/>
          </a:ln>
        </p:spPr>
      </p:sp>
      <p:sp>
        <p:nvSpPr>
          <p:cNvPr id="17" name="04  업무 분담"/>
          <p:cNvSpPr txBox="1"/>
          <p:nvPr/>
        </p:nvSpPr>
        <p:spPr>
          <a:xfrm>
            <a:off x="10325100" y="6210300"/>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04  업무 분담</a:t>
            </a:r>
            <a:endParaRPr lang="ko-KR" sz="2250"/>
          </a:p>
        </p:txBody>
      </p:sp>
      <p:sp>
        <p:nvSpPr>
          <p:cNvPr id="18" name="논의한 내용을 바탕으로 오늘의 업무와 담당자를 정합니다."/>
          <p:cNvSpPr txBox="1"/>
          <p:nvPr/>
        </p:nvSpPr>
        <p:spPr>
          <a:xfrm>
            <a:off x="10325100" y="6677025"/>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논의한 내용을 바탕으로</a:t>
            </a:r>
            <a:endParaRPr lang="ko-KR" sz="1875"/>
          </a:p>
          <a:p>
            <a:pPr algn="l">
              <a:lnSpc>
                <a:spcPct val="125000"/>
              </a:lnSpc>
              <a:spcAft>
                <a:spcPts val="0"/>
              </a:spcAft>
            </a:pPr>
            <a:r>
              <a:rPr lang="ko-KR" sz="1875" b="0">
                <a:solidFill>
                  <a:srgbClr val="101511"/>
                </a:solidFill>
                <a:latin typeface="Malgun Gothic"/>
                <a:ea typeface="Malgun Gothic"/>
                <a:cs typeface="Malgun Gothic"/>
              </a:rPr>
              <a:t>오늘의 업무와 담당자를 정합니다.</a:t>
            </a:r>
            <a:endParaRPr lang="ko-KR" sz="1875"/>
          </a:p>
        </p:txBody>
      </p:sp>
      <p:sp>
        <p:nvSpPr>
          <p:cNvPr id="19" name="Panel 19"/>
          <p:cNvSpPr/>
          <p:nvPr/>
        </p:nvSpPr>
        <p:spPr>
          <a:xfrm>
            <a:off x="704850" y="6858000"/>
            <a:ext cx="4095750" cy="590550"/>
          </a:xfrm>
          <a:prstGeom prst="rect">
            <a:avLst/>
          </a:prstGeom>
          <a:solidFill>
            <a:srgbClr val="CCFF00"/>
          </a:solidFill>
          <a:ln w="12700">
            <a:solidFill>
              <a:srgbClr val="101511"/>
            </a:solidFill>
          </a:ln>
        </p:spPr>
      </p:sp>
      <p:sp>
        <p:nvSpPr>
          <p:cNvPr id="20" name="Figma 앱에서 보드 열기">
            <a:hlinkClick r:id="rId4"/>
          </p:cNvPr>
          <p:cNvSpPr txBox="1"/>
          <p:nvPr/>
        </p:nvSpPr>
        <p:spPr>
          <a:xfrm>
            <a:off x="904875" y="6991350"/>
            <a:ext cx="3714750" cy="381000"/>
          </a:xfrm>
          <a:prstGeom prst="rect">
            <a:avLst/>
          </a:prstGeom>
          <a:noFill/>
          <a:ln>
            <a:noFill/>
          </a:ln>
        </p:spPr>
        <p:txBody>
          <a:bodyPr wrap="square" lIns="0" tIns="0" rIns="0" bIns="0" anchor="t">
            <a:noAutofit/>
          </a:bodyPr>
          <a:lstStyle/>
          <a:p>
            <a:pPr algn="l">
              <a:lnSpc>
                <a:spcPct val="120000"/>
              </a:lnSpc>
              <a:spcAft>
                <a:spcPts val="0"/>
              </a:spcAft>
            </a:pPr>
            <a:r>
              <a:rPr lang="ko-KR" sz="2025" b="1">
                <a:solidFill>
                  <a:srgbClr val="101511"/>
                </a:solidFill>
                <a:latin typeface="Malgun Gothic"/>
                <a:ea typeface="Malgun Gothic"/>
                <a:cs typeface="Malgun Gothic"/>
              </a:rPr>
              <a:t>Figma 앱에서 보드 열기</a:t>
            </a:r>
            <a:endParaRPr lang="ko-KR" sz="2025"/>
          </a:p>
        </p:txBody>
      </p:sp>
      <p:sp>
        <p:nvSpPr>
          <p:cNvPr id="21" name="웹에서 보드 열기">
            <a:hlinkClick r:id="rId5"/>
          </p:cNvPr>
          <p:cNvSpPr txBox="1"/>
          <p:nvPr/>
        </p:nvSpPr>
        <p:spPr>
          <a:xfrm>
            <a:off x="5181600" y="7029450"/>
            <a:ext cx="3857625" cy="352425"/>
          </a:xfrm>
          <a:prstGeom prst="rect">
            <a:avLst/>
          </a:prstGeom>
          <a:noFill/>
          <a:ln>
            <a:noFill/>
          </a:ln>
        </p:spPr>
        <p:txBody>
          <a:bodyPr wrap="square" lIns="0" tIns="0" rIns="0" bIns="0" anchor="t">
            <a:noAutofit/>
          </a:bodyPr>
          <a:lstStyle/>
          <a:p>
            <a:pPr algn="l">
              <a:lnSpc>
                <a:spcPct val="120000"/>
              </a:lnSpc>
              <a:spcAft>
                <a:spcPts val="0"/>
              </a:spcAft>
            </a:pPr>
            <a:r>
              <a:rPr lang="ko-KR" sz="1800" b="0" u="sng" dirty="0">
                <a:solidFill>
                  <a:srgbClr val="101511"/>
                </a:solidFill>
                <a:latin typeface="Malgun Gothic"/>
                <a:ea typeface="Malgun Gothic"/>
                <a:cs typeface="Malgun Gothic"/>
              </a:rPr>
              <a:t>웹에서 보드 열기</a:t>
            </a:r>
            <a:endParaRPr lang="ko-KR" sz="1800" dirty="0"/>
          </a:p>
        </p:txBody>
      </p:sp>
      <p:sp>
        <p:nvSpPr>
          <p:cNvPr id="22" name="앱 링크는 Figma가 설치된 발표 PC에서 사용할 수 있습니다."/>
          <p:cNvSpPr txBox="1"/>
          <p:nvPr/>
        </p:nvSpPr>
        <p:spPr>
          <a:xfrm>
            <a:off x="723900" y="7610475"/>
            <a:ext cx="9239250" cy="266700"/>
          </a:xfrm>
          <a:prstGeom prst="rect">
            <a:avLst/>
          </a:prstGeom>
          <a:noFill/>
          <a:ln>
            <a:noFill/>
          </a:ln>
        </p:spPr>
        <p:txBody>
          <a:bodyPr wrap="square" lIns="0" tIns="0" rIns="0" bIns="0" anchor="t">
            <a:noAutofit/>
          </a:bodyPr>
          <a:lstStyle/>
          <a:p>
            <a:pPr algn="l">
              <a:lnSpc>
                <a:spcPct val="120000"/>
              </a:lnSpc>
              <a:spcAft>
                <a:spcPts val="0"/>
              </a:spcAft>
            </a:pPr>
            <a:r>
              <a:rPr lang="ko-KR" sz="1350" b="0">
                <a:solidFill>
                  <a:srgbClr val="66716B"/>
                </a:solidFill>
                <a:latin typeface="Malgun Gothic"/>
                <a:ea typeface="Malgun Gothic"/>
                <a:cs typeface="Malgun Gothic"/>
              </a:rPr>
              <a:t>앱 링크는 Figma가 설치된 발표 PC에서 사용할 수 있습니다.</a:t>
            </a:r>
            <a:endParaRPr lang="ko-KR" sz="1350"/>
          </a:p>
        </p:txBody>
      </p:sp>
      <p:sp>
        <p:nvSpPr>
          <p:cNvPr id="23" name="Panel 23"/>
          <p:cNvSpPr/>
          <p:nvPr/>
        </p:nvSpPr>
        <p:spPr>
          <a:xfrm>
            <a:off x="685800" y="8077200"/>
            <a:ext cx="13868400" cy="14288"/>
          </a:xfrm>
          <a:prstGeom prst="rect">
            <a:avLst/>
          </a:prstGeom>
          <a:solidFill>
            <a:srgbClr val="CCD0C7"/>
          </a:solidFill>
          <a:ln w="0">
            <a:noFill/>
          </a:ln>
        </p:spPr>
      </p:sp>
      <p:sp>
        <p:nvSpPr>
          <p:cNvPr id="24"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25" name="24"/>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40</a:t>
            </a:r>
            <a:endParaRPr lang="ko-KR" sz="1725"/>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5  협업과 운영"/>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05  협업과 운영</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Discord로 이어간 팀 커뮤니케이션"/>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Discord로 이어간 팀 커뮤니케이션</a:t>
            </a:r>
            <a:endParaRPr lang="ko-KR" sz="3600"/>
          </a:p>
        </p:txBody>
      </p:sp>
      <p:sp>
        <p:nvSpPr>
          <p:cNvPr id="5" name="팀 Discord 서버에서 개발 소식과 공지, 자주 쓰는 자료를 공유했습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팀 Discord 서버에서 개발 소식과 공지, 자주 쓰는 자료를 공유했습니다.</a:t>
            </a:r>
            <a:endParaRPr lang="ko-KR" sz="1650"/>
          </a:p>
        </p:txBody>
      </p:sp>
      <p:sp>
        <p:nvSpPr>
          <p:cNvPr id="6" name="또바기 팀 Discord 서버의 실제 자료 공유 화면"/>
          <p:cNvSpPr txBox="1"/>
          <p:nvPr/>
        </p:nvSpPr>
        <p:spPr>
          <a:xfrm>
            <a:off x="704850" y="2162175"/>
            <a:ext cx="9239250" cy="323850"/>
          </a:xfrm>
          <a:prstGeom prst="rect">
            <a:avLst/>
          </a:prstGeom>
          <a:noFill/>
          <a:ln>
            <a:noFill/>
          </a:ln>
        </p:spPr>
        <p:txBody>
          <a:bodyPr wrap="square" lIns="0" tIns="0" rIns="0" bIns="0" anchor="t">
            <a:noAutofit/>
          </a:bodyPr>
          <a:lstStyle/>
          <a:p>
            <a:pPr algn="l">
              <a:lnSpc>
                <a:spcPct val="120000"/>
              </a:lnSpc>
              <a:spcAft>
                <a:spcPts val="0"/>
              </a:spcAft>
            </a:pPr>
            <a:r>
              <a:rPr lang="ko-KR" sz="1650" b="1">
                <a:solidFill>
                  <a:srgbClr val="66716B"/>
                </a:solidFill>
                <a:latin typeface="Malgun Gothic"/>
                <a:ea typeface="Malgun Gothic"/>
                <a:cs typeface="Malgun Gothic"/>
              </a:rPr>
              <a:t>또바기 팀 Discord 서버의 실제 자료 공유 화면</a:t>
            </a:r>
            <a:endParaRPr lang="ko-KR" sz="1650"/>
          </a:p>
        </p:txBody>
      </p:sp>
      <p:pic>
        <p:nvPicPr>
          <p:cNvPr id="7" name="또바기 팀 Discord 채널 및 자료 공유 화면" descr="팀 Discord 서버의 github, 일반, 이미지-링크-파일공유, 공지 채널과 발표자료·로고 공유 화면"/>
          <p:cNvPicPr>
            <a:picLocks noChangeAspect="1"/>
          </p:cNvPicPr>
          <p:nvPr/>
        </p:nvPicPr>
        <p:blipFill>
          <a:blip r:embed="rId3"/>
          <a:stretch>
            <a:fillRect/>
          </a:stretch>
        </p:blipFill>
        <p:spPr>
          <a:xfrm>
            <a:off x="704850" y="2524125"/>
            <a:ext cx="8401050" cy="5438927"/>
          </a:xfrm>
          <a:prstGeom prst="rect">
            <a:avLst/>
          </a:prstGeom>
          <a:ln>
            <a:noFill/>
          </a:ln>
        </p:spPr>
      </p:pic>
      <p:sp>
        <p:nvSpPr>
          <p:cNvPr id="8" name="01  깃허브 (github)"/>
          <p:cNvSpPr txBox="1"/>
          <p:nvPr/>
        </p:nvSpPr>
        <p:spPr>
          <a:xfrm>
            <a:off x="10325100" y="6210300"/>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04  깃허브 (github)</a:t>
            </a:r>
            <a:endParaRPr lang="ko-KR" sz="2250"/>
          </a:p>
        </p:txBody>
      </p:sp>
      <p:sp>
        <p:nvSpPr>
          <p:cNvPr id="9" name="GitHub 푸시 알림을 자동 수신 팀원의 작업 업데이트 확인"/>
          <p:cNvSpPr txBox="1"/>
          <p:nvPr/>
        </p:nvSpPr>
        <p:spPr>
          <a:xfrm>
            <a:off x="10325100" y="6677025"/>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GitHub 푸시 알림을 자동 수신</a:t>
            </a:r>
            <a:endParaRPr lang="ko-KR" sz="1875"/>
          </a:p>
          <a:p>
            <a:pPr algn="l">
              <a:lnSpc>
                <a:spcPct val="125000"/>
              </a:lnSpc>
              <a:spcAft>
                <a:spcPts val="0"/>
              </a:spcAft>
            </a:pPr>
            <a:r>
              <a:rPr lang="ko-KR" sz="1875" b="0">
                <a:solidFill>
                  <a:srgbClr val="101511"/>
                </a:solidFill>
                <a:latin typeface="Malgun Gothic"/>
                <a:ea typeface="Malgun Gothic"/>
                <a:cs typeface="Malgun Gothic"/>
              </a:rPr>
              <a:t>팀원의 작업 업데이트 확인</a:t>
            </a:r>
            <a:endParaRPr lang="ko-KR" sz="1875"/>
          </a:p>
        </p:txBody>
      </p:sp>
      <p:sp>
        <p:nvSpPr>
          <p:cNvPr id="10" name="Panel 10"/>
          <p:cNvSpPr/>
          <p:nvPr/>
        </p:nvSpPr>
        <p:spPr>
          <a:xfrm>
            <a:off x="10325100" y="3457575"/>
            <a:ext cx="4210050" cy="14288"/>
          </a:xfrm>
          <a:prstGeom prst="rect">
            <a:avLst/>
          </a:prstGeom>
          <a:solidFill>
            <a:srgbClr val="CCD0C7"/>
          </a:solidFill>
          <a:ln w="0">
            <a:noFill/>
          </a:ln>
        </p:spPr>
      </p:sp>
      <p:sp>
        <p:nvSpPr>
          <p:cNvPr id="11" name="02  공지"/>
          <p:cNvSpPr txBox="1"/>
          <p:nvPr/>
        </p:nvSpPr>
        <p:spPr>
          <a:xfrm>
            <a:off x="10325100" y="2238375"/>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dirty="0">
                <a:solidFill>
                  <a:srgbClr val="101511"/>
                </a:solidFill>
                <a:latin typeface="Malgun Gothic"/>
                <a:ea typeface="Malgun Gothic"/>
                <a:cs typeface="Malgun Gothic"/>
              </a:rPr>
              <a:t>01  공지</a:t>
            </a:r>
            <a:endParaRPr lang="ko-KR" sz="2250" dirty="0"/>
          </a:p>
        </p:txBody>
      </p:sp>
      <p:sp>
        <p:nvSpPr>
          <p:cNvPr id="12" name="팀에 필요한 공지사항을 모아 공유하고 확인합니다."/>
          <p:cNvSpPr txBox="1"/>
          <p:nvPr/>
        </p:nvSpPr>
        <p:spPr>
          <a:xfrm>
            <a:off x="10325100" y="2705100"/>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dirty="0">
                <a:solidFill>
                  <a:srgbClr val="101511"/>
                </a:solidFill>
                <a:latin typeface="Malgun Gothic"/>
                <a:ea typeface="Malgun Gothic"/>
                <a:cs typeface="Malgun Gothic"/>
              </a:rPr>
              <a:t>팀에 필요한 공지사항</a:t>
            </a:r>
            <a:r>
              <a:rPr lang="ko-KR" altLang="en-US" sz="1875" b="0" dirty="0">
                <a:solidFill>
                  <a:srgbClr val="101511"/>
                </a:solidFill>
                <a:latin typeface="Malgun Gothic"/>
                <a:ea typeface="Malgun Gothic"/>
                <a:cs typeface="Malgun Gothic"/>
              </a:rPr>
              <a:t> </a:t>
            </a:r>
            <a:r>
              <a:rPr lang="ko-KR" sz="1875" b="0" dirty="0">
                <a:solidFill>
                  <a:srgbClr val="101511"/>
                </a:solidFill>
                <a:latin typeface="Malgun Gothic"/>
                <a:ea typeface="Malgun Gothic"/>
                <a:cs typeface="Malgun Gothic"/>
              </a:rPr>
              <a:t>공유</a:t>
            </a:r>
            <a:endParaRPr lang="ko-KR" sz="1875" dirty="0"/>
          </a:p>
        </p:txBody>
      </p:sp>
      <p:sp>
        <p:nvSpPr>
          <p:cNvPr id="13" name="Panel 13"/>
          <p:cNvSpPr/>
          <p:nvPr/>
        </p:nvSpPr>
        <p:spPr>
          <a:xfrm>
            <a:off x="10325100" y="4781550"/>
            <a:ext cx="4210050" cy="14288"/>
          </a:xfrm>
          <a:prstGeom prst="rect">
            <a:avLst/>
          </a:prstGeom>
          <a:solidFill>
            <a:srgbClr val="CCD0C7"/>
          </a:solidFill>
          <a:ln w="0">
            <a:noFill/>
          </a:ln>
        </p:spPr>
      </p:sp>
      <p:sp>
        <p:nvSpPr>
          <p:cNvPr id="14" name="03  이미지·링크·파일공유"/>
          <p:cNvSpPr txBox="1"/>
          <p:nvPr/>
        </p:nvSpPr>
        <p:spPr>
          <a:xfrm>
            <a:off x="10325100" y="3562350"/>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02  이미지·링크·파일공유</a:t>
            </a:r>
            <a:endParaRPr lang="ko-KR" sz="2250"/>
          </a:p>
        </p:txBody>
      </p:sp>
      <p:sp>
        <p:nvSpPr>
          <p:cNvPr id="15" name="자주 쓰는 링크와 파일을 모아 공동 북마크로 활용합니다."/>
          <p:cNvSpPr txBox="1"/>
          <p:nvPr/>
        </p:nvSpPr>
        <p:spPr>
          <a:xfrm>
            <a:off x="10325100" y="4029075"/>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자주 쓰는 링크와 파일을 모아</a:t>
            </a:r>
            <a:endParaRPr lang="ko-KR" sz="1875"/>
          </a:p>
          <a:p>
            <a:pPr algn="l">
              <a:lnSpc>
                <a:spcPct val="125000"/>
              </a:lnSpc>
              <a:spcAft>
                <a:spcPts val="0"/>
              </a:spcAft>
            </a:pPr>
            <a:r>
              <a:rPr lang="ko-KR" sz="1875" b="0">
                <a:solidFill>
                  <a:srgbClr val="101511"/>
                </a:solidFill>
                <a:latin typeface="Malgun Gothic"/>
                <a:ea typeface="Malgun Gothic"/>
                <a:cs typeface="Malgun Gothic"/>
              </a:rPr>
              <a:t>공동 북마크로 활용합니다.</a:t>
            </a:r>
            <a:endParaRPr lang="ko-KR" sz="1875"/>
          </a:p>
        </p:txBody>
      </p:sp>
      <p:sp>
        <p:nvSpPr>
          <p:cNvPr id="16" name="Panel 16"/>
          <p:cNvSpPr/>
          <p:nvPr/>
        </p:nvSpPr>
        <p:spPr>
          <a:xfrm>
            <a:off x="10325100" y="6105525"/>
            <a:ext cx="4210050" cy="14288"/>
          </a:xfrm>
          <a:prstGeom prst="rect">
            <a:avLst/>
          </a:prstGeom>
          <a:solidFill>
            <a:srgbClr val="CCD0C7"/>
          </a:solidFill>
          <a:ln w="0">
            <a:noFill/>
          </a:ln>
        </p:spPr>
      </p:sp>
      <p:sp>
        <p:nvSpPr>
          <p:cNvPr id="17" name="04  일반"/>
          <p:cNvSpPr txBox="1"/>
          <p:nvPr/>
        </p:nvSpPr>
        <p:spPr>
          <a:xfrm>
            <a:off x="10325100" y="4886325"/>
            <a:ext cx="4210050" cy="400050"/>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03  일반</a:t>
            </a:r>
            <a:endParaRPr lang="ko-KR" sz="2250"/>
          </a:p>
        </p:txBody>
      </p:sp>
      <p:sp>
        <p:nvSpPr>
          <p:cNvPr id="18" name="개발 중 필요한 이야기를 나누는 일상적인 팀 소통 공간입니다."/>
          <p:cNvSpPr txBox="1"/>
          <p:nvPr/>
        </p:nvSpPr>
        <p:spPr>
          <a:xfrm>
            <a:off x="10325100" y="5353050"/>
            <a:ext cx="4210050" cy="742950"/>
          </a:xfrm>
          <a:prstGeom prst="rect">
            <a:avLst/>
          </a:prstGeom>
          <a:noFill/>
          <a:ln>
            <a:noFill/>
          </a:ln>
        </p:spPr>
        <p:txBody>
          <a:bodyPr wrap="square" lIns="0" tIns="0" rIns="0" bIns="0" anchor="t">
            <a:noAutofit/>
          </a:bodyPr>
          <a:lstStyle/>
          <a:p>
            <a:pPr algn="l">
              <a:lnSpc>
                <a:spcPct val="125000"/>
              </a:lnSpc>
              <a:spcAft>
                <a:spcPts val="0"/>
              </a:spcAft>
            </a:pPr>
            <a:r>
              <a:rPr lang="ko-KR" sz="1875" b="0">
                <a:solidFill>
                  <a:srgbClr val="101511"/>
                </a:solidFill>
                <a:latin typeface="Malgun Gothic"/>
                <a:ea typeface="Malgun Gothic"/>
                <a:cs typeface="Malgun Gothic"/>
              </a:rPr>
              <a:t>개발 중 필요한 이야기를 나누는</a:t>
            </a:r>
            <a:endParaRPr lang="ko-KR" sz="1875"/>
          </a:p>
          <a:p>
            <a:pPr algn="l">
              <a:lnSpc>
                <a:spcPct val="125000"/>
              </a:lnSpc>
              <a:spcAft>
                <a:spcPts val="0"/>
              </a:spcAft>
            </a:pPr>
            <a:r>
              <a:rPr lang="ko-KR" sz="1875" b="0">
                <a:solidFill>
                  <a:srgbClr val="101511"/>
                </a:solidFill>
                <a:latin typeface="Malgun Gothic"/>
                <a:ea typeface="Malgun Gothic"/>
                <a:cs typeface="Malgun Gothic"/>
              </a:rPr>
              <a:t>일상적인 팀 소통 공간입니다.</a:t>
            </a:r>
            <a:endParaRPr lang="ko-KR" sz="1875"/>
          </a:p>
        </p:txBody>
      </p:sp>
      <p:sp>
        <p:nvSpPr>
          <p:cNvPr id="23" name="Panel 23"/>
          <p:cNvSpPr/>
          <p:nvPr/>
        </p:nvSpPr>
        <p:spPr>
          <a:xfrm>
            <a:off x="685800" y="8077200"/>
            <a:ext cx="13868400" cy="14288"/>
          </a:xfrm>
          <a:prstGeom prst="rect">
            <a:avLst/>
          </a:prstGeom>
          <a:solidFill>
            <a:srgbClr val="CCD0C7"/>
          </a:solidFill>
          <a:ln w="0">
            <a:noFill/>
          </a:ln>
        </p:spPr>
      </p:sp>
      <p:sp>
        <p:nvSpPr>
          <p:cNvPr id="24" name="또바기  /  AX 풀스택 프로젝트"/>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a:t>
            </a:r>
            <a:endParaRPr lang="ko-KR" sz="1200"/>
          </a:p>
        </p:txBody>
      </p:sp>
      <p:sp>
        <p:nvSpPr>
          <p:cNvPr id="25" name="29"/>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41</a:t>
            </a:r>
            <a:endParaRPr lang="ko-KR" sz="1725"/>
          </a:p>
        </p:txBody>
      </p:sp>
      <p:sp>
        <p:nvSpPr>
          <p:cNvPr id="22" name="02  공지">
            <a:extLst>
              <a:ext uri="{FF2B5EF4-FFF2-40B4-BE49-F238E27FC236}">
                <a16:creationId xmlns:a16="http://schemas.microsoft.com/office/drawing/2014/main" id="{A8CDA98D-624B-A740-BA87-CA7824A5010F}"/>
              </a:ext>
            </a:extLst>
          </p:cNvPr>
          <p:cNvSpPr txBox="1"/>
          <p:nvPr/>
        </p:nvSpPr>
        <p:spPr>
          <a:xfrm>
            <a:off x="9972675" y="1607344"/>
            <a:ext cx="4210050" cy="400050"/>
          </a:xfrm>
          <a:prstGeom prst="rect">
            <a:avLst/>
          </a:prstGeom>
          <a:noFill/>
          <a:ln>
            <a:noFill/>
          </a:ln>
        </p:spPr>
        <p:txBody>
          <a:bodyPr wrap="square" lIns="0" tIns="0" rIns="0" bIns="0" anchor="t">
            <a:noAutofit/>
          </a:bodyPr>
          <a:lstStyle/>
          <a:p>
            <a:pPr algn="ctr">
              <a:lnSpc>
                <a:spcPct val="120000"/>
              </a:lnSpc>
              <a:spcAft>
                <a:spcPts val="0"/>
              </a:spcAft>
            </a:pPr>
            <a:r>
              <a:rPr lang="en-US" altLang="ko-KR" sz="2250" b="1" dirty="0">
                <a:solidFill>
                  <a:srgbClr val="101511"/>
                </a:solidFill>
                <a:latin typeface="Malgun Gothic"/>
                <a:ea typeface="Malgun Gothic"/>
                <a:cs typeface="Malgun Gothic"/>
              </a:rPr>
              <a:t>&lt;</a:t>
            </a:r>
            <a:r>
              <a:rPr lang="ko-KR" altLang="en-US" sz="2250" b="1" dirty="0">
                <a:solidFill>
                  <a:srgbClr val="101511"/>
                </a:solidFill>
                <a:latin typeface="Malgun Gothic"/>
                <a:ea typeface="Malgun Gothic"/>
                <a:cs typeface="Malgun Gothic"/>
              </a:rPr>
              <a:t> </a:t>
            </a:r>
            <a:r>
              <a:rPr lang="ko-KR" altLang="en-US" sz="2800" b="1" dirty="0">
                <a:solidFill>
                  <a:srgbClr val="101511"/>
                </a:solidFill>
                <a:latin typeface="Malgun Gothic"/>
                <a:ea typeface="Malgun Gothic"/>
                <a:cs typeface="Malgun Gothic"/>
              </a:rPr>
              <a:t>채널 활용 </a:t>
            </a:r>
            <a:r>
              <a:rPr lang="en-US" altLang="ko-KR" sz="2250" b="1" dirty="0">
                <a:solidFill>
                  <a:srgbClr val="101511"/>
                </a:solidFill>
                <a:latin typeface="Malgun Gothic"/>
                <a:ea typeface="Malgun Gothic"/>
                <a:cs typeface="Malgun Gothic"/>
              </a:rPr>
              <a:t>&gt;</a:t>
            </a:r>
            <a:endParaRPr lang="ko-KR" sz="2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 name="05  협업과 운영"/>
          <p:cNvSpPr txBox="1"/>
          <p:nvPr/>
        </p:nvSpPr>
        <p:spPr>
          <a:xfrm>
            <a:off x="685800" y="352425"/>
            <a:ext cx="9525000" cy="285750"/>
          </a:xfrm>
          <a:prstGeom prst="rect">
            <a:avLst/>
          </a:prstGeom>
          <a:noFill/>
          <a:ln>
            <a:noFill/>
          </a:ln>
        </p:spPr>
        <p:txBody>
          <a:bodyPr wrap="square" lIns="0" tIns="0" rIns="0" bIns="0" anchor="t">
            <a:noAutofit/>
          </a:bodyPr>
          <a:lstStyle/>
          <a:p>
            <a:pPr algn="l">
              <a:lnSpc>
                <a:spcPct val="120000"/>
              </a:lnSpc>
              <a:spcAft>
                <a:spcPts val="0"/>
              </a:spcAft>
            </a:pPr>
            <a:r>
              <a:rPr lang="ko-KR" sz="1500" b="1">
                <a:solidFill>
                  <a:srgbClr val="66716B"/>
                </a:solidFill>
                <a:latin typeface="Malgun Gothic"/>
                <a:ea typeface="Malgun Gothic"/>
                <a:cs typeface="Malgun Gothic"/>
              </a:rPr>
              <a:t>05  협업과 운영</a:t>
            </a:r>
            <a:endParaRPr lang="ko-KR" sz="1500"/>
          </a:p>
        </p:txBody>
      </p:sp>
      <p:sp>
        <p:nvSpPr>
          <p:cNvPr id="3" name="SPOT RADAR"/>
          <p:cNvSpPr txBox="1"/>
          <p:nvPr/>
        </p:nvSpPr>
        <p:spPr>
          <a:xfrm>
            <a:off x="12649200" y="352425"/>
            <a:ext cx="1905000" cy="285750"/>
          </a:xfrm>
          <a:prstGeom prst="rect">
            <a:avLst/>
          </a:prstGeom>
          <a:noFill/>
          <a:ln>
            <a:noFill/>
          </a:ln>
        </p:spPr>
        <p:txBody>
          <a:bodyPr wrap="square" lIns="0" tIns="0" rIns="0" bIns="0" anchor="t">
            <a:noAutofit/>
          </a:bodyPr>
          <a:lstStyle/>
          <a:p>
            <a:pPr algn="r">
              <a:lnSpc>
                <a:spcPct val="120000"/>
              </a:lnSpc>
              <a:spcAft>
                <a:spcPts val="0"/>
              </a:spcAft>
            </a:pPr>
            <a:r>
              <a:rPr lang="ko-KR" sz="1500" b="1">
                <a:solidFill>
                  <a:srgbClr val="101511"/>
                </a:solidFill>
                <a:latin typeface="Malgun Gothic"/>
                <a:ea typeface="Malgun Gothic"/>
                <a:cs typeface="Malgun Gothic"/>
              </a:rPr>
              <a:t>SPOT RADAR</a:t>
            </a:r>
            <a:endParaRPr lang="ko-KR" sz="1500"/>
          </a:p>
        </p:txBody>
      </p:sp>
      <p:sp>
        <p:nvSpPr>
          <p:cNvPr id="4" name="작업 보드와 브랜치로 구현 과정 관리"/>
          <p:cNvSpPr txBox="1"/>
          <p:nvPr/>
        </p:nvSpPr>
        <p:spPr>
          <a:xfrm>
            <a:off x="685800" y="847725"/>
            <a:ext cx="13868400" cy="733425"/>
          </a:xfrm>
          <a:prstGeom prst="rect">
            <a:avLst/>
          </a:prstGeom>
          <a:noFill/>
          <a:ln>
            <a:noFill/>
          </a:ln>
        </p:spPr>
        <p:txBody>
          <a:bodyPr wrap="square" lIns="0" tIns="0" rIns="0" bIns="0" anchor="t">
            <a:noAutofit/>
          </a:bodyPr>
          <a:lstStyle/>
          <a:p>
            <a:pPr algn="l">
              <a:lnSpc>
                <a:spcPct val="120000"/>
              </a:lnSpc>
              <a:spcAft>
                <a:spcPts val="0"/>
              </a:spcAft>
            </a:pPr>
            <a:r>
              <a:rPr lang="ko-KR" sz="3600" b="1">
                <a:solidFill>
                  <a:srgbClr val="101511"/>
                </a:solidFill>
                <a:latin typeface="Malgun Gothic"/>
                <a:ea typeface="Malgun Gothic"/>
                <a:cs typeface="Malgun Gothic"/>
              </a:rPr>
              <a:t>작업 보드와 브랜치로 구현 과정 관리</a:t>
            </a:r>
            <a:endParaRPr lang="ko-KR" sz="3600"/>
          </a:p>
        </p:txBody>
      </p:sp>
      <p:sp>
        <p:nvSpPr>
          <p:cNvPr id="5" name="GitHub Projects에서 작업 상태를 공유하고, 기능 단위 PR로 개발 내용을 합칩니다."/>
          <p:cNvSpPr txBox="1"/>
          <p:nvPr/>
        </p:nvSpPr>
        <p:spPr>
          <a:xfrm>
            <a:off x="723900" y="1600200"/>
            <a:ext cx="13792200" cy="361950"/>
          </a:xfrm>
          <a:prstGeom prst="rect">
            <a:avLst/>
          </a:prstGeom>
          <a:noFill/>
          <a:ln>
            <a:noFill/>
          </a:ln>
        </p:spPr>
        <p:txBody>
          <a:bodyPr wrap="square" lIns="0" tIns="0" rIns="0" bIns="0" anchor="t">
            <a:noAutofit/>
          </a:bodyPr>
          <a:lstStyle/>
          <a:p>
            <a:pPr algn="l">
              <a:lnSpc>
                <a:spcPct val="120000"/>
              </a:lnSpc>
              <a:spcAft>
                <a:spcPts val="0"/>
              </a:spcAft>
            </a:pPr>
            <a:r>
              <a:rPr lang="ko-KR" sz="1650" b="0">
                <a:solidFill>
                  <a:srgbClr val="66716B"/>
                </a:solidFill>
                <a:latin typeface="Malgun Gothic"/>
                <a:ea typeface="Malgun Gothic"/>
                <a:cs typeface="Malgun Gothic"/>
              </a:rPr>
              <a:t>GitHub Projects에서 작업 상태를 공유하고, 기능 단위 PR로 개발 내용을 합칩니다.</a:t>
            </a:r>
            <a:endParaRPr lang="ko-KR" sz="1650"/>
          </a:p>
        </p:txBody>
      </p:sp>
      <p:pic>
        <p:nvPicPr>
          <p:cNvPr id="6" name="준비자료/깃_태스크_관리.png" descr="준비자료/깃_태스크_관리.png"/>
          <p:cNvPicPr>
            <a:picLocks noChangeAspect="1"/>
          </p:cNvPicPr>
          <p:nvPr/>
        </p:nvPicPr>
        <p:blipFill>
          <a:blip r:embed="rId3"/>
          <a:srcRect/>
          <a:stretch>
            <a:fillRect/>
          </a:stretch>
        </p:blipFill>
        <p:spPr>
          <a:xfrm>
            <a:off x="714375" y="2419350"/>
            <a:ext cx="9039225" cy="5225897"/>
          </a:xfrm>
          <a:prstGeom prst="rect">
            <a:avLst/>
          </a:prstGeom>
          <a:ln>
            <a:noFill/>
          </a:ln>
        </p:spPr>
      </p:pic>
      <p:sp>
        <p:nvSpPr>
          <p:cNvPr id="7" name="브랜치 흐름"/>
          <p:cNvSpPr txBox="1"/>
          <p:nvPr/>
        </p:nvSpPr>
        <p:spPr>
          <a:xfrm>
            <a:off x="10287000" y="2447925"/>
            <a:ext cx="4229100" cy="466725"/>
          </a:xfrm>
          <a:prstGeom prst="rect">
            <a:avLst/>
          </a:prstGeom>
          <a:noFill/>
          <a:ln>
            <a:noFill/>
          </a:ln>
        </p:spPr>
        <p:txBody>
          <a:bodyPr wrap="square" lIns="0" tIns="0" rIns="0" bIns="0" anchor="t">
            <a:noAutofit/>
          </a:bodyPr>
          <a:lstStyle/>
          <a:p>
            <a:pPr algn="l">
              <a:lnSpc>
                <a:spcPct val="120000"/>
              </a:lnSpc>
              <a:spcAft>
                <a:spcPts val="0"/>
              </a:spcAft>
            </a:pPr>
            <a:r>
              <a:rPr lang="ko-KR" sz="2475" b="1">
                <a:solidFill>
                  <a:srgbClr val="101511"/>
                </a:solidFill>
                <a:latin typeface="Malgun Gothic"/>
                <a:ea typeface="Malgun Gothic"/>
                <a:cs typeface="Malgun Gothic"/>
              </a:rPr>
              <a:t>브랜치 흐름</a:t>
            </a:r>
            <a:endParaRPr lang="ko-KR" sz="2475"/>
          </a:p>
        </p:txBody>
      </p:sp>
      <p:sp>
        <p:nvSpPr>
          <p:cNvPr id="8" name="feature → PR → dev"/>
          <p:cNvSpPr txBox="1"/>
          <p:nvPr/>
        </p:nvSpPr>
        <p:spPr>
          <a:xfrm>
            <a:off x="10287000" y="3143250"/>
            <a:ext cx="4229100" cy="485775"/>
          </a:xfrm>
          <a:prstGeom prst="rect">
            <a:avLst/>
          </a:prstGeom>
          <a:noFill/>
          <a:ln>
            <a:noFill/>
          </a:ln>
        </p:spPr>
        <p:txBody>
          <a:bodyPr wrap="square" lIns="0" tIns="0" rIns="0" bIns="0" anchor="t">
            <a:noAutofit/>
          </a:bodyPr>
          <a:lstStyle/>
          <a:p>
            <a:pPr algn="l">
              <a:lnSpc>
                <a:spcPct val="120000"/>
              </a:lnSpc>
              <a:spcAft>
                <a:spcPts val="0"/>
              </a:spcAft>
            </a:pPr>
            <a:r>
              <a:rPr lang="ko-KR" sz="2250" b="1">
                <a:solidFill>
                  <a:srgbClr val="101511"/>
                </a:solidFill>
                <a:latin typeface="Malgun Gothic"/>
                <a:ea typeface="Malgun Gothic"/>
                <a:cs typeface="Malgun Gothic"/>
              </a:rPr>
              <a:t>feature → PR → dev</a:t>
            </a:r>
            <a:endParaRPr lang="ko-KR" sz="2250"/>
          </a:p>
        </p:txBody>
      </p:sp>
      <p:sp>
        <p:nvSpPr>
          <p:cNvPr id="9" name="이슈 단위 개발과 리뷰 개발 브랜치에 통합"/>
          <p:cNvSpPr txBox="1"/>
          <p:nvPr/>
        </p:nvSpPr>
        <p:spPr>
          <a:xfrm>
            <a:off x="10287000" y="3819525"/>
            <a:ext cx="4229100" cy="981075"/>
          </a:xfrm>
          <a:prstGeom prst="rect">
            <a:avLst/>
          </a:prstGeom>
          <a:noFill/>
          <a:ln>
            <a:noFill/>
          </a:ln>
        </p:spPr>
        <p:txBody>
          <a:bodyPr wrap="square" lIns="0" tIns="0" rIns="0" bIns="0" anchor="t">
            <a:noAutofit/>
          </a:bodyPr>
          <a:lstStyle/>
          <a:p>
            <a:pPr algn="l">
              <a:lnSpc>
                <a:spcPct val="120000"/>
              </a:lnSpc>
              <a:spcAft>
                <a:spcPts val="0"/>
              </a:spcAft>
            </a:pPr>
            <a:r>
              <a:rPr lang="ko-KR" sz="2025" b="0">
                <a:solidFill>
                  <a:srgbClr val="101511"/>
                </a:solidFill>
                <a:latin typeface="Malgun Gothic"/>
                <a:ea typeface="Malgun Gothic"/>
                <a:cs typeface="Malgun Gothic"/>
              </a:rPr>
              <a:t>이슈 단위 개발과 리뷰</a:t>
            </a:r>
            <a:endParaRPr lang="ko-KR" sz="2025"/>
          </a:p>
          <a:p>
            <a:pPr algn="l">
              <a:lnSpc>
                <a:spcPct val="120000"/>
              </a:lnSpc>
              <a:spcAft>
                <a:spcPts val="0"/>
              </a:spcAft>
            </a:pPr>
            <a:r>
              <a:rPr lang="ko-KR" sz="2025" b="0">
                <a:solidFill>
                  <a:srgbClr val="101511"/>
                </a:solidFill>
                <a:latin typeface="Malgun Gothic"/>
                <a:ea typeface="Malgun Gothic"/>
                <a:cs typeface="Malgun Gothic"/>
              </a:rPr>
              <a:t>개발 브랜치에 통합</a:t>
            </a:r>
            <a:endParaRPr lang="ko-KR" sz="2025"/>
          </a:p>
        </p:txBody>
      </p:sp>
      <p:sp>
        <p:nvSpPr>
          <p:cNvPr id="10" name="Panel 10"/>
          <p:cNvSpPr/>
          <p:nvPr/>
        </p:nvSpPr>
        <p:spPr>
          <a:xfrm>
            <a:off x="10287000" y="5095875"/>
            <a:ext cx="4229100" cy="14288"/>
          </a:xfrm>
          <a:prstGeom prst="rect">
            <a:avLst/>
          </a:prstGeom>
          <a:solidFill>
            <a:srgbClr val="101511"/>
          </a:solidFill>
          <a:ln w="0">
            <a:noFill/>
          </a:ln>
        </p:spPr>
      </p:sp>
      <p:sp>
        <p:nvSpPr>
          <p:cNvPr id="11" name="main → 배포 시연"/>
          <p:cNvSpPr txBox="1"/>
          <p:nvPr/>
        </p:nvSpPr>
        <p:spPr>
          <a:xfrm>
            <a:off x="10287000" y="5448300"/>
            <a:ext cx="4229100" cy="485775"/>
          </a:xfrm>
          <a:prstGeom prst="rect">
            <a:avLst/>
          </a:prstGeom>
          <a:noFill/>
          <a:ln>
            <a:noFill/>
          </a:ln>
        </p:spPr>
        <p:txBody>
          <a:bodyPr wrap="square" lIns="0" tIns="0" rIns="0" bIns="0" anchor="t">
            <a:noAutofit/>
          </a:bodyPr>
          <a:lstStyle/>
          <a:p>
            <a:pPr algn="l">
              <a:lnSpc>
                <a:spcPct val="120000"/>
              </a:lnSpc>
              <a:spcAft>
                <a:spcPts val="0"/>
              </a:spcAft>
            </a:pPr>
            <a:r>
              <a:rPr lang="ko-KR" sz="2250" b="1" dirty="0" err="1">
                <a:solidFill>
                  <a:srgbClr val="101511"/>
                </a:solidFill>
                <a:latin typeface="Malgun Gothic"/>
                <a:ea typeface="Malgun Gothic"/>
                <a:cs typeface="Malgun Gothic"/>
              </a:rPr>
              <a:t>main에</a:t>
            </a:r>
            <a:r>
              <a:rPr lang="ko-KR" sz="2250" b="1" dirty="0">
                <a:solidFill>
                  <a:srgbClr val="101511"/>
                </a:solidFill>
                <a:latin typeface="Malgun Gothic"/>
                <a:ea typeface="Malgun Gothic"/>
                <a:cs typeface="Malgun Gothic"/>
              </a:rPr>
              <a:t> 통합 후 배포</a:t>
            </a:r>
            <a:endParaRPr lang="ko-KR" dirty="0"/>
          </a:p>
        </p:txBody>
      </p:sp>
      <p:sp>
        <p:nvSpPr>
          <p:cNvPr id="12" name="현재 release·hotfix는 미사용">
            <a:hlinkClick r:id="rId4"/>
          </p:cNvPr>
          <p:cNvSpPr txBox="1"/>
          <p:nvPr/>
        </p:nvSpPr>
        <p:spPr>
          <a:xfrm>
            <a:off x="10287000" y="6410325"/>
            <a:ext cx="4238625" cy="1357312"/>
          </a:xfrm>
          <a:prstGeom prst="rect">
            <a:avLst/>
          </a:prstGeom>
          <a:noFill/>
          <a:ln>
            <a:noFill/>
          </a:ln>
        </p:spPr>
        <p:txBody>
          <a:bodyPr wrap="square" lIns="0" tIns="0" rIns="0" bIns="0" anchor="t">
            <a:noAutofit/>
          </a:bodyPr>
          <a:lstStyle/>
          <a:p>
            <a:pPr algn="l">
              <a:lnSpc>
                <a:spcPct val="120000"/>
              </a:lnSpc>
              <a:spcAft>
                <a:spcPts val="0"/>
              </a:spcAft>
            </a:pPr>
            <a:r>
              <a:rPr lang="ko-KR" sz="2400" b="1" dirty="0" err="1">
                <a:solidFill>
                  <a:schemeClr val="tx1"/>
                </a:solidFill>
                <a:latin typeface="Malgun Gothic"/>
                <a:ea typeface="Malgun Gothic"/>
                <a:cs typeface="Malgun Gothic"/>
              </a:rPr>
              <a:t>Wiki에</a:t>
            </a:r>
            <a:r>
              <a:rPr lang="ko-KR" sz="2400" b="1" dirty="0">
                <a:solidFill>
                  <a:schemeClr val="tx1"/>
                </a:solidFill>
                <a:latin typeface="Malgun Gothic"/>
                <a:ea typeface="Malgun Gothic"/>
                <a:cs typeface="Malgun Gothic"/>
              </a:rPr>
              <a:t> </a:t>
            </a:r>
            <a:r>
              <a:rPr lang="ko-KR" altLang="en-US" sz="2400" b="1" dirty="0">
                <a:solidFill>
                  <a:schemeClr val="tx1"/>
                </a:solidFill>
                <a:latin typeface="Malgun Gothic"/>
                <a:ea typeface="Malgun Gothic"/>
                <a:cs typeface="Malgun Gothic"/>
              </a:rPr>
              <a:t>프로젝트 진행 내용</a:t>
            </a:r>
            <a:r>
              <a:rPr lang="ko-KR" sz="2400" b="1" dirty="0">
                <a:solidFill>
                  <a:schemeClr val="tx1"/>
                </a:solidFill>
                <a:latin typeface="Malgun Gothic"/>
                <a:ea typeface="Malgun Gothic"/>
                <a:cs typeface="Malgun Gothic"/>
              </a:rPr>
              <a:t> 기록</a:t>
            </a:r>
            <a:r>
              <a:rPr lang="ko-KR" altLang="en-US" sz="2400" b="1" dirty="0">
                <a:solidFill>
                  <a:schemeClr val="tx1"/>
                </a:solidFill>
                <a:latin typeface="Malgun Gothic"/>
                <a:ea typeface="Malgun Gothic"/>
                <a:cs typeface="Malgun Gothic"/>
              </a:rPr>
              <a:t> 확인</a:t>
            </a:r>
            <a:endParaRPr lang="en-US" altLang="ko-KR" sz="2400" b="1" dirty="0">
              <a:solidFill>
                <a:schemeClr val="tx1"/>
              </a:solidFill>
              <a:latin typeface="Malgun Gothic"/>
              <a:ea typeface="Malgun Gothic"/>
              <a:cs typeface="Malgun Gothic"/>
            </a:endParaRPr>
          </a:p>
          <a:p>
            <a:pPr algn="l">
              <a:lnSpc>
                <a:spcPct val="120000"/>
              </a:lnSpc>
              <a:spcAft>
                <a:spcPts val="0"/>
              </a:spcAft>
            </a:pPr>
            <a:r>
              <a:rPr lang="en-US" altLang="ko-KR" sz="2400" b="1" dirty="0">
                <a:solidFill>
                  <a:schemeClr val="tx1"/>
                </a:solidFill>
                <a:latin typeface="Malgun Gothic"/>
                <a:ea typeface="Malgun Gothic"/>
                <a:cs typeface="Malgun Gothic"/>
              </a:rPr>
              <a:t>(</a:t>
            </a:r>
            <a:r>
              <a:rPr lang="ko-KR" altLang="en-US" sz="2400" b="1" dirty="0">
                <a:solidFill>
                  <a:schemeClr val="tx1"/>
                </a:solidFill>
                <a:latin typeface="Malgun Gothic"/>
                <a:ea typeface="Malgun Gothic"/>
                <a:cs typeface="Malgun Gothic"/>
              </a:rPr>
              <a:t>링크 이동</a:t>
            </a:r>
            <a:r>
              <a:rPr lang="en-US" altLang="ko-KR" sz="2400" b="1" dirty="0">
                <a:solidFill>
                  <a:schemeClr val="tx1"/>
                </a:solidFill>
                <a:latin typeface="Malgun Gothic"/>
                <a:ea typeface="Malgun Gothic"/>
                <a:cs typeface="Malgun Gothic"/>
              </a:rPr>
              <a:t>:</a:t>
            </a:r>
            <a:r>
              <a:rPr lang="ko-KR" altLang="en-US" sz="2400" b="1" dirty="0">
                <a:solidFill>
                  <a:schemeClr val="tx1"/>
                </a:solidFill>
                <a:latin typeface="Malgun Gothic"/>
                <a:ea typeface="Malgun Gothic"/>
                <a:cs typeface="Malgun Gothic"/>
              </a:rPr>
              <a:t> 트러블 슈팅 항목</a:t>
            </a:r>
            <a:r>
              <a:rPr lang="en-US" altLang="ko-KR" sz="2400" b="1" dirty="0">
                <a:solidFill>
                  <a:schemeClr val="tx1"/>
                </a:solidFill>
                <a:latin typeface="Malgun Gothic"/>
                <a:ea typeface="Malgun Gothic"/>
                <a:cs typeface="Malgun Gothic"/>
              </a:rPr>
              <a:t>)</a:t>
            </a:r>
            <a:endParaRPr lang="ko-KR" sz="2400" b="1" dirty="0">
              <a:solidFill>
                <a:schemeClr val="tx1"/>
              </a:solidFill>
            </a:endParaRPr>
          </a:p>
        </p:txBody>
      </p:sp>
      <p:sp>
        <p:nvSpPr>
          <p:cNvPr id="13" name="Panel 13"/>
          <p:cNvSpPr/>
          <p:nvPr/>
        </p:nvSpPr>
        <p:spPr>
          <a:xfrm>
            <a:off x="685800" y="8077200"/>
            <a:ext cx="13868400" cy="14288"/>
          </a:xfrm>
          <a:prstGeom prst="rect">
            <a:avLst/>
          </a:prstGeom>
          <a:solidFill>
            <a:srgbClr val="CCD0C7"/>
          </a:solidFill>
          <a:ln w="0">
            <a:noFill/>
          </a:ln>
        </p:spPr>
      </p:sp>
      <p:sp>
        <p:nvSpPr>
          <p:cNvPr id="14" name="또바기  /  AX 풀스택 프로젝트 2차 발표"/>
          <p:cNvSpPr txBox="1"/>
          <p:nvPr/>
        </p:nvSpPr>
        <p:spPr>
          <a:xfrm>
            <a:off x="685800" y="8210550"/>
            <a:ext cx="9334500" cy="228600"/>
          </a:xfrm>
          <a:prstGeom prst="rect">
            <a:avLst/>
          </a:prstGeom>
          <a:noFill/>
          <a:ln>
            <a:noFill/>
          </a:ln>
        </p:spPr>
        <p:txBody>
          <a:bodyPr wrap="square" lIns="0" tIns="0" rIns="0" bIns="0" anchor="t">
            <a:noAutofit/>
          </a:bodyPr>
          <a:lstStyle/>
          <a:p>
            <a:pPr algn="l">
              <a:lnSpc>
                <a:spcPct val="120000"/>
              </a:lnSpc>
              <a:spcAft>
                <a:spcPts val="0"/>
              </a:spcAft>
            </a:pPr>
            <a:r>
              <a:rPr lang="ko-KR" sz="1200" b="0">
                <a:solidFill>
                  <a:srgbClr val="66716B"/>
                </a:solidFill>
                <a:latin typeface="Malgun Gothic"/>
                <a:ea typeface="Malgun Gothic"/>
                <a:cs typeface="Malgun Gothic"/>
              </a:rPr>
              <a:t>또바기  /  AX 풀스택 프로젝트 최종발표</a:t>
            </a:r>
            <a:endParaRPr lang="ko-KR" sz="1200"/>
          </a:p>
        </p:txBody>
      </p:sp>
      <p:sp>
        <p:nvSpPr>
          <p:cNvPr id="15" name="14"/>
          <p:cNvSpPr txBox="1"/>
          <p:nvPr/>
        </p:nvSpPr>
        <p:spPr>
          <a:xfrm>
            <a:off x="13811250" y="8162925"/>
            <a:ext cx="742950" cy="304800"/>
          </a:xfrm>
          <a:prstGeom prst="rect">
            <a:avLst/>
          </a:prstGeom>
          <a:noFill/>
          <a:ln>
            <a:noFill/>
          </a:ln>
        </p:spPr>
        <p:txBody>
          <a:bodyPr wrap="square" lIns="0" tIns="0" rIns="0" bIns="0" anchor="t">
            <a:noAutofit/>
          </a:bodyPr>
          <a:lstStyle/>
          <a:p>
            <a:pPr algn="r">
              <a:lnSpc>
                <a:spcPct val="120000"/>
              </a:lnSpc>
              <a:spcAft>
                <a:spcPts val="0"/>
              </a:spcAft>
            </a:pPr>
            <a:r>
              <a:rPr lang="ko-KR" sz="1725" b="1">
                <a:solidFill>
                  <a:srgbClr val="101511"/>
                </a:solidFill>
                <a:latin typeface="Malgun Gothic"/>
                <a:ea typeface="Malgun Gothic"/>
                <a:cs typeface="Malgun Gothic"/>
              </a:rPr>
              <a:t>42</a:t>
            </a:r>
            <a:endParaRPr lang="ko-KR" sz="1725"/>
          </a:p>
        </p:txBody>
      </p:sp>
      <p:sp>
        <p:nvSpPr>
          <p:cNvPr id="16" name="Panel 10">
            <a:extLst>
              <a:ext uri="{FF2B5EF4-FFF2-40B4-BE49-F238E27FC236}">
                <a16:creationId xmlns:a16="http://schemas.microsoft.com/office/drawing/2014/main" id="{99F46C8A-0B96-A34B-A809-9B8262A39F32}"/>
              </a:ext>
            </a:extLst>
          </p:cNvPr>
          <p:cNvSpPr/>
          <p:nvPr/>
        </p:nvSpPr>
        <p:spPr>
          <a:xfrm>
            <a:off x="10210800" y="6015037"/>
            <a:ext cx="4229100" cy="14288"/>
          </a:xfrm>
          <a:prstGeom prst="rect">
            <a:avLst/>
          </a:prstGeom>
          <a:solidFill>
            <a:srgbClr val="101511"/>
          </a:solidFill>
          <a:ln w="0">
            <a:no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2338"/>
        </a:solidFill>
        <a:effectLst/>
      </p:bgPr>
    </p:bg>
    <p:spTree>
      <p:nvGrpSpPr>
        <p:cNvPr id="1" name=""/>
        <p:cNvGrpSpPr/>
        <p:nvPr/>
      </p:nvGrpSpPr>
      <p:grpSpPr>
        <a:xfrm>
          <a:off x="0" y="0"/>
          <a:ext cx="0" cy="0"/>
          <a:chOff x="0" y="0"/>
          <a:chExt cx="0" cy="0"/>
        </a:xfrm>
      </p:grpSpPr>
      <p:sp>
        <p:nvSpPr>
          <p:cNvPr id="2" name="SPOT RADAR"/>
          <p:cNvSpPr txBox="1"/>
          <p:nvPr/>
        </p:nvSpPr>
        <p:spPr>
          <a:xfrm>
            <a:off x="742950" y="514350"/>
            <a:ext cx="9906000" cy="409575"/>
          </a:xfrm>
          <a:prstGeom prst="rect">
            <a:avLst/>
          </a:prstGeom>
          <a:noFill/>
          <a:ln>
            <a:noFill/>
          </a:ln>
        </p:spPr>
        <p:txBody>
          <a:bodyPr wrap="square" lIns="0" tIns="0" rIns="0" bIns="0" anchor="t">
            <a:noAutofit/>
          </a:bodyPr>
          <a:lstStyle/>
          <a:p>
            <a:pPr algn="l">
              <a:lnSpc>
                <a:spcPct val="120000"/>
              </a:lnSpc>
              <a:spcAft>
                <a:spcPts val="0"/>
              </a:spcAft>
            </a:pPr>
            <a:r>
              <a:rPr lang="ko-KR" sz="2175" b="1">
                <a:solidFill>
                  <a:srgbClr val="F8F7F2"/>
                </a:solidFill>
                <a:latin typeface="Malgun Gothic"/>
                <a:ea typeface="Malgun Gothic"/>
                <a:cs typeface="Malgun Gothic"/>
              </a:rPr>
              <a:t>SPOT RADAR</a:t>
            </a:r>
            <a:endParaRPr lang="ko-KR" sz="2175"/>
          </a:p>
        </p:txBody>
      </p:sp>
      <p:sp>
        <p:nvSpPr>
          <p:cNvPr id="3" name="또바기 팀  /  2차 발표"/>
          <p:cNvSpPr txBox="1"/>
          <p:nvPr/>
        </p:nvSpPr>
        <p:spPr>
          <a:xfrm>
            <a:off x="10477500" y="552450"/>
            <a:ext cx="4029075" cy="333375"/>
          </a:xfrm>
          <a:prstGeom prst="rect">
            <a:avLst/>
          </a:prstGeom>
          <a:noFill/>
          <a:ln>
            <a:noFill/>
          </a:ln>
        </p:spPr>
        <p:txBody>
          <a:bodyPr wrap="square" lIns="0" tIns="0" rIns="0" bIns="0" anchor="t">
            <a:noAutofit/>
          </a:bodyPr>
          <a:lstStyle/>
          <a:p>
            <a:pPr algn="r">
              <a:lnSpc>
                <a:spcPct val="120000"/>
              </a:lnSpc>
              <a:spcAft>
                <a:spcPts val="0"/>
              </a:spcAft>
            </a:pPr>
            <a:r>
              <a:rPr lang="ko-KR" sz="1575" b="0">
                <a:solidFill>
                  <a:srgbClr val="A8BBC9"/>
                </a:solidFill>
                <a:latin typeface="Malgun Gothic"/>
                <a:ea typeface="Malgun Gothic"/>
                <a:cs typeface="Malgun Gothic"/>
              </a:rPr>
              <a:t>또바기 팀  /  최종발표</a:t>
            </a:r>
            <a:endParaRPr lang="ko-KR" sz="1575"/>
          </a:p>
        </p:txBody>
      </p:sp>
      <p:sp>
        <p:nvSpPr>
          <p:cNvPr id="4" name="Panel 4"/>
          <p:cNvSpPr/>
          <p:nvPr/>
        </p:nvSpPr>
        <p:spPr>
          <a:xfrm>
            <a:off x="742950" y="1152525"/>
            <a:ext cx="13773150" cy="14288"/>
          </a:xfrm>
          <a:prstGeom prst="rect">
            <a:avLst/>
          </a:prstGeom>
          <a:solidFill>
            <a:srgbClr val="405B70"/>
          </a:solidFill>
          <a:ln w="0">
            <a:noFill/>
          </a:ln>
        </p:spPr>
      </p:sp>
      <p:sp>
        <p:nvSpPr>
          <p:cNvPr id="5" name="Q&amp;A"/>
          <p:cNvSpPr txBox="1"/>
          <p:nvPr/>
        </p:nvSpPr>
        <p:spPr>
          <a:xfrm>
            <a:off x="647700" y="1857375"/>
            <a:ext cx="8715375" cy="2143125"/>
          </a:xfrm>
          <a:prstGeom prst="rect">
            <a:avLst/>
          </a:prstGeom>
          <a:noFill/>
          <a:ln>
            <a:noFill/>
          </a:ln>
        </p:spPr>
        <p:txBody>
          <a:bodyPr wrap="square" lIns="0" tIns="0" rIns="0" bIns="0" anchor="t">
            <a:noAutofit/>
          </a:bodyPr>
          <a:lstStyle/>
          <a:p>
            <a:pPr algn="l">
              <a:lnSpc>
                <a:spcPct val="120000"/>
              </a:lnSpc>
              <a:spcAft>
                <a:spcPts val="0"/>
              </a:spcAft>
            </a:pPr>
            <a:r>
              <a:rPr lang="ko-KR" sz="11700" b="1">
                <a:solidFill>
                  <a:srgbClr val="8AD8EF"/>
                </a:solidFill>
                <a:latin typeface="Malgun Gothic"/>
                <a:ea typeface="Malgun Gothic"/>
                <a:cs typeface="Malgun Gothic"/>
              </a:rPr>
              <a:t>Q&amp;A</a:t>
            </a:r>
            <a:endParaRPr lang="ko-KR" sz="11700"/>
          </a:p>
        </p:txBody>
      </p:sp>
      <p:sp>
        <p:nvSpPr>
          <p:cNvPr id="6" name="현장에 갈 후보를 좁히고, 판단의 근거를 보여줍니다."/>
          <p:cNvSpPr txBox="1"/>
          <p:nvPr/>
        </p:nvSpPr>
        <p:spPr>
          <a:xfrm>
            <a:off x="762000" y="4781550"/>
            <a:ext cx="8429625" cy="1562100"/>
          </a:xfrm>
          <a:prstGeom prst="rect">
            <a:avLst/>
          </a:prstGeom>
          <a:noFill/>
          <a:ln>
            <a:noFill/>
          </a:ln>
        </p:spPr>
        <p:txBody>
          <a:bodyPr wrap="square" lIns="0" tIns="0" rIns="0" bIns="0" anchor="t">
            <a:noAutofit/>
          </a:bodyPr>
          <a:lstStyle/>
          <a:p>
            <a:pPr algn="l">
              <a:lnSpc>
                <a:spcPct val="130000"/>
              </a:lnSpc>
              <a:spcAft>
                <a:spcPts val="0"/>
              </a:spcAft>
            </a:pPr>
            <a:r>
              <a:rPr lang="ko-KR" sz="3375" b="1">
                <a:solidFill>
                  <a:srgbClr val="F8F7F2"/>
                </a:solidFill>
                <a:latin typeface="Malgun Gothic"/>
                <a:ea typeface="Malgun Gothic"/>
                <a:cs typeface="Malgun Gothic"/>
              </a:rPr>
              <a:t>현장에 갈 후보를 좁히고,</a:t>
            </a:r>
            <a:endParaRPr lang="ko-KR" sz="3375"/>
          </a:p>
          <a:p>
            <a:pPr algn="l">
              <a:lnSpc>
                <a:spcPct val="130000"/>
              </a:lnSpc>
              <a:spcAft>
                <a:spcPts val="0"/>
              </a:spcAft>
            </a:pPr>
            <a:r>
              <a:rPr lang="ko-KR" sz="3375" b="1">
                <a:solidFill>
                  <a:srgbClr val="F8F7F2"/>
                </a:solidFill>
                <a:latin typeface="Malgun Gothic"/>
                <a:ea typeface="Malgun Gothic"/>
                <a:cs typeface="Malgun Gothic"/>
              </a:rPr>
              <a:t>판단의 근거를 보여줍니다.</a:t>
            </a:r>
            <a:endParaRPr lang="ko-KR" sz="3375"/>
          </a:p>
        </p:txBody>
      </p:sp>
      <p:pic>
        <p:nvPicPr>
          <p:cNvPr id="7" name="/Users/siungryu/Downloads/로고_팀로고.webp" descr="또바기 팀 로고 · 원형 바깥 배경 투명"/>
          <p:cNvPicPr>
            <a:picLocks noChangeAspect="1"/>
          </p:cNvPicPr>
          <p:nvPr/>
        </p:nvPicPr>
        <p:blipFill>
          <a:blip r:embed="rId3"/>
          <a:srcRect/>
          <a:stretch>
            <a:fillRect/>
          </a:stretch>
        </p:blipFill>
        <p:spPr>
          <a:xfrm>
            <a:off x="10706100" y="2000250"/>
            <a:ext cx="3238500" cy="3238500"/>
          </a:xfrm>
          <a:prstGeom prst="rect">
            <a:avLst/>
          </a:prstGeom>
          <a:ln>
            <a:noFill/>
          </a:ln>
        </p:spPr>
      </p:pic>
      <p:sp>
        <p:nvSpPr>
          <p:cNvPr id="8" name="또바기"/>
          <p:cNvSpPr txBox="1"/>
          <p:nvPr/>
        </p:nvSpPr>
        <p:spPr>
          <a:xfrm>
            <a:off x="10229850" y="5476875"/>
            <a:ext cx="4191000" cy="552450"/>
          </a:xfrm>
          <a:prstGeom prst="rect">
            <a:avLst/>
          </a:prstGeom>
          <a:noFill/>
          <a:ln>
            <a:noFill/>
          </a:ln>
        </p:spPr>
        <p:txBody>
          <a:bodyPr wrap="square" lIns="0" tIns="0" rIns="0" bIns="0" anchor="t">
            <a:noAutofit/>
          </a:bodyPr>
          <a:lstStyle/>
          <a:p>
            <a:pPr algn="l">
              <a:lnSpc>
                <a:spcPct val="120000"/>
              </a:lnSpc>
              <a:spcAft>
                <a:spcPts val="0"/>
              </a:spcAft>
            </a:pPr>
            <a:r>
              <a:rPr lang="ko-KR" sz="2850" b="1">
                <a:solidFill>
                  <a:srgbClr val="F8F7F2"/>
                </a:solidFill>
                <a:latin typeface="Malgun Gothic"/>
                <a:ea typeface="Malgun Gothic"/>
                <a:cs typeface="Malgun Gothic"/>
              </a:rPr>
              <a:t>또바기</a:t>
            </a:r>
            <a:endParaRPr lang="ko-KR" sz="2850"/>
          </a:p>
        </p:txBody>
      </p:sp>
      <p:sp>
        <p:nvSpPr>
          <p:cNvPr id="9" name="언제나 한결같이"/>
          <p:cNvSpPr txBox="1"/>
          <p:nvPr/>
        </p:nvSpPr>
        <p:spPr>
          <a:xfrm>
            <a:off x="10229850" y="6115050"/>
            <a:ext cx="4238625" cy="400050"/>
          </a:xfrm>
          <a:prstGeom prst="rect">
            <a:avLst/>
          </a:prstGeom>
          <a:noFill/>
          <a:ln>
            <a:noFill/>
          </a:ln>
        </p:spPr>
        <p:txBody>
          <a:bodyPr wrap="square" lIns="0" tIns="0" rIns="0" bIns="0" anchor="t">
            <a:noAutofit/>
          </a:bodyPr>
          <a:lstStyle/>
          <a:p>
            <a:pPr algn="l">
              <a:lnSpc>
                <a:spcPct val="120000"/>
              </a:lnSpc>
              <a:spcAft>
                <a:spcPts val="0"/>
              </a:spcAft>
            </a:pPr>
            <a:r>
              <a:rPr lang="ko-KR" sz="2025" b="0">
                <a:solidFill>
                  <a:srgbClr val="9BD0AB"/>
                </a:solidFill>
                <a:latin typeface="Malgun Gothic"/>
                <a:ea typeface="Malgun Gothic"/>
                <a:cs typeface="Malgun Gothic"/>
              </a:rPr>
              <a:t>언제나 한결같이</a:t>
            </a:r>
            <a:endParaRPr lang="ko-KR" sz="2025"/>
          </a:p>
        </p:txBody>
      </p:sp>
      <p:sp>
        <p:nvSpPr>
          <p:cNvPr id="10" name="성실함과 열정으로 프로젝트를 마무리하겠습니다."/>
          <p:cNvSpPr txBox="1"/>
          <p:nvPr/>
        </p:nvSpPr>
        <p:spPr>
          <a:xfrm>
            <a:off x="10229850" y="6677025"/>
            <a:ext cx="4238625" cy="876300"/>
          </a:xfrm>
          <a:prstGeom prst="rect">
            <a:avLst/>
          </a:prstGeom>
          <a:noFill/>
          <a:ln>
            <a:noFill/>
          </a:ln>
        </p:spPr>
        <p:txBody>
          <a:bodyPr wrap="square" lIns="0" tIns="0" rIns="0" bIns="0" anchor="t">
            <a:noAutofit/>
          </a:bodyPr>
          <a:lstStyle/>
          <a:p>
            <a:pPr algn="l">
              <a:lnSpc>
                <a:spcPct val="120000"/>
              </a:lnSpc>
              <a:spcAft>
                <a:spcPts val="0"/>
              </a:spcAft>
            </a:pPr>
            <a:r>
              <a:rPr lang="ko-KR" sz="1800" b="0">
                <a:solidFill>
                  <a:srgbClr val="C5D4DC"/>
                </a:solidFill>
                <a:latin typeface="Malgun Gothic"/>
                <a:ea typeface="Malgun Gothic"/>
                <a:cs typeface="Malgun Gothic"/>
              </a:rPr>
              <a:t>성실함과 열정으로</a:t>
            </a:r>
            <a:endParaRPr lang="ko-KR"/>
          </a:p>
          <a:p>
            <a:pPr algn="l">
              <a:lnSpc>
                <a:spcPct val="120000"/>
              </a:lnSpc>
              <a:spcAft>
                <a:spcPts val="0"/>
              </a:spcAft>
            </a:pPr>
            <a:r>
              <a:rPr lang="ko-KR" sz="1800" b="0">
                <a:solidFill>
                  <a:srgbClr val="C5D4DC"/>
                </a:solidFill>
                <a:latin typeface="Malgun Gothic"/>
                <a:ea typeface="Malgun Gothic"/>
                <a:cs typeface="Malgun Gothic"/>
              </a:rPr>
              <a:t>함께 만들고 개선했습니다.</a:t>
            </a:r>
            <a:endParaRPr lang="ko-KR"/>
          </a:p>
        </p:txBody>
      </p:sp>
      <p:sp>
        <p:nvSpPr>
          <p:cNvPr id="11" name="감사합니다"/>
          <p:cNvSpPr txBox="1"/>
          <p:nvPr/>
        </p:nvSpPr>
        <p:spPr>
          <a:xfrm>
            <a:off x="762000" y="7629525"/>
            <a:ext cx="8572500" cy="457200"/>
          </a:xfrm>
          <a:prstGeom prst="rect">
            <a:avLst/>
          </a:prstGeom>
          <a:noFill/>
          <a:ln>
            <a:noFill/>
          </a:ln>
        </p:spPr>
        <p:txBody>
          <a:bodyPr wrap="square" lIns="0" tIns="0" rIns="0" bIns="0" anchor="t">
            <a:noAutofit/>
          </a:bodyPr>
          <a:lstStyle/>
          <a:p>
            <a:pPr algn="l">
              <a:lnSpc>
                <a:spcPct val="120000"/>
              </a:lnSpc>
              <a:spcAft>
                <a:spcPts val="0"/>
              </a:spcAft>
            </a:pPr>
            <a:r>
              <a:rPr lang="ko-KR" sz="2175" b="0">
                <a:solidFill>
                  <a:srgbClr val="F8F7F2"/>
                </a:solidFill>
                <a:latin typeface="Malgun Gothic"/>
                <a:ea typeface="Malgun Gothic"/>
                <a:cs typeface="Malgun Gothic"/>
              </a:rPr>
              <a:t>감사합니다</a:t>
            </a:r>
            <a:endParaRPr lang="ko-KR" sz="2175"/>
          </a:p>
        </p:txBody>
      </p:sp>
      <p:sp>
        <p:nvSpPr>
          <p:cNvPr id="12" name="16"/>
          <p:cNvSpPr txBox="1"/>
          <p:nvPr/>
        </p:nvSpPr>
        <p:spPr>
          <a:xfrm>
            <a:off x="13639800" y="7658100"/>
            <a:ext cx="904875" cy="381000"/>
          </a:xfrm>
          <a:prstGeom prst="rect">
            <a:avLst/>
          </a:prstGeom>
          <a:noFill/>
          <a:ln>
            <a:noFill/>
          </a:ln>
        </p:spPr>
        <p:txBody>
          <a:bodyPr wrap="square" lIns="0" tIns="0" rIns="0" bIns="0" anchor="t">
            <a:noAutofit/>
          </a:bodyPr>
          <a:lstStyle/>
          <a:p>
            <a:pPr algn="r">
              <a:lnSpc>
                <a:spcPct val="120000"/>
              </a:lnSpc>
              <a:spcAft>
                <a:spcPts val="0"/>
              </a:spcAft>
            </a:pPr>
            <a:r>
              <a:rPr lang="ko-KR" sz="1875" b="1">
                <a:solidFill>
                  <a:srgbClr val="A8BBC9"/>
                </a:solidFill>
                <a:latin typeface="Malgun Gothic"/>
                <a:ea typeface="Malgun Gothic"/>
                <a:cs typeface="Malgun Gothic"/>
              </a:rPr>
              <a:t>43</a:t>
            </a:r>
            <a:endParaRPr lang="ko-KR" sz="1875"/>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2462</TotalTime>
  <Words>8058</Words>
  <Application>Microsoft Macintosh PowerPoint</Application>
  <PresentationFormat>사용자 지정</PresentationFormat>
  <Paragraphs>1203</Paragraphs>
  <Slides>42</Slides>
  <Notes>42</Notes>
  <HiddenSlides>22</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42</vt:i4>
      </vt:variant>
    </vt:vector>
  </HeadingPairs>
  <TitlesOfParts>
    <vt:vector size="46" baseType="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또바기 팀</dc:creator>
  <cp:lastModifiedBy>Microsoft Office User</cp:lastModifiedBy>
  <cp:revision>130</cp:revision>
  <cp:lastPrinted>2026-09-27T15:00:08Z</cp:lastPrinted>
  <dcterms:modified xsi:type="dcterms:W3CDTF">2026-10-28T07:48:35Z</dcterms:modified>
</cp:coreProperties>
</file>